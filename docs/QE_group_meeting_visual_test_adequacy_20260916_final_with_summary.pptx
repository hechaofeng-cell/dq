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6" r:id="rId6"/>
    <p:sldId id="267" r:id="rId7"/>
    <p:sldId id="263" r:id="rId8"/>
    <p:sldId id="265" r:id="rId9"/>
    <p:sldId id="268" r:id="rId10"/>
    <p:sldId id="269" r:id="rId11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提出问题：图片很多是否就代表测试充分？再指向页面下方的研究闭环。第一，用可解释特征把图片转换成视觉状态；第二，统计缺失或低频状态；第三，在固定预算下进行定向补样并与基线比较；第四，用独立测试集验证模型收益。当前已经跑通状态提取、缺口诊断和定向补图，等预算对照与独立模型验证尚未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张图来自实际补图候选。它们分别体现多犬和人物共现、背向雪地、极小目标、跳跃交互。重点不是逐张解释所有标签，而是让听众直观看到：同一个dog类别内部有完全不同的测试条件。只统计500张dog不能告诉我们这些状态是否出现，也不能告诉我们是否有足够证据评价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图从左到右讲，不逐项念文字。第一，初始500张和候选400张保持独立。第二，每张图由程序根据COCO框固定一个A目标，并提供原图、标记图和裁剪图。第三，VLM输出23项有限枚举特征。第四，程序严格校验JSON、枚举、依赖关系并保留原始响应。第五，根据低频状态从候选池选择100张，最后冻结清洁数据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可支持结论：在固定dog_v3.1协议和当前候选池内，定向补图后覆盖指数由78.64%提高到84.17%，最终低频状态数从45降到33。然后主动说边界：900/900只表示输出通过严格格式和规则校验，不是23项特征全部识别正确；补图策略正是优化覆盖，所以还不能据此证明策略优于随机，更不能解释成识别准确率提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决定后面怎样诚实解释自己的结果。TEASMA提醒我们，充分性指标要和故障检出能力建立联系。SELECT虽然研究的是训练数据策展，不是测试充分性，但它强调同一预算和统一基线。由此可知，仅仅让自己定义的覆盖指数升高，不能证明补样策略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给出我的正式研究问题。定位不是再做一个编码器，也不是声称提出通用充分性理论，而是做可解释、可追溯的测量和决策流程。当前dog实验已经把图片转为状态、统计缺口并做了候选补图，但尚未完成随机基线和独立模型故障收益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明确这是第一阶段的训练数据效用验证，不是对当前数据流程的重复。D0固定训练、验证和测试划分并得到M_before；随后只分析dog训练子集，根据低频状态得到Ddog+，测试集不参与选图。Ddog+与原dog子集合并后，当前已测覆盖由78.64%到84.17%；把Ddog+并入D0_train形成D1、重训M_after并在固定D_test评价仍待完成。该结果即使完成，也不能替代固定被测模型下的测试集新增故障检出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补上真正的分析。第一，当前已有的数据只有ΔC，所以只能说明定义下的状态覆盖增加。第二，只有把补图加入训练集，并在完全固定的测试集上比较M_before和M_after，才能知道模型性能是否变化。第三，不同ΔC/ΔM组合有不同解释：最理想是两者都上升；如果覆盖上升但性能不变，说明覆盖指标可能没有预测任务收益；如果性能变化但覆盖不变，要检查训练随机性和其他数据因素。最后要做等预算基线、多个随机种子和跨模型复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时按三列讲。第一，当前已经跑通固定目标、23项状态提取、严格校验和缺口驱动补图。第二，已有证据是覆盖指数由78.64%提高到84.17%，低频状态由45降到33；这只支持状态覆盖改善。第三，下一步验证标签有效性、等预算基线、固定测试集上的模型变化和故障检出能力。最后读出Take-home message：覆盖不是模型性能的替代品，而是用于发现仍然缺少的测试证据。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E_MASTER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image" Target="../media/image1.jpeg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Relationship Id="rId10" Type="http://schemas.openxmlformats.org/officeDocument/2006/relationships/tags" Target="../tags/tag28.xml"/><Relationship Id="rId11" Type="http://schemas.openxmlformats.org/officeDocument/2006/relationships/tags" Target="../tags/tag29.xml"/><Relationship Id="rId12" Type="http://schemas.openxmlformats.org/officeDocument/2006/relationships/image" Target="../media/image2.jpeg"/><Relationship Id="rId13" Type="http://schemas.openxmlformats.org/officeDocument/2006/relationships/tags" Target="../tags/tag30.xml"/><Relationship Id="rId14" Type="http://schemas.openxmlformats.org/officeDocument/2006/relationships/tags" Target="../tags/tag31.xml"/><Relationship Id="rId15" Type="http://schemas.openxmlformats.org/officeDocument/2006/relationships/tags" Target="../tags/tag32.xml"/><Relationship Id="rId16" Type="http://schemas.openxmlformats.org/officeDocument/2006/relationships/tags" Target="../tags/tag33.xml"/><Relationship Id="rId17" Type="http://schemas.openxmlformats.org/officeDocument/2006/relationships/tags" Target="../tags/tag34.xml"/><Relationship Id="rId18" Type="http://schemas.openxmlformats.org/officeDocument/2006/relationships/tags" Target="../tags/tag35.xml"/><Relationship Id="rId19" Type="http://schemas.openxmlformats.org/officeDocument/2006/relationships/tags" Target="../tags/tag36.xml"/><Relationship Id="rId20" Type="http://schemas.openxmlformats.org/officeDocument/2006/relationships/image" Target="../media/image3.jpeg"/><Relationship Id="rId21" Type="http://schemas.openxmlformats.org/officeDocument/2006/relationships/tags" Target="../tags/tag37.xml"/><Relationship Id="rId22" Type="http://schemas.openxmlformats.org/officeDocument/2006/relationships/tags" Target="../tags/tag38.xml"/><Relationship Id="rId23" Type="http://schemas.openxmlformats.org/officeDocument/2006/relationships/tags" Target="../tags/tag39.xml"/><Relationship Id="rId24" Type="http://schemas.openxmlformats.org/officeDocument/2006/relationships/tags" Target="../tags/tag40.xml"/><Relationship Id="rId25" Type="http://schemas.openxmlformats.org/officeDocument/2006/relationships/tags" Target="../tags/tag41.xml"/><Relationship Id="rId26" Type="http://schemas.openxmlformats.org/officeDocument/2006/relationships/tags" Target="../tags/tag42.xml"/><Relationship Id="rId27" Type="http://schemas.openxmlformats.org/officeDocument/2006/relationships/tags" Target="../tags/tag43.xml"/><Relationship Id="rId28" Type="http://schemas.openxmlformats.org/officeDocument/2006/relationships/image" Target="../media/image4.jpeg"/><Relationship Id="rId29" Type="http://schemas.openxmlformats.org/officeDocument/2006/relationships/tags" Target="../tags/tag44.xml"/><Relationship Id="rId30" Type="http://schemas.openxmlformats.org/officeDocument/2006/relationships/tags" Target="../tags/tag45.xml"/><Relationship Id="rId31" Type="http://schemas.openxmlformats.org/officeDocument/2006/relationships/tags" Target="../tags/tag46.xml"/><Relationship Id="rId32" Type="http://schemas.openxmlformats.org/officeDocument/2006/relationships/tags" Target="../tags/tag47.xml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tags" Target="../tags/tag53.xml"/><Relationship Id="rId7" Type="http://schemas.openxmlformats.org/officeDocument/2006/relationships/tags" Target="../tags/tag54.xml"/><Relationship Id="rId8" Type="http://schemas.openxmlformats.org/officeDocument/2006/relationships/tags" Target="../tags/tag55.xml"/><Relationship Id="rId9" Type="http://schemas.openxmlformats.org/officeDocument/2006/relationships/tags" Target="../tags/tag56.xml"/><Relationship Id="rId10" Type="http://schemas.openxmlformats.org/officeDocument/2006/relationships/tags" Target="../tags/tag57.xml"/><Relationship Id="rId11" Type="http://schemas.openxmlformats.org/officeDocument/2006/relationships/tags" Target="../tags/tag58.xml"/><Relationship Id="rId12" Type="http://schemas.openxmlformats.org/officeDocument/2006/relationships/tags" Target="../tags/tag59.xml"/><Relationship Id="rId13" Type="http://schemas.openxmlformats.org/officeDocument/2006/relationships/hyperlink" Target="https://arxiv.org/abs/2308.01311" TargetMode="External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56692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5F3F1"/>
          </a:solidFill>
          <a:ln w="12700">
            <a:solidFill>
              <a:srgbClr val="E5F3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85216"/>
            <a:ext cx="145389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QE · 组会汇报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10607040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面向视觉测试数据的</a:t>
            </a:r>
            <a:endParaRPr lang="en-US" sz="3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可解释状态覆盖与缺口驱动补样</a:t>
            </a:r>
            <a:endParaRPr lang="en-US" sz="34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713232" y="370078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E7F0F7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877824" y="3901948"/>
            <a:ext cx="347472" cy="34747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877824" y="39110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335024" y="3847084"/>
            <a:ext cx="124358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6F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可解释特征</a:t>
            </a:r>
            <a:endParaRPr lang="en-US" sz="1500" dirty="0"/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2871216" y="4075684"/>
            <a:ext cx="402336" cy="0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383280" y="370078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E5F3F1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3547872" y="3901948"/>
            <a:ext cx="347472" cy="347472"/>
          </a:xfrm>
          <a:prstGeom prst="ellipse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3547872" y="39110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4005072" y="3847084"/>
            <a:ext cx="124358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覆盖缺口</a:t>
            </a:r>
            <a:endParaRPr lang="en-US" sz="1500" dirty="0"/>
          </a:p>
        </p:txBody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5541264" y="4075684"/>
            <a:ext cx="402336" cy="0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6053328" y="370078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217920" y="3901948"/>
            <a:ext cx="347472" cy="347472"/>
          </a:xfrm>
          <a:prstGeom prst="ellipse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6217920" y="39110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675120" y="3847084"/>
            <a:ext cx="124358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预算化补样</a:t>
            </a:r>
            <a:endParaRPr lang="en-US" sz="1500" dirty="0"/>
          </a:p>
        </p:txBody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8211312" y="4075684"/>
            <a:ext cx="402336" cy="0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8723376" y="3700780"/>
            <a:ext cx="2084832" cy="749808"/>
          </a:xfrm>
          <a:prstGeom prst="roundRect">
            <a:avLst>
              <a:gd name="adj" fmla="val 9756"/>
            </a:avLst>
          </a:prstGeom>
          <a:solidFill>
            <a:srgbClr val="E7F2EC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8887968" y="3901948"/>
            <a:ext cx="347472" cy="34747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8887968" y="3911092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9345168" y="3847084"/>
            <a:ext cx="1243584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独立验证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5870448"/>
            <a:ext cx="10844784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60167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组会汇报 · 2026.09.16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60720" y="5961888"/>
            <a:ext cx="5760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研究对象：测试数据集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1" name="文本框 30"/>
          <p:cNvSpPr txBox="1"/>
          <p:nvPr/>
        </p:nvSpPr>
        <p:spPr>
          <a:xfrm>
            <a:off x="713105" y="2593340"/>
            <a:ext cx="9309100" cy="64516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buClrTx/>
              <a:buSzTx/>
              <a:buFontTx/>
            </a:pPr>
            <a:r>
              <a:rPr lang="en-US" sz="1800" b="0" i="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一个视觉数据集</a:t>
            </a:r>
            <a:r>
              <a:rPr lang="zh-CN" altLang="en-US" sz="1800" b="0" i="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的图像很多的情况下</a:t>
            </a:r>
            <a:r>
              <a:rPr lang="en-US" sz="1800" b="0" i="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，是否就代表它已经提供了充分的测试证据？如果数据主要集中在少数常见条件下，我们能不能定位具体缺少什么，并按照缺口补充数据？</a:t>
            </a:r>
            <a:endParaRPr lang="en-US" sz="1800" b="0" i="0" dirty="0">
              <a:solidFill>
                <a:srgbClr val="5F6B76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6450" y="4645025"/>
            <a:ext cx="206502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22222"/>
                </a:solidFill>
                <a:latin typeface="??"/>
                <a:ea typeface="??"/>
              </a:rPr>
              <a:t>把图片转换成视角、尺度、遮挡和场景等可解释特征</a:t>
            </a:r>
            <a:endParaRPr lang="zh-CN" altLang="en-US" sz="1600" b="0" i="0">
              <a:solidFill>
                <a:srgbClr val="222222"/>
              </a:solidFill>
              <a:latin typeface="??"/>
              <a:ea typeface="??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409315" y="4894580"/>
            <a:ext cx="224028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22222"/>
                </a:solidFill>
                <a:latin typeface="??"/>
                <a:ea typeface="??"/>
              </a:rPr>
              <a:t>统计未覆盖或低频状态</a:t>
            </a:r>
            <a:endParaRPr lang="zh-CN" altLang="en-US" sz="1600" b="0" i="0">
              <a:solidFill>
                <a:srgbClr val="222222"/>
              </a:solidFill>
              <a:latin typeface="??"/>
              <a:ea typeface="??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066155" y="4850130"/>
            <a:ext cx="224028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22222"/>
                </a:solidFill>
                <a:latin typeface="??"/>
                <a:ea typeface="??"/>
              </a:rPr>
              <a:t>在有限预算下定向补样</a:t>
            </a:r>
            <a:endParaRPr lang="zh-CN" altLang="en-US" sz="1600" b="0" i="0">
              <a:solidFill>
                <a:srgbClr val="222222"/>
              </a:solidFill>
              <a:latin typeface="??"/>
              <a:ea typeface="??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722995" y="4681220"/>
            <a:ext cx="213487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22222"/>
                </a:solidFill>
                <a:latin typeface="??"/>
                <a:ea typeface="??"/>
              </a:rPr>
              <a:t>用公平基线和独立测试验证这些补样是否真的有用。</a:t>
            </a:r>
            <a:endParaRPr lang="zh-CN" altLang="en-US" sz="1600" b="0" i="0">
              <a:solidFill>
                <a:srgbClr val="222222"/>
              </a:solidFill>
              <a:latin typeface="??"/>
              <a:ea typeface="??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同一类别内部，测试条件差异很大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真实补图候选显示：dog 不是一个单一状态，而是一组可解释的视觉变化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03504" y="1755648"/>
            <a:ext cx="2313432" cy="3456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749808" y="1920240"/>
            <a:ext cx="2020824" cy="1627632"/>
          </a:xfrm>
          <a:prstGeom prst="roundRect">
            <a:avLst>
              <a:gd name="adj" fmla="val 449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8" name="Image 0" descr="/home/hcf/project/QE/artifacts/dog_candidate400_v2_1_inputs_20260912/marked/000000247068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9808" y="2164120"/>
            <a:ext cx="2020824" cy="1139871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768096" y="3803904"/>
            <a:ext cx="19842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C52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多犬与人物共现</a:t>
            </a:r>
            <a:endParaRPr lang="en-US" sz="1500" dirty="0"/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804672" y="4297680"/>
            <a:ext cx="1911096" cy="329184"/>
          </a:xfrm>
          <a:prstGeom prst="roundRect">
            <a:avLst>
              <a:gd name="adj" fmla="val 50000"/>
            </a:avLst>
          </a:prstGeom>
          <a:solidFill>
            <a:srgbClr val="F1EAF2"/>
          </a:solidFill>
          <a:ln w="12700">
            <a:solidFill>
              <a:srgbClr val="F1EAF2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877824" y="4315968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7C527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multiple_dogs · interacting</a:t>
            </a:r>
            <a:endParaRPr lang="en-US" sz="1100" dirty="0"/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768096" y="4809744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候选排名 #1</a:t>
            </a:r>
            <a:endParaRPr lang="en-US" sz="950" dirty="0"/>
          </a:p>
        </p:txBody>
      </p:sp>
      <p:sp>
        <p:nvSpPr>
          <p:cNvPr id="13" name="Shape 10"/>
          <p:cNvSpPr/>
          <p:nvPr>
            <p:custDataLst>
              <p:tags r:id="rId9"/>
            </p:custDataLst>
          </p:nvPr>
        </p:nvSpPr>
        <p:spPr>
          <a:xfrm>
            <a:off x="3502152" y="1755648"/>
            <a:ext cx="2313432" cy="3456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3648456" y="1920240"/>
            <a:ext cx="2020824" cy="1627632"/>
          </a:xfrm>
          <a:prstGeom prst="roundRect">
            <a:avLst>
              <a:gd name="adj" fmla="val 449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15" name="Image 1" descr="/home/hcf/project/QE/artifacts/dog_candidate400_v2_1_inputs_20260912/marked/000000438744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648456" y="1924148"/>
            <a:ext cx="2020824" cy="1619817"/>
          </a:xfrm>
          <a:prstGeom prst="rect">
            <a:avLst/>
          </a:prstGeom>
        </p:spPr>
      </p:pic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3666744" y="3803904"/>
            <a:ext cx="19842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背向与雪地场景</a:t>
            </a:r>
            <a:endParaRPr lang="en-US" sz="1500" dirty="0"/>
          </a:p>
        </p:txBody>
      </p:sp>
      <p:sp>
        <p:nvSpPr>
          <p:cNvPr id="17" name="Shape 13"/>
          <p:cNvSpPr/>
          <p:nvPr>
            <p:custDataLst>
              <p:tags r:id="rId14"/>
            </p:custDataLst>
          </p:nvPr>
        </p:nvSpPr>
        <p:spPr>
          <a:xfrm>
            <a:off x="3703320" y="4297680"/>
            <a:ext cx="1911096" cy="329184"/>
          </a:xfrm>
          <a:prstGeom prst="roundRect">
            <a:avLst>
              <a:gd name="adj" fmla="val 50000"/>
            </a:avLst>
          </a:prstGeom>
          <a:solidFill>
            <a:srgbClr val="E5F3F1"/>
          </a:solidFill>
          <a:ln w="12700">
            <a:solidFill>
              <a:srgbClr val="E5F3F1"/>
            </a:solidFill>
            <a:prstDash val="solid"/>
          </a:ln>
        </p:spPr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3776472" y="4315968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head_back · outdoor_snow</a:t>
            </a:r>
            <a:endParaRPr lang="en-US" sz="1100" dirty="0"/>
          </a:p>
        </p:txBody>
      </p:sp>
      <p:sp>
        <p:nvSpPr>
          <p:cNvPr id="19" name="Text 15"/>
          <p:cNvSpPr/>
          <p:nvPr>
            <p:custDataLst>
              <p:tags r:id="rId16"/>
            </p:custDataLst>
          </p:nvPr>
        </p:nvSpPr>
        <p:spPr>
          <a:xfrm>
            <a:off x="3666744" y="4809744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候选排名 #2</a:t>
            </a:r>
            <a:endParaRPr lang="en-US" sz="950" dirty="0"/>
          </a:p>
        </p:txBody>
      </p:sp>
      <p:sp>
        <p:nvSpPr>
          <p:cNvPr id="20" name="Shape 16"/>
          <p:cNvSpPr/>
          <p:nvPr>
            <p:custDataLst>
              <p:tags r:id="rId17"/>
            </p:custDataLst>
          </p:nvPr>
        </p:nvSpPr>
        <p:spPr>
          <a:xfrm>
            <a:off x="6400800" y="1755648"/>
            <a:ext cx="2313432" cy="3456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1" name="Shape 17"/>
          <p:cNvSpPr/>
          <p:nvPr>
            <p:custDataLst>
              <p:tags r:id="rId18"/>
            </p:custDataLst>
          </p:nvPr>
        </p:nvSpPr>
        <p:spPr>
          <a:xfrm>
            <a:off x="6547104" y="1920240"/>
            <a:ext cx="2020824" cy="1627632"/>
          </a:xfrm>
          <a:prstGeom prst="roundRect">
            <a:avLst>
              <a:gd name="adj" fmla="val 449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22" name="Image 2" descr="/home/hcf/project/QE/artifacts/dog_candidate400_v2_1_inputs_20260912/marked/000000495454.jp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6547104" y="2112021"/>
            <a:ext cx="2020824" cy="1244070"/>
          </a:xfrm>
          <a:prstGeom prst="rect">
            <a:avLst/>
          </a:prstGeom>
        </p:spPr>
      </p:pic>
      <p:sp>
        <p:nvSpPr>
          <p:cNvPr id="23" name="Text 18"/>
          <p:cNvSpPr/>
          <p:nvPr>
            <p:custDataLst>
              <p:tags r:id="rId21"/>
            </p:custDataLst>
          </p:nvPr>
        </p:nvSpPr>
        <p:spPr>
          <a:xfrm>
            <a:off x="6565392" y="3803904"/>
            <a:ext cx="19842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极小目标</a:t>
            </a:r>
            <a:endParaRPr lang="en-US" sz="1500" dirty="0"/>
          </a:p>
        </p:txBody>
      </p:sp>
      <p:sp>
        <p:nvSpPr>
          <p:cNvPr id="24" name="Shape 19"/>
          <p:cNvSpPr/>
          <p:nvPr>
            <p:custDataLst>
              <p:tags r:id="rId22"/>
            </p:custDataLst>
          </p:nvPr>
        </p:nvSpPr>
        <p:spPr>
          <a:xfrm>
            <a:off x="6601968" y="4297680"/>
            <a:ext cx="1911096" cy="329184"/>
          </a:xfrm>
          <a:prstGeom prst="roundRect">
            <a:avLst>
              <a:gd name="adj" fmla="val 50000"/>
            </a:avLst>
          </a:prstGeom>
          <a:solidFill>
            <a:srgbClr val="FCECDD"/>
          </a:solidFill>
          <a:ln w="12700">
            <a:solidFill>
              <a:srgbClr val="FCECDD"/>
            </a:solidFill>
            <a:prstDash val="solid"/>
          </a:ln>
        </p:spPr>
      </p:sp>
      <p:sp>
        <p:nvSpPr>
          <p:cNvPr id="25" name="Text 20"/>
          <p:cNvSpPr/>
          <p:nvPr>
            <p:custDataLst>
              <p:tags r:id="rId23"/>
            </p:custDataLst>
          </p:nvPr>
        </p:nvSpPr>
        <p:spPr>
          <a:xfrm>
            <a:off x="6675120" y="4315968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tiny_target · back_view</a:t>
            </a:r>
            <a:endParaRPr lang="en-US" sz="1100" dirty="0"/>
          </a:p>
        </p:txBody>
      </p:sp>
      <p:sp>
        <p:nvSpPr>
          <p:cNvPr id="26" name="Text 21"/>
          <p:cNvSpPr/>
          <p:nvPr>
            <p:custDataLst>
              <p:tags r:id="rId24"/>
            </p:custDataLst>
          </p:nvPr>
        </p:nvSpPr>
        <p:spPr>
          <a:xfrm>
            <a:off x="6565392" y="4809744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候选排名 #3</a:t>
            </a:r>
            <a:endParaRPr lang="en-US" sz="950" dirty="0"/>
          </a:p>
        </p:txBody>
      </p:sp>
      <p:sp>
        <p:nvSpPr>
          <p:cNvPr id="27" name="Shape 22"/>
          <p:cNvSpPr/>
          <p:nvPr>
            <p:custDataLst>
              <p:tags r:id="rId25"/>
            </p:custDataLst>
          </p:nvPr>
        </p:nvSpPr>
        <p:spPr>
          <a:xfrm>
            <a:off x="9299448" y="1755648"/>
            <a:ext cx="2313432" cy="3456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8" name="Shape 23"/>
          <p:cNvSpPr/>
          <p:nvPr>
            <p:custDataLst>
              <p:tags r:id="rId26"/>
            </p:custDataLst>
          </p:nvPr>
        </p:nvSpPr>
        <p:spPr>
          <a:xfrm>
            <a:off x="9445752" y="1920240"/>
            <a:ext cx="2020824" cy="1627632"/>
          </a:xfrm>
          <a:prstGeom prst="roundRect">
            <a:avLst>
              <a:gd name="adj" fmla="val 4494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29" name="Image 3" descr="/home/hcf/project/QE/artifacts/dog_candidate400_v2_1_inputs_20260912/marked/000000280709.jp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9445752" y="2061501"/>
            <a:ext cx="2020824" cy="1345111"/>
          </a:xfrm>
          <a:prstGeom prst="rect">
            <a:avLst/>
          </a:prstGeom>
        </p:spPr>
      </p:pic>
      <p:sp>
        <p:nvSpPr>
          <p:cNvPr id="30" name="Text 24"/>
          <p:cNvSpPr/>
          <p:nvPr>
            <p:custDataLst>
              <p:tags r:id="rId29"/>
            </p:custDataLst>
          </p:nvPr>
        </p:nvSpPr>
        <p:spPr>
          <a:xfrm>
            <a:off x="9464040" y="3803904"/>
            <a:ext cx="19842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跳跃与交互</a:t>
            </a:r>
            <a:endParaRPr lang="en-US" sz="1500" dirty="0"/>
          </a:p>
        </p:txBody>
      </p:sp>
      <p:sp>
        <p:nvSpPr>
          <p:cNvPr id="31" name="Shape 25"/>
          <p:cNvSpPr/>
          <p:nvPr>
            <p:custDataLst>
              <p:tags r:id="rId30"/>
            </p:custDataLst>
          </p:nvPr>
        </p:nvSpPr>
        <p:spPr>
          <a:xfrm>
            <a:off x="9500616" y="4297680"/>
            <a:ext cx="1911096" cy="329184"/>
          </a:xfrm>
          <a:prstGeom prst="roundRect">
            <a:avLst>
              <a:gd name="adj" fmla="val 50000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32" name="Text 26"/>
          <p:cNvSpPr/>
          <p:nvPr>
            <p:custDataLst>
              <p:tags r:id="rId31"/>
            </p:custDataLst>
          </p:nvPr>
        </p:nvSpPr>
        <p:spPr>
          <a:xfrm>
            <a:off x="9573768" y="4315968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jumping · person_cooccurrence</a:t>
            </a:r>
            <a:endParaRPr lang="en-US" sz="1100" dirty="0"/>
          </a:p>
        </p:txBody>
      </p:sp>
      <p:sp>
        <p:nvSpPr>
          <p:cNvPr id="33" name="Text 27"/>
          <p:cNvSpPr/>
          <p:nvPr>
            <p:custDataLst>
              <p:tags r:id="rId32"/>
            </p:custDataLst>
          </p:nvPr>
        </p:nvSpPr>
        <p:spPr>
          <a:xfrm>
            <a:off x="9464040" y="4809744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候选排名 #6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1024128" y="5521706"/>
            <a:ext cx="10140696" cy="512064"/>
          </a:xfrm>
          <a:prstGeom prst="roundRect">
            <a:avLst>
              <a:gd name="adj" fmla="val 14286"/>
            </a:avLst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  <p:txBody>
          <a:bodyPr/>
          <a:p>
            <a:r>
              <a:rPr lang="zh-CN" altLang="en-US">
                <a:solidFill>
                  <a:schemeClr val="bg1"/>
                </a:solidFill>
              </a:rPr>
              <a:t>犬类类别内部的重要视觉状态有没有出现</a:t>
            </a:r>
            <a:r>
              <a:rPr lang="en-US" altLang="zh-CN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chemeClr val="bg1"/>
                </a:solidFill>
              </a:rPr>
              <a:t>以及这些状态是否有足够的样本</a:t>
            </a:r>
            <a:r>
              <a:rPr lang="en-US" altLang="zh-CN">
                <a:solidFill>
                  <a:schemeClr val="bg1"/>
                </a:solidFill>
              </a:rPr>
              <a:t>？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7" name="Text 31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CURRENT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当前验证载体： 犬类视觉状态覆盖流程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固定目标、三视图输入、23项枚举特征、严格校验与缺口驱动选图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" y="5522976"/>
            <a:ext cx="10616184" cy="457200"/>
          </a:xfrm>
          <a:prstGeom prst="roundRect">
            <a:avLst>
              <a:gd name="adj" fmla="val 16000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5632704"/>
            <a:ext cx="1021384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COCO 有目标框、类内状态丰富；VLM只负责属性测量，不是被测识别模型。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85216" y="6172200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6E7A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项目流程与证据：docs/dog_v3_1_overall_workflow.md；docs/dog_v3_1_claim_evidence.md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04620"/>
            <a:ext cx="12192000" cy="4048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CURRENT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初步结果：覆盖能够被测量，也能够被定向改善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但当前证据只支持“状态覆盖改善”，不支持“识别性能改善”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00784"/>
            <a:ext cx="6565392" cy="4078224"/>
          </a:xfrm>
          <a:prstGeom prst="roundRect">
            <a:avLst>
              <a:gd name="adj" fmla="val 1794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pic>
        <p:nvPicPr>
          <p:cNvPr id="7" name="Image 0" descr="/home/hcf/project/QE/docs/dog_v3_1_figures/fig1_coverage_before_af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65960"/>
            <a:ext cx="6080760" cy="35021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61504" y="1719072"/>
            <a:ext cx="18470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61504" y="1719072"/>
            <a:ext cx="73152" cy="1024128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1837944"/>
            <a:ext cx="151790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2E6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900 / 900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680960" y="2240280"/>
            <a:ext cx="151790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严格特征响应通过校验</a:t>
            </a:r>
            <a:endParaRPr lang="en-US" sz="1100" b="1" dirty="0">
              <a:solidFill>
                <a:srgbClr val="17212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80960" y="2487168"/>
            <a:ext cx="151790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500初始 + 400候选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528048" y="1719072"/>
            <a:ext cx="184708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8048" y="1719072"/>
            <a:ext cx="73152" cy="1024128"/>
          </a:xfrm>
          <a:prstGeom prst="rect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47504" y="1837944"/>
            <a:ext cx="151790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747504" y="2240280"/>
            <a:ext cx="151790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最终清洁图片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747504" y="2487168"/>
            <a:ext cx="151790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600合并 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61504" y="2971800"/>
            <a:ext cx="39136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61504" y="2971800"/>
            <a:ext cx="73152" cy="1024128"/>
          </a:xfrm>
          <a:prstGeom prst="rect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0" y="3090672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875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78.64% → 84.17%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7680960" y="3493008"/>
            <a:ext cx="358444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状态覆盖指数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680960" y="3739896"/>
            <a:ext cx="3584448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提升5.53个百分点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461504" y="4224528"/>
            <a:ext cx="39136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61504" y="4224528"/>
            <a:ext cx="73152" cy="1024128"/>
          </a:xfrm>
          <a:prstGeom prst="rect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4343400"/>
            <a:ext cx="358444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2F7D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→ 33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7680960" y="4745736"/>
            <a:ext cx="358444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最终低频状态数量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680960" y="4992624"/>
            <a:ext cx="3584448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清洁600张口径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" y="5760720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E7F2EC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5870448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观察｜覆盖 +5.53 pp，低频状态 45 → 33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89120" y="5760720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17136" y="5870448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解释｜当前协议下，状态缺口得到改善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973568" y="5760720"/>
            <a:ext cx="3401568" cy="502920"/>
          </a:xfrm>
          <a:prstGeom prst="roundRect">
            <a:avLst>
              <a:gd name="adj" fmla="val 14545"/>
            </a:avLst>
          </a:prstGeom>
          <a:solidFill>
            <a:srgbClr val="F8E7E4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01584" y="5870448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边界｜不是识别性能；尚无随机基线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RELATED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覆盖分数不是终点：还要回答“有没有测试收益”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TEASMA约束效用结论，SELECT约束策略比较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83080"/>
            <a:ext cx="530352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039112"/>
            <a:ext cx="2075688" cy="329184"/>
          </a:xfrm>
          <a:prstGeom prst="roundRect">
            <a:avLst>
              <a:gd name="adj" fmla="val 50000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57400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TEASMA · IEEE TSE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2496312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把覆盖连接到故障检出</a:t>
            </a:r>
            <a:endParaRPr lang="en-US" sz="2100" dirty="0"/>
          </a:p>
        </p:txBody>
      </p:sp>
      <p:sp>
        <p:nvSpPr>
          <p:cNvPr id="10" name="Text 8"/>
          <p:cNvSpPr/>
          <p:nvPr>
            <p:custDataLst>
              <p:tags r:id="rId1"/>
            </p:custDataLst>
          </p:nvPr>
        </p:nvSpPr>
        <p:spPr>
          <a:xfrm>
            <a:off x="978408" y="2999232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解决问题</a:t>
            </a:r>
            <a:endParaRPr lang="en-US" sz="1250" dirty="0"/>
          </a:p>
        </p:txBody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1874520" y="2953512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一个测试集的充分性分数，是否真的对应更强的故障发现能力？</a:t>
            </a:r>
            <a:endParaRPr lang="en-US" sz="1350" dirty="0"/>
          </a:p>
        </p:txBody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978408" y="369417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核心思路</a:t>
            </a:r>
            <a:endParaRPr lang="en-US" sz="1250" dirty="0"/>
          </a:p>
        </p:txBody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1874520" y="3621024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利用已有充分性指标，为具体 DNN 建立测试集故障检出率预测模型。</a:t>
            </a:r>
            <a:endParaRPr lang="en-US" sz="1350" dirty="0"/>
          </a:p>
        </p:txBody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978408" y="4443984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启示</a:t>
            </a:r>
            <a:endParaRPr lang="en-US" sz="1250" dirty="0"/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1874520" y="4370832"/>
            <a:ext cx="370332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覆盖不是终点，必须再用新增错误或独立故障检出进行验证。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99632" y="1783080"/>
            <a:ext cx="5303520" cy="3547872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2039112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FCECDD"/>
          </a:solidFill>
          <a:ln w="12700">
            <a:solidFill>
              <a:srgbClr val="FCEC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057400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SELECT · NeurIPS 2024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3096" y="2496312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统一预算下比较数据选择</a:t>
            </a:r>
            <a:endParaRPr lang="en-US" sz="2100" dirty="0"/>
          </a:p>
        </p:txBody>
      </p:sp>
      <p:sp>
        <p:nvSpPr>
          <p:cNvPr id="20" name="Text 18"/>
          <p:cNvSpPr/>
          <p:nvPr>
            <p:custDataLst>
              <p:tags r:id="rId7"/>
            </p:custDataLst>
          </p:nvPr>
        </p:nvSpPr>
        <p:spPr>
          <a:xfrm>
            <a:off x="6483096" y="2999232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研究范围</a:t>
            </a:r>
            <a:endParaRPr lang="en-US" sz="1250" dirty="0"/>
          </a:p>
        </p:txBody>
      </p:sp>
      <p:sp>
        <p:nvSpPr>
          <p:cNvPr id="21" name="Text 19"/>
          <p:cNvSpPr/>
          <p:nvPr>
            <p:custDataLst>
              <p:tags r:id="rId8"/>
            </p:custDataLst>
          </p:nvPr>
        </p:nvSpPr>
        <p:spPr>
          <a:xfrm>
            <a:off x="7379208" y="2953512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它研究训练数据策展，而不是测试充分性；</a:t>
            </a:r>
            <a:endParaRPr lang="en-US" sz="1350" dirty="0"/>
          </a:p>
        </p:txBody>
      </p:sp>
      <p:sp>
        <p:nvSpPr>
          <p:cNvPr id="22" name="Text 20"/>
          <p:cNvSpPr/>
          <p:nvPr>
            <p:custDataLst>
              <p:tags r:id="rId9"/>
            </p:custDataLst>
          </p:nvPr>
        </p:nvSpPr>
        <p:spPr>
          <a:xfrm>
            <a:off x="6483096" y="369417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核心原则</a:t>
            </a:r>
            <a:endParaRPr lang="en-US" sz="1250" dirty="0"/>
          </a:p>
        </p:txBody>
      </p:sp>
      <p:sp>
        <p:nvSpPr>
          <p:cNvPr id="23" name="Text 21"/>
          <p:cNvSpPr/>
          <p:nvPr>
            <p:custDataLst>
              <p:tags r:id="rId10"/>
            </p:custDataLst>
          </p:nvPr>
        </p:nvSpPr>
        <p:spPr>
          <a:xfrm>
            <a:off x="7379208" y="3621024"/>
            <a:ext cx="37033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不同选择策略使用同一数据预算、同一任务和同一评价条件，再比较下游表现。</a:t>
            </a:r>
            <a:endParaRPr lang="en-US" sz="1350" dirty="0"/>
          </a:p>
        </p:txBody>
      </p:sp>
      <p:sp>
        <p:nvSpPr>
          <p:cNvPr id="24" name="Text 22"/>
          <p:cNvSpPr/>
          <p:nvPr>
            <p:custDataLst>
              <p:tags r:id="rId11"/>
            </p:custDataLst>
          </p:nvPr>
        </p:nvSpPr>
        <p:spPr>
          <a:xfrm>
            <a:off x="6483096" y="4443984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启示</a:t>
            </a:r>
            <a:endParaRPr lang="en-US" sz="1250" dirty="0"/>
          </a:p>
        </p:txBody>
      </p:sp>
      <p:sp>
        <p:nvSpPr>
          <p:cNvPr id="25" name="Text 23"/>
          <p:cNvSpPr/>
          <p:nvPr>
            <p:custDataLst>
              <p:tags r:id="rId12"/>
            </p:custDataLst>
          </p:nvPr>
        </p:nvSpPr>
        <p:spPr>
          <a:xfrm>
            <a:off x="7379208" y="4370832"/>
            <a:ext cx="370332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定向补 100 张必须与随机补 100 张公平比较，不能只报告覆盖率上升。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298448" y="5577840"/>
            <a:ext cx="9601200" cy="438912"/>
          </a:xfrm>
          <a:prstGeom prst="roundRect">
            <a:avLst>
              <a:gd name="adj" fmla="val 16667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678424"/>
            <a:ext cx="921715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注意：SELECT研究训练数据策展；这里借鉴的是“统一预算与基线”的评价原则。</a:t>
            </a:r>
            <a:endParaRPr lang="en-US" sz="1400" dirty="0"/>
          </a:p>
        </p:txBody>
      </p:sp>
      <p:sp>
        <p:nvSpPr>
          <p:cNvPr id="28" name="Text 26">
            <a:hlinkClick r:id="rId13"/>
          </p:cNvPr>
          <p:cNvSpPr/>
          <p:nvPr/>
        </p:nvSpPr>
        <p:spPr>
          <a:xfrm>
            <a:off x="585216" y="6172200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i="1" u="sng" dirty="0">
                <a:solidFill>
                  <a:srgbClr val="6E7A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Abbasishahkoo et al., TEASMA, IEEE TSE 2024；Feuer et al., SELECT, NeurIPS 2024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MY DIRECTION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研究方向</a:t>
            </a:r>
            <a:r>
              <a:rPr lang="en-US" altLang="zh-CN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从“测量表”走向“决策闭环”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黑盒条件下，诊断视觉测试数据缺少哪些可解释证据，并指导有限预算行动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55648"/>
            <a:ext cx="10725912" cy="722376"/>
          </a:xfrm>
          <a:prstGeom prst="roundRect">
            <a:avLst>
              <a:gd name="adj" fmla="val 10127"/>
            </a:avLst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425" y="1929130"/>
            <a:ext cx="10373360" cy="3384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给定测试目标与候选数据，如何识别缺少证据的视觉状态，并给出可验证的复核与补样决策？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" y="2816352"/>
            <a:ext cx="3090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3063240"/>
            <a:ext cx="694944" cy="329184"/>
          </a:xfrm>
          <a:prstGeom prst="roundRect">
            <a:avLst>
              <a:gd name="adj" fmla="val 50000"/>
            </a:avLst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81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10512" y="305409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2E6F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可靠测量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78408" y="3657600"/>
            <a:ext cx="26334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如何将图片稳定转换为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有限、可核验的视觉状态？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4590288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608576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E6F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· unknown · 人工复核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96512" y="2816352"/>
            <a:ext cx="3090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3063240"/>
            <a:ext cx="694944" cy="329184"/>
          </a:xfrm>
          <a:prstGeom prst="roundRect">
            <a:avLst>
              <a:gd name="adj" fmla="val 50000"/>
            </a:avLst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3081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57216" y="305409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缺口定义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325112" y="3657600"/>
            <a:ext cx="26334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如何依据测试目标判断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哪些状态缺失或证据不足？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98264" y="4590288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E5F3F1"/>
          </a:solidFill>
          <a:ln w="12700">
            <a:solidFill>
              <a:srgbClr val="E5F3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1416" y="4608576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 · 参照 · 组合约束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43216" y="2816352"/>
            <a:ext cx="3090672" cy="2313432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71816" y="3063240"/>
            <a:ext cx="694944" cy="329184"/>
          </a:xfrm>
          <a:prstGeom prst="roundRect">
            <a:avLst>
              <a:gd name="adj" fmla="val 50000"/>
            </a:avLst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4968" y="3081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RQ3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3054096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行动与收益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671816" y="3657600"/>
            <a:ext cx="26334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固定预算下，如何分配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复核与补样并验证收益？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44968" y="4590288"/>
            <a:ext cx="2487168" cy="329184"/>
          </a:xfrm>
          <a:prstGeom prst="roundRect">
            <a:avLst>
              <a:gd name="adj" fmla="val 50000"/>
            </a:avLst>
          </a:prstGeom>
          <a:solidFill>
            <a:srgbClr val="FCECDD"/>
          </a:solidFill>
          <a:ln w="12700">
            <a:solidFill>
              <a:srgbClr val="FCEC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4608576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随机基线 · 故障 · 成本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7552" y="5596128"/>
            <a:ext cx="10204704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当前犬类实验覆盖 RQ1、RQ2 与初步补样；RQ3 的独立效用验证尚未完成。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RESEARCH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第一阶段验证主线：D0 → dog 训练补样 → D1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检验覆盖诊断的训练数据效用；测试集故障检出能力需要另行验证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64792"/>
            <a:ext cx="2359152" cy="276148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64792"/>
            <a:ext cx="2359152" cy="9144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011680"/>
            <a:ext cx="347472" cy="347472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0824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53312" y="1993392"/>
            <a:ext cx="14904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E6F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固定总集 D0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" y="2670048"/>
            <a:ext cx="1993392" cy="786384"/>
          </a:xfrm>
          <a:prstGeom prst="roundRect">
            <a:avLst>
              <a:gd name="adj" fmla="val 9302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34640"/>
            <a:ext cx="181051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按类别整理，固定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 / 验证 / 测试划分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767328"/>
            <a:ext cx="19568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计划：统一模型得到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基线指标 M_before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45536" y="3145536"/>
            <a:ext cx="265176" cy="0"/>
          </a:xfrm>
          <a:prstGeom prst="line">
            <a:avLst/>
          </a:prstGeom>
          <a:noFill/>
          <a:ln w="22860">
            <a:solidFill>
              <a:srgbClr val="9DAEB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74720" y="1764792"/>
            <a:ext cx="2359152" cy="276148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764792"/>
            <a:ext cx="2359152" cy="91440"/>
          </a:xfrm>
          <a:prstGeom prst="rect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5888" y="2011680"/>
            <a:ext cx="347472" cy="347472"/>
          </a:xfrm>
          <a:prstGeom prst="ellipse">
            <a:avLst/>
          </a:prstGeom>
          <a:solidFill>
            <a:srgbClr val="187D7B"/>
          </a:solidFill>
          <a:ln w="12700">
            <a:solidFill>
              <a:srgbClr val="187D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2020824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1993392"/>
            <a:ext cx="14904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 dog 训练子集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57600" y="2670048"/>
            <a:ext cx="1993392" cy="786384"/>
          </a:xfrm>
          <a:prstGeom prst="roundRect">
            <a:avLst>
              <a:gd name="adj" fmla="val 9302"/>
            </a:avLst>
          </a:prstGeom>
          <a:solidFill>
            <a:srgbClr val="E5F3F1"/>
          </a:solidFill>
          <a:ln w="12700">
            <a:solidFill>
              <a:srgbClr val="E5F3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834640"/>
            <a:ext cx="181051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 COCO 目标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输出23项视觉特征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75888" y="3767328"/>
            <a:ext cx="19568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当前已测：补图前覆盖率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C_before = 78.64%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07024" y="3145536"/>
            <a:ext cx="265176" cy="0"/>
          </a:xfrm>
          <a:prstGeom prst="line">
            <a:avLst/>
          </a:prstGeom>
          <a:noFill/>
          <a:ln w="22860">
            <a:solidFill>
              <a:srgbClr val="9DAEB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36208" y="1764792"/>
            <a:ext cx="2359152" cy="276148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1764792"/>
            <a:ext cx="2359152" cy="91440"/>
          </a:xfrm>
          <a:prstGeom prst="rect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7376" y="2011680"/>
            <a:ext cx="347472" cy="347472"/>
          </a:xfrm>
          <a:prstGeom prst="ellipse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2020824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6288" y="1993392"/>
            <a:ext cx="14904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875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 Ddog+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19088" y="2670048"/>
            <a:ext cx="1993392" cy="786384"/>
          </a:xfrm>
          <a:prstGeom prst="roundRect">
            <a:avLst>
              <a:gd name="adj" fmla="val 9302"/>
            </a:avLst>
          </a:prstGeom>
          <a:solidFill>
            <a:srgbClr val="FCECDD"/>
          </a:solidFill>
          <a:ln w="12700">
            <a:solidFill>
              <a:srgbClr val="FCEC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2834640"/>
            <a:ext cx="181051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只在训练候选中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选择补充图片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37376" y="3767328"/>
            <a:ext cx="19568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 dog 子集后已测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C_after = 84.17%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68512" y="3145536"/>
            <a:ext cx="265176" cy="0"/>
          </a:xfrm>
          <a:prstGeom prst="line">
            <a:avLst/>
          </a:prstGeom>
          <a:noFill/>
          <a:ln w="22860">
            <a:solidFill>
              <a:srgbClr val="9DAEB9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97696" y="1764792"/>
            <a:ext cx="2359152" cy="2761488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97696" y="1764792"/>
            <a:ext cx="2359152" cy="91440"/>
          </a:xfrm>
          <a:prstGeom prst="rect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98864" y="2011680"/>
            <a:ext cx="347472" cy="347472"/>
          </a:xfrm>
          <a:prstGeom prst="ellipse">
            <a:avLst/>
          </a:prstGeom>
          <a:solidFill>
            <a:srgbClr val="2F7D5A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98864" y="2020824"/>
            <a:ext cx="3474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37776" y="1993392"/>
            <a:ext cx="149047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F7D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计划构建 D1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9180576" y="2670048"/>
            <a:ext cx="1993392" cy="786384"/>
          </a:xfrm>
          <a:prstGeom prst="roundRect">
            <a:avLst>
              <a:gd name="adj" fmla="val 9302"/>
            </a:avLst>
          </a:prstGeom>
          <a:solidFill>
            <a:srgbClr val="E7F2EC"/>
          </a:solidFill>
          <a:ln w="12700">
            <a:solidFill>
              <a:srgbClr val="E7F2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72016" y="2834640"/>
            <a:ext cx="181051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Ddog+ 合并进 D0_train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保持相同实验配置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98864" y="3767328"/>
            <a:ext cx="195681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重训得到 M_after；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 D_test 比较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13232" y="4919472"/>
            <a:ext cx="10643616" cy="713232"/>
          </a:xfrm>
          <a:prstGeom prst="roundRect">
            <a:avLst>
              <a:gd name="adj" fmla="val 10256"/>
            </a:avLst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" y="5074920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8ED1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两条结果线分别报告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926080" y="5038344"/>
            <a:ext cx="379476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覆盖变化：ΔC = C_after − C_before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903720" y="5038090"/>
            <a:ext cx="442595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模型变化：ΔM = M_after − M_before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69264" y="5888736"/>
            <a:ext cx="1018641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当前仅完成 dog 覆盖对比；D0 / D1 模型训练待完成，且不能替代固定模型下的测试故障检出验证。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40" dirty="0">
                <a:solidFill>
                  <a:srgbClr val="18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结果分析</a:t>
            </a:r>
            <a:r>
              <a:rPr lang="en-US" sz="29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：覆盖变化能否解释模型变化？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ΔC 是过程结果，ΔM 才能回答补图是否改善了任务表现；两者必须联合解释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737360"/>
            <a:ext cx="3657600" cy="4069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933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7D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当前已知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50976" y="2487168"/>
            <a:ext cx="312724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2487168"/>
            <a:ext cx="73152" cy="1024128"/>
          </a:xfrm>
          <a:prstGeom prst="rect">
            <a:avLst/>
          </a:prstGeom>
          <a:solidFill>
            <a:srgbClr val="E87524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606040"/>
            <a:ext cx="279806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E875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+5.53 pp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170432" y="3008376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覆盖指数变化 ΔC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70432" y="3255264"/>
            <a:ext cx="279806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78.64% → 84.17%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50976" y="3730752"/>
            <a:ext cx="312724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" y="3730752"/>
            <a:ext cx="73152" cy="1024128"/>
          </a:xfrm>
          <a:prstGeom prst="rect">
            <a:avLst/>
          </a:prstGeom>
          <a:solidFill>
            <a:srgbClr val="B84A3A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849624"/>
            <a:ext cx="2798064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待测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170432" y="4251960"/>
            <a:ext cx="2798064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模型性能变化 ΔM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70432" y="4498848"/>
            <a:ext cx="279806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5F6B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同一固定测试集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0976" y="5047488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因此当前只能说：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缺口驱动补图改善了定义下的状态覆盖。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45152" y="1737360"/>
            <a:ext cx="68580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99339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53B5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ΔC / ΔM 联合判读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24871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E7F2EC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6060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7D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ΔC 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89320" y="24871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E7F2EC"/>
          </a:solidFill>
          <a:ln w="12700">
            <a:solidFill>
              <a:srgbClr val="2F7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26060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7D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ΔM 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05472" y="2587752"/>
            <a:ext cx="38587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支持“补充状态”可能带来任务收益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937760" y="31729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2918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75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ΔC ↑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9320" y="31729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FCECDD"/>
          </a:solidFill>
          <a:ln w="12700">
            <a:solidFill>
              <a:srgbClr val="E875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32918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75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ΔM ≈ 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05472" y="3273552"/>
            <a:ext cx="38587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覆盖指标变好，但新增状态未转化为模型收益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937760" y="38587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E7F0F7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9776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6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ΔC ≈ 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89320" y="38587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E7F0F7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62472" y="39776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6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ΔM ↑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05472" y="3959352"/>
            <a:ext cx="38587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性能变化可能来自训练随机性或其他数据因素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937760" y="45445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F8E7E4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46634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ΔC 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989320" y="4544568"/>
            <a:ext cx="960120" cy="475488"/>
          </a:xfrm>
          <a:prstGeom prst="roundRect">
            <a:avLst>
              <a:gd name="adj" fmla="val 15385"/>
            </a:avLst>
          </a:prstGeom>
          <a:solidFill>
            <a:srgbClr val="F8E7E4"/>
          </a:solidFill>
          <a:ln w="12700">
            <a:solidFill>
              <a:srgbClr val="B84A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4663440"/>
            <a:ext cx="81381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4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ΔM 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05472" y="4645152"/>
            <a:ext cx="385876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21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检查清洁、标签、重复与数据分布变化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937760" y="5330952"/>
            <a:ext cx="5989320" cy="292608"/>
          </a:xfrm>
          <a:prstGeom prst="roundRect">
            <a:avLst>
              <a:gd name="adj" fmla="val 25000"/>
            </a:avLst>
          </a:prstGeom>
          <a:solidFill>
            <a:srgbClr val="153B5B"/>
          </a:solidFill>
          <a:ln w="12700">
            <a:solidFill>
              <a:srgbClr val="153B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5367528"/>
            <a:ext cx="56509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需要控制：模型、训练轮数、随机种子、总预算、固定测试集、去重规则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32688" y="6016752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B84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分析结论的强弱取决于：ΔM 是否显著、是否跨模型复现、是否优于等预算基线。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F6B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QE · MAIN</a:t>
            </a:r>
            <a:endParaRPr lang="en-US" sz="8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77838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28346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87D7B"/>
                </a:solidFill>
                <a:latin typeface="Aptos"/>
              </a:rPr>
              <a:t>07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53B5B"/>
                </a:solidFill>
                <a:latin typeface="Microsoft YaHei"/>
              </a:rPr>
              <a:t>总结：从覆盖诊断走向可验证的数据行动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88136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F6B76"/>
                </a:solidFill>
                <a:latin typeface="Microsoft YaHei"/>
              </a:rPr>
              <a:t>当前完成了状态测量与缺口驱动补图；更强结论仍需要公平基线和独立效用验证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99616"/>
            <a:ext cx="11018520" cy="10972"/>
          </a:xfrm>
          <a:prstGeom prst="rect">
            <a:avLst/>
          </a:prstGeom>
          <a:solidFill>
            <a:srgbClr val="D8E0E6"/>
          </a:solidFill>
          <a:ln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3310128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10512"/>
            <a:ext cx="3310128" cy="82296"/>
          </a:xfrm>
          <a:prstGeom prst="rect">
            <a:avLst/>
          </a:prstGeom>
          <a:solidFill>
            <a:srgbClr val="2E6F9E"/>
          </a:solidFill>
          <a:ln>
            <a:solidFill>
              <a:srgbClr val="2E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2084831"/>
            <a:ext cx="393192" cy="393192"/>
          </a:xfrm>
          <a:prstGeom prst="ellipse">
            <a:avLst/>
          </a:prstGeom>
          <a:solidFill>
            <a:srgbClr val="2E6F9E"/>
          </a:solidFill>
          <a:ln>
            <a:solidFill>
              <a:srgbClr val="2E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93976"/>
            <a:ext cx="39319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057400"/>
            <a:ext cx="22402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E6F9E"/>
                </a:solidFill>
                <a:latin typeface="Microsoft YaHei"/>
              </a:rPr>
              <a:t>已经完成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2"/>
            <a:ext cx="2798064" cy="1700784"/>
          </a:xfrm>
          <a:prstGeom prst="rect">
            <a:avLst/>
          </a:prstGeom>
          <a:noFill/>
        </p:spPr>
        <p:txBody>
          <a:bodyPr wrap="none" lIns="73152" rIns="36576" tIns="36576" bIns="0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固定目标与三视图输入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23项视觉状态和严格校验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</a:rPr>
              <a:t>•  缺口驱动选择100张补图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15384"/>
            <a:ext cx="2798064" cy="283464"/>
          </a:xfrm>
          <a:prstGeom prst="roundRect">
            <a:avLst/>
          </a:prstGeom>
          <a:solidFill>
            <a:srgbClr val="E7F0F7"/>
          </a:solidFill>
          <a:ln>
            <a:solidFill>
              <a:srgbClr val="E7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810512"/>
            <a:ext cx="3310128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10512"/>
            <a:ext cx="3310128" cy="82296"/>
          </a:xfrm>
          <a:prstGeom prst="rect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2084831"/>
            <a:ext cx="393192" cy="393192"/>
          </a:xfrm>
          <a:prstGeom prst="ellipse">
            <a:avLst/>
          </a:prstGeom>
          <a:solidFill>
            <a:srgbClr val="E87524"/>
          </a:solidFill>
          <a:ln>
            <a:solidFill>
              <a:srgbClr val="E87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093976"/>
            <a:ext cx="39319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057400"/>
            <a:ext cx="22402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87524"/>
                </a:solidFill>
                <a:latin typeface="Microsoft YaHei"/>
              </a:rPr>
              <a:t>当前证据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679192"/>
            <a:ext cx="2798064" cy="1700784"/>
          </a:xfrm>
          <a:prstGeom prst="rect">
            <a:avLst/>
          </a:prstGeom>
          <a:noFill/>
        </p:spPr>
        <p:txBody>
          <a:bodyPr wrap="none" lIns="73152" rIns="36576" tIns="36576" bIns="0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覆盖指数：78.64% → 84.17%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低频状态：45 → 33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</a:rPr>
              <a:t>•  只支持状态覆盖改善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0872" y="4215384"/>
            <a:ext cx="2798064" cy="283464"/>
          </a:xfrm>
          <a:prstGeom prst="roundRect">
            <a:avLst/>
          </a:prstGeom>
          <a:solidFill>
            <a:srgbClr val="FCECDD"/>
          </a:solidFill>
          <a:ln>
            <a:solidFill>
              <a:srgbClr val="FCE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11312" y="1810512"/>
            <a:ext cx="3310128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2" y="1810512"/>
            <a:ext cx="3310128" cy="82296"/>
          </a:xfrm>
          <a:prstGeom prst="rect">
            <a:avLst/>
          </a:prstGeom>
          <a:solidFill>
            <a:srgbClr val="2F7D5A"/>
          </a:solidFill>
          <a:ln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39912" y="2084831"/>
            <a:ext cx="393192" cy="393192"/>
          </a:xfrm>
          <a:prstGeom prst="ellipse">
            <a:avLst/>
          </a:prstGeom>
          <a:solidFill>
            <a:srgbClr val="2F7D5A"/>
          </a:solidFill>
          <a:ln>
            <a:solidFill>
              <a:srgbClr val="2F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2093976"/>
            <a:ext cx="393192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2057400"/>
            <a:ext cx="22402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F7D5A"/>
                </a:solidFill>
                <a:latin typeface="Microsoft YaHei"/>
              </a:rPr>
              <a:t>下一步验证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2679192"/>
            <a:ext cx="2798064" cy="1700784"/>
          </a:xfrm>
          <a:prstGeom prst="rect">
            <a:avLst/>
          </a:prstGeom>
          <a:noFill/>
        </p:spPr>
        <p:txBody>
          <a:bodyPr wrap="none" lIns="73152" rIns="36576" tIns="36576" bIns="0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人工一致性与标签有效性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7212B"/>
                </a:solidFill>
                <a:latin typeface="Microsoft YaHei"/>
              </a:rPr>
              <a:t>•  等预算随机/分层基线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7212B"/>
                </a:solidFill>
                <a:latin typeface="Microsoft YaHei"/>
              </a:rPr>
              <a:t>•  固定测试集上的 ΔM 与故障检出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67344" y="4215384"/>
            <a:ext cx="2798064" cy="283464"/>
          </a:xfrm>
          <a:prstGeom prst="roundRect">
            <a:avLst/>
          </a:prstGeom>
          <a:solidFill>
            <a:srgbClr val="E7F2EC"/>
          </a:solidFill>
          <a:ln>
            <a:solidFill>
              <a:srgbClr val="E7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4983480"/>
            <a:ext cx="10616184" cy="841248"/>
          </a:xfrm>
          <a:prstGeom prst="roundRect">
            <a:avLst/>
          </a:prstGeom>
          <a:solidFill>
            <a:srgbClr val="153B5B"/>
          </a:solidFill>
          <a:ln>
            <a:solidFill>
              <a:srgbClr val="15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5129784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5F3F1"/>
                </a:solidFill>
                <a:latin typeface="Aptos"/>
              </a:rPr>
              <a:t>TAKE-HOME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093208"/>
            <a:ext cx="86410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覆盖的价值不是替代模型性能，而是指出“哪些测试证据还没有”，并指导有限预算下的补样。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6007608"/>
            <a:ext cx="10012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B84A3A"/>
                </a:solidFill>
                <a:latin typeface="Microsoft YaHei"/>
              </a:rPr>
              <a:t>当前结论边界：流程已运行、状态覆盖已改善；策略优越性和模型收益仍待验证。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46520"/>
            <a:ext cx="12801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F6B76"/>
                </a:solidFill>
                <a:latin typeface="Aptos"/>
              </a:rPr>
              <a:t>QE · SUMMARY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2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3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4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5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6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7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8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9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0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1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2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3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4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5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6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7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8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19.xml><?xml version="1.0" encoding="utf-8"?>
<p:tagLst xmlns:p="http://schemas.openxmlformats.org/presentationml/2006/main">
  <p:tag name="KSO_WM_DIAGRAM_VIRTUALLY_FRAME" val="{&quot;height&quot;:102.44000000000001,&quot;left&quot;:56.160000000000004,&quot;top&quot;:291.4,&quot;width&quot;:794.8799999999999}"/>
</p:tagLst>
</file>

<file path=ppt/tags/tag20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1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2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3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4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5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6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7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8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29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0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1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2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3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4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5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6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7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8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39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0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1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2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3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4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5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6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7.xml><?xml version="1.0" encoding="utf-8"?>
<p:tagLst xmlns:p="http://schemas.openxmlformats.org/presentationml/2006/main">
  <p:tag name="KSO_WM_DIAGRAM_VIRTUALLY_FRAME" val="{&quot;height&quot;:272.15999999999997,&quot;left&quot;:47.519999999999996,&quot;top&quot;:138.24,&quot;width&quot;:866.8799999999999}"/>
</p:tagLst>
</file>

<file path=ppt/tags/tag48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49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0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1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2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3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4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5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6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7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8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ags/tag59.xml><?xml version="1.0" encoding="utf-8"?>
<p:tagLst xmlns:p="http://schemas.openxmlformats.org/presentationml/2006/main">
  <p:tag name="KSO_WM_DIAGRAM_VIRTUALLY_FRAME" val="{&quot;height&quot;:153.35999999999999,&quot;left&quot;:77.03999999999999,&quot;top&quot;:232.56,&quot;width&quot;:79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2430</Words>
  <Application>WPS 演示</Application>
  <PresentationFormat>On-screen Show (16:9)</PresentationFormat>
  <Paragraphs>329</Paragraphs>
  <Slides>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Aptos</vt:lpstr>
      <vt:lpstr>Helvetica Neue</vt:lpstr>
      <vt:lpstr>微软雅黑</vt:lpstr>
      <vt:lpstr>方正雅意黑 GB18030L2</vt:lpstr>
      <vt:lpstr>微软雅黑</vt:lpstr>
      <vt:lpstr>微软雅黑</vt:lpstr>
      <vt:lpstr>Aptos</vt:lpstr>
      <vt:lpstr>Aptos</vt:lpstr>
      <vt:lpstr>Aptos</vt:lpstr>
      <vt:lpstr>宋体</vt:lpstr>
      <vt:lpstr>汉仪书宋二KW</vt:lpstr>
      <vt:lpstr>Arial Unicode MS</vt:lpstr>
      <vt:lpstr>Calibri</vt:lpstr>
      <vt:lpstr>??</vt:lpstr>
      <vt:lpstr>Thonburi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QE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面向视觉测试数据的可解释状态覆盖与缺口驱动补样</dc:title>
  <dc:creator>QE Project</dc:creator>
  <dc:subject>视觉测试数据充分性组会汇报</dc:subject>
  <cp:lastModifiedBy>忽忽溜~</cp:lastModifiedBy>
  <cp:revision>11</cp:revision>
  <dcterms:created xsi:type="dcterms:W3CDTF">2026-09-15T12:26:27Z</dcterms:created>
  <dcterms:modified xsi:type="dcterms:W3CDTF">2026-09-15T12:26:27Z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4CAEB681099C79D8391FA96A42E5E22B_42</vt:lpwstr>
  </property>
  <property fmtid="{D5CDD505-2E9C-101B-9397-08002B2CF9AE}" pid="3" name="KSOProductBuildVer">
    <vt:lpwstr>2052-12.1.26046.26046</vt:lpwstr>
  </property>
</Properties>
</file>