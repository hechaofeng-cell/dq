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  <p:sldId id="263" r:id="rId8"/>
    <p:sldId id="265" r:id="rId9"/>
    <p:sldId id="268" r:id="rId10"/>
    <p:sldId id="269" r:id="rId11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提出问题：图片很多是否就代表测试充分？再指向页面下方的研究闭环。第一，用可解释特征把图片转换成视觉状态；第二，统计缺失或低频状态；第三，在固定预算下进行定向补样并与基线比较；第四，用独立测试集验证模型收益。当前已经跑通状态提取、缺口诊断和定向补图，等预算对照与独立模型验证尚未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分成左右两类来看。左边四张都来自初始500张数据，主要是单犬、正面、清晰、无遮挡，属于比较常见、也比较容易识别的条件。如果大量图片集中在这类条件里，dog的总数即使很多，提供的测试证据仍然比较单一。右边仍然是dog类别，但出现了多犬和人物共现、背向和雪地、极小目标、跳跃与人物交互等差异条件。这里的八张图只是用于直观说明，并不代表完整分布统计。我想强调的是：同一类别、相同数量，不等于覆盖了相同的视觉条件。因此后面不再只统计dog有多少张，而是进一步测量类别内部的重要视觉状态是否出现、样本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图从左到右讲，不逐项念文字。第一，初始500张和候选400张保持独立。第二，每张图由程序根据COCO框固定一个A目标，并提供原图、标记图和裁剪图。第三，VLM输出23项有限枚举特征。第四，程序严格校验JSON、枚举、依赖关系并保留原始响应。第五，根据低频状态从候选池选择100张，最后冻结清洁数据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可支持结论：在固定dog_v3.1协议和当前候选池内，定向补图后覆盖指数由78.64%提高到84.17%，最终低频状态数从45降到33。然后主动说边界：900/900只表示输出通过严格格式和规则校验，不是23项特征全部识别正确；补图策略正是优化覆盖，所以还不能据此证明策略优于随机，更不能解释成识别准确率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决定后面怎样诚实解释自己的结果。TEASMA提醒我们，充分性指标要和故障检出能力建立联系。SELECT虽然研究的是训练数据策展，不是测试充分性，但它强调同一预算和统一基线。由此可知，仅仅让自己定义的覆盖指数升高，不能证明补样策略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出我的正式研究问题。定位不是再做一个编码器，也不是声称提出通用充分性理论，而是做可解释、可追溯的测量和决策流程。当前dog实验已经把图片转为状态、统计缺口并做了候选补图，但尚未完成随机基线和独立模型故障收益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明确这是第一阶段的训练数据效用验证，不是对当前数据流程的重复。D0固定训练、验证和测试划分并得到M_before；随后只分析dog训练子集，根据低频状态得到Ddog+，测试集不参与选图。Ddog+与原dog子集合并后，当前已测覆盖由78.64%到84.17%；把Ddog+并入D0_train形成D1、重训M_after并在固定D_test评价仍待完成。该结果即使完成，也不能替代固定被测模型下的测试集新增故障检出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补上真正的分析。第一，当前已有的数据只有ΔC，所以只能说明定义下的状态覆盖增加。第二，只有把补图加入训练集，并在完全固定的测试集上比较M_before和M_after，才能知道模型性能是否变化。第三，不同ΔC/ΔM组合有不同解释：最理想是两者都上升；如果覆盖上升但性能不变，说明覆盖指标可能没有预测任务收益；如果性能变化但覆盖不变，要检查训练随机性和其他数据因素。最后要做等预算基线、多个随机种子和跨模型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时按三列讲。第一，当前已经跑通固定目标、23项状态提取、严格校验和缺口驱动补图。第二，已有证据是覆盖指数由78.64%提高到84.17%，低频状态由45降到33；这只支持状态覆盖改善。第三，下一步验证标签有效性、等预算基线、固定测试集上的模型变化和故障检出能力。最后读出Take-home message：覆盖不是模型性能的替代品，而是用于发现仍然缺少的测试证据。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E_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image" Target="../media/image1.jpeg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Relationship Id="rId11" Type="http://schemas.openxmlformats.org/officeDocument/2006/relationships/tags" Target="../tags/tag29.xml"/><Relationship Id="rId12" Type="http://schemas.openxmlformats.org/officeDocument/2006/relationships/image" Target="../media/image2.jpeg"/><Relationship Id="rId13" Type="http://schemas.openxmlformats.org/officeDocument/2006/relationships/tags" Target="../tags/tag30.xml"/><Relationship Id="rId14" Type="http://schemas.openxmlformats.org/officeDocument/2006/relationships/tags" Target="../tags/tag31.xml"/><Relationship Id="rId15" Type="http://schemas.openxmlformats.org/officeDocument/2006/relationships/tags" Target="../tags/tag32.xml"/><Relationship Id="rId16" Type="http://schemas.openxmlformats.org/officeDocument/2006/relationships/tags" Target="../tags/tag33.xml"/><Relationship Id="rId17" Type="http://schemas.openxmlformats.org/officeDocument/2006/relationships/tags" Target="../tags/tag34.xml"/><Relationship Id="rId18" Type="http://schemas.openxmlformats.org/officeDocument/2006/relationships/tags" Target="../tags/tag35.xml"/><Relationship Id="rId19" Type="http://schemas.openxmlformats.org/officeDocument/2006/relationships/tags" Target="../tags/tag36.xml"/><Relationship Id="rId20" Type="http://schemas.openxmlformats.org/officeDocument/2006/relationships/image" Target="../media/image3.jpeg"/><Relationship Id="rId21" Type="http://schemas.openxmlformats.org/officeDocument/2006/relationships/tags" Target="../tags/tag37.xml"/><Relationship Id="rId22" Type="http://schemas.openxmlformats.org/officeDocument/2006/relationships/tags" Target="../tags/tag38.xml"/><Relationship Id="rId23" Type="http://schemas.openxmlformats.org/officeDocument/2006/relationships/tags" Target="../tags/tag39.xml"/><Relationship Id="rId24" Type="http://schemas.openxmlformats.org/officeDocument/2006/relationships/tags" Target="../tags/tag40.xml"/><Relationship Id="rId25" Type="http://schemas.openxmlformats.org/officeDocument/2006/relationships/tags" Target="../tags/tag41.xml"/><Relationship Id="rId26" Type="http://schemas.openxmlformats.org/officeDocument/2006/relationships/tags" Target="../tags/tag42.xml"/><Relationship Id="rId27" Type="http://schemas.openxmlformats.org/officeDocument/2006/relationships/tags" Target="../tags/tag43.xml"/><Relationship Id="rId28" Type="http://schemas.openxmlformats.org/officeDocument/2006/relationships/image" Target="../media/image4.jpeg"/><Relationship Id="rId29" Type="http://schemas.openxmlformats.org/officeDocument/2006/relationships/tags" Target="../tags/tag44.xml"/><Relationship Id="rId30" Type="http://schemas.openxmlformats.org/officeDocument/2006/relationships/tags" Target="../tags/tag45.xml"/><Relationship Id="rId31" Type="http://schemas.openxmlformats.org/officeDocument/2006/relationships/tags" Target="../tags/tag46.xml"/><Relationship Id="rId32" Type="http://schemas.openxmlformats.org/officeDocument/2006/relationships/tags" Target="../tags/tag47.xml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35" Type="http://schemas.openxmlformats.org/officeDocument/2006/relationships/image" Target="../media/image7.jpg"/><Relationship Id="rId36" Type="http://schemas.openxmlformats.org/officeDocument/2006/relationships/image" Target="../media/image8.jpg"/><Relationship Id="rId37" Type="http://schemas.openxmlformats.org/officeDocument/2006/relationships/image" Target="../media/image9.jpg"/><Relationship Id="rId38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tags" Target="../tags/tag54.xml"/><Relationship Id="rId8" Type="http://schemas.openxmlformats.org/officeDocument/2006/relationships/tags" Target="../tags/tag55.xml"/><Relationship Id="rId9" Type="http://schemas.openxmlformats.org/officeDocument/2006/relationships/tags" Target="../tags/tag56.xml"/><Relationship Id="rId10" Type="http://schemas.openxmlformats.org/officeDocument/2006/relationships/tags" Target="../tags/tag57.xml"/><Relationship Id="rId11" Type="http://schemas.openxmlformats.org/officeDocument/2006/relationships/tags" Target="../tags/tag58.xml"/><Relationship Id="rId12" Type="http://schemas.openxmlformats.org/officeDocument/2006/relationships/tags" Target="../tags/tag59.xml"/><Relationship Id="rId13" Type="http://schemas.openxmlformats.org/officeDocument/2006/relationships/hyperlink" Target="https://arxiv.org/abs/2308.01311" TargetMode="External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6692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85216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QE · 组会汇报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10607040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面向视觉测试数据的</a:t>
            </a:r>
            <a:endParaRPr lang="en-US" sz="3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可解释状态覆盖与缺口驱动补样</a:t>
            </a:r>
            <a:endParaRPr lang="en-US" sz="34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713232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877824" y="3901948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77824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335024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可解释特征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2871216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383280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5F3F1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547872" y="3901948"/>
            <a:ext cx="347472" cy="347472"/>
          </a:xfrm>
          <a:prstGeom prst="ellipse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547872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4005072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覆盖缺口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5541264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053328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217920" y="3901948"/>
            <a:ext cx="347472" cy="347472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17920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675120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预算化补样</a:t>
            </a:r>
            <a:endParaRPr lang="en-US" sz="1500" dirty="0"/>
          </a:p>
        </p:txBody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211312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8723376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8887968" y="3901948"/>
            <a:ext cx="347472" cy="34747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887968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9345168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5870448"/>
            <a:ext cx="10844784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0167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组会汇报 · 2026.09.16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5961888"/>
            <a:ext cx="5760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研究对象：测试数据集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1" name="文本框 30"/>
          <p:cNvSpPr txBox="1"/>
          <p:nvPr/>
        </p:nvSpPr>
        <p:spPr>
          <a:xfrm>
            <a:off x="713105" y="2593340"/>
            <a:ext cx="930910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Tx/>
            </a:pPr>
            <a:r>
              <a:rPr 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一个视觉数据集</a:t>
            </a:r>
            <a:r>
              <a:rPr lang="zh-CN" alt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的图像很多的情况下</a:t>
            </a:r>
            <a:r>
              <a:rPr 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，是否就代表它已经提供了充分的测试证据？如果数据主要集中在少数常见条件下，我们能不能定位具体缺少什么，并按照缺口补充数据？</a:t>
            </a:r>
            <a:endParaRPr lang="en-US" sz="1800" b="0" i="0" dirty="0">
              <a:solidFill>
                <a:srgbClr val="5F6B76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6450" y="4645025"/>
            <a:ext cx="206502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把图片转换成视角、尺度、遮挡和场景等可解释特征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409315" y="4894580"/>
            <a:ext cx="22402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统计未覆盖或低频状态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66155" y="4850130"/>
            <a:ext cx="22402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在有限预算下定向补样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722995" y="4681220"/>
            <a:ext cx="213487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用公平基线和独立测试验证这些补样是否真的有用。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37744"/>
            <a:ext cx="29260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88A87"/>
                </a:solidFill>
                <a:latin typeface="Aptos"/>
              </a:rPr>
              <a:t>01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53B5B"/>
                </a:solidFill>
                <a:latin typeface="Microsoft YaHei"/>
              </a:rPr>
              <a:t>同一类别、相同数量，不代表相同测试证据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51560"/>
            <a:ext cx="109270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B76"/>
                </a:solidFill>
                <a:latin typeface="Microsoft YaHei"/>
              </a:rPr>
              <a:t>左侧是初始集中常见的正面、清晰、无遮挡状态；右侧是补图候选中的差异状态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18520" cy="10972"/>
          </a:xfrm>
          <a:prstGeom prst="rect">
            <a:avLst/>
          </a:prstGeom>
          <a:solidFill>
            <a:srgbClr val="D8E0E6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340096" cy="4142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847088"/>
            <a:ext cx="2359152" cy="329184"/>
          </a:xfrm>
          <a:prstGeom prst="roundRect">
            <a:avLst/>
          </a:prstGeom>
          <a:solidFill>
            <a:srgbClr val="E4F0FA"/>
          </a:solidFill>
          <a:ln w="12700">
            <a:solidFill>
              <a:srgbClr val="E4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56231"/>
            <a:ext cx="226771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3183C5"/>
                </a:solidFill>
                <a:latin typeface="Microsoft YaHei"/>
              </a:rPr>
              <a:t>A：常见条件集中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70001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6B76"/>
                </a:solidFill>
                <a:latin typeface="Microsoft YaHei"/>
              </a:rPr>
              <a:t>正面 · 清晰 · 无遮挡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542032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0000143783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01444" y="2542032"/>
            <a:ext cx="855878" cy="1069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8" y="3666744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3183C5"/>
                </a:solidFill>
                <a:latin typeface="Microsoft YaHei"/>
              </a:rPr>
              <a:t>正面 · 单犬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42032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0000530154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42808" y="2542032"/>
            <a:ext cx="1603519" cy="1069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10712" y="3666744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3183C5"/>
                </a:solidFill>
                <a:latin typeface="Microsoft YaHei"/>
              </a:rPr>
              <a:t>清晰 · 无遮挡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4087368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00000001688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94460" y="4087368"/>
            <a:ext cx="1069848" cy="10698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8" y="5212079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3183C5"/>
                </a:solidFill>
                <a:latin typeface="Microsoft YaHei"/>
              </a:rPr>
              <a:t>近景 · 轮廓完整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4087368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00000285965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40926" y="4087368"/>
            <a:ext cx="1607283" cy="1069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10712" y="5212079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3183C5"/>
                </a:solidFill>
                <a:latin typeface="Microsoft YaHei"/>
              </a:rPr>
              <a:t>常见视角 · 易识别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1664208"/>
            <a:ext cx="5340096" cy="4142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1847088"/>
            <a:ext cx="2359152" cy="329184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856231"/>
            <a:ext cx="226771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88A87"/>
                </a:solidFill>
                <a:latin typeface="Microsoft YaHei"/>
              </a:rPr>
              <a:t>B：差异条件出现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212848"/>
            <a:ext cx="470001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F6B76"/>
                </a:solidFill>
                <a:latin typeface="Microsoft YaHei"/>
              </a:rPr>
              <a:t>数量 · 朝向 · 尺度 · 动作与场景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2542032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42" y="2542032"/>
            <a:ext cx="1896683" cy="10698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10528" y="3666744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88A87"/>
                </a:solidFill>
                <a:latin typeface="Microsoft YaHei"/>
              </a:rPr>
              <a:t>多犬与人物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2542032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jpe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2216" y="2542032"/>
            <a:ext cx="1334703" cy="10698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25712" y="3666744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88A87"/>
                </a:solidFill>
                <a:latin typeface="Microsoft YaHei"/>
              </a:rPr>
              <a:t>背向与雪地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087368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e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75471" y="4087368"/>
            <a:ext cx="1737824" cy="10698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10528" y="5212079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88A87"/>
                </a:solidFill>
                <a:latin typeface="Microsoft YaHei"/>
              </a:rPr>
              <a:t>极小目标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4087368"/>
            <a:ext cx="2267712" cy="1069848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jpe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55926" y="4087368"/>
            <a:ext cx="1607283" cy="10698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25712" y="5212079"/>
            <a:ext cx="226771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88A87"/>
                </a:solidFill>
                <a:latin typeface="Microsoft YaHei"/>
              </a:rPr>
              <a:t>跳跃与交互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79592" y="3447288"/>
            <a:ext cx="566928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9592" y="3438144"/>
            <a:ext cx="566928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87524"/>
                </a:solidFill>
                <a:latin typeface="Aptos"/>
              </a:rPr>
              <a:t>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5952744"/>
            <a:ext cx="10616184" cy="502920"/>
          </a:xfrm>
          <a:prstGeom prst="round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6025896"/>
            <a:ext cx="1017727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只看 dog 的图片数量，会掩盖类别内部的视角、尺度、遮挡、动作和场景差异。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7264" y="6492240"/>
            <a:ext cx="3794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F6B76"/>
                </a:solidFill>
                <a:latin typeface="Microsoft YaHei"/>
              </a:rPr>
              <a:t>真实图像示例来自 COCO 2017；红框为程序固定的 A 目标。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620256"/>
            <a:ext cx="9144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F6B76"/>
                </a:solidFill>
                <a:latin typeface="Aptos"/>
              </a:rPr>
              <a:t>QE · MAIN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57432" y="6620256"/>
            <a:ext cx="128016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F6B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CURRENT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当前验证载体： 犬类视觉状态覆盖流程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固定目标、三视图输入、23项枚举特征、严格校验与缺口驱动选图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5522976"/>
            <a:ext cx="10616184" cy="457200"/>
          </a:xfrm>
          <a:prstGeom prst="roundRect">
            <a:avLst>
              <a:gd name="adj" fmla="val 16000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632704"/>
            <a:ext cx="10213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COCO 有目标框、类内状态丰富；VLM只负责属性测量，不是被测识别模型。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85216" y="6172200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E7A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项目流程与证据：docs/dog_v3_1_overall_workflow.md；docs/dog_v3_1_claim_evidence.md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04620"/>
            <a:ext cx="12192000" cy="404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CURRENT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初步结果：覆盖能够被测量，也能够被定向改善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但当前证据只支持“状态覆盖改善”，不支持“识别性能改善”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00784"/>
            <a:ext cx="6565392" cy="4078224"/>
          </a:xfrm>
          <a:prstGeom prst="roundRect">
            <a:avLst>
              <a:gd name="adj" fmla="val 179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7" name="Image 0" descr="/home/hcf/project/QE/docs/dog_v3_1_figures/fig1_coverage_before_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6080760" cy="3502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61504" y="1719072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61504" y="1719072"/>
            <a:ext cx="73152" cy="1024128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837944"/>
            <a:ext cx="151790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900 / 900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680960" y="2240280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严格特征响应通过校验</a:t>
            </a:r>
            <a:endParaRPr lang="en-US" sz="1100" b="1" dirty="0">
              <a:solidFill>
                <a:srgbClr val="17212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80960" y="2487168"/>
            <a:ext cx="151790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500初始 + 400候选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528048" y="1719072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48" y="1719072"/>
            <a:ext cx="73152" cy="1024128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47504" y="1837944"/>
            <a:ext cx="151790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747504" y="2240280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最终清洁图片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747504" y="2487168"/>
            <a:ext cx="151790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600合并 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61504" y="297180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504" y="2971800"/>
            <a:ext cx="73152" cy="1024128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3090672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78.64% → 84.17%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7680960" y="3493008"/>
            <a:ext cx="35844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状态覆盖指数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680960" y="3739896"/>
            <a:ext cx="358444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提升5.53个百分点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461504" y="4224528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61504" y="4224528"/>
            <a:ext cx="73152" cy="1024128"/>
          </a:xfrm>
          <a:prstGeom prst="rect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4343400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→ 33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7680960" y="4745736"/>
            <a:ext cx="35844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最终低频状态数量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80960" y="4992624"/>
            <a:ext cx="358444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清洁600张口径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观察｜覆盖 +5.53 pp，低频状态 45 → 33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0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17136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解释｜当前协议下，状态缺口得到改善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973568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01584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边界｜不是识别性能；尚无随机基线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RELATED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覆盖分数不是终点：还要回答“有没有测试收益”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TEASMA约束效用结论，SELECT约束策略比较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83080"/>
            <a:ext cx="530352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039112"/>
            <a:ext cx="2075688" cy="329184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TEASMA · IEEE TSE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249631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把覆盖连接到故障检出</a:t>
            </a:r>
            <a:endParaRPr lang="en-US" sz="2100" dirty="0"/>
          </a:p>
        </p:txBody>
      </p:sp>
      <p:sp>
        <p:nvSpPr>
          <p:cNvPr id="10" name="Text 8"/>
          <p:cNvSpPr/>
          <p:nvPr>
            <p:custDataLst>
              <p:tags r:id="rId1"/>
            </p:custDataLst>
          </p:nvPr>
        </p:nvSpPr>
        <p:spPr>
          <a:xfrm>
            <a:off x="978408" y="2999232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解决问题</a:t>
            </a:r>
            <a:endParaRPr lang="en-US" sz="1250" dirty="0"/>
          </a:p>
        </p:txBody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1874520" y="2953512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一个测试集的充分性分数，是否真的对应更强的故障发现能力？</a:t>
            </a:r>
            <a:endParaRPr lang="en-US" sz="135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978408" y="369417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核心思路</a:t>
            </a:r>
            <a:endParaRPr lang="en-US" sz="125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874520" y="362102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利用已有充分性指标，为具体 DNN 建立测试集故障检出率预测模型。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978408" y="4443984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</a:t>
            </a:r>
            <a:endParaRPr lang="en-US" sz="125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1874520" y="4370832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覆盖不是终点，必须再用新增错误或独立故障检出进行验证。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1783080"/>
            <a:ext cx="530352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2039112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057400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 · NeurIPS 2024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249631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统一预算下比较数据选择</a:t>
            </a:r>
            <a:endParaRPr lang="en-US" sz="2100" dirty="0"/>
          </a:p>
        </p:txBody>
      </p:sp>
      <p:sp>
        <p:nvSpPr>
          <p:cNvPr id="20" name="Text 18"/>
          <p:cNvSpPr/>
          <p:nvPr>
            <p:custDataLst>
              <p:tags r:id="rId7"/>
            </p:custDataLst>
          </p:nvPr>
        </p:nvSpPr>
        <p:spPr>
          <a:xfrm>
            <a:off x="6483096" y="2999232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研究范围</a:t>
            </a:r>
            <a:endParaRPr lang="en-US" sz="1250" dirty="0"/>
          </a:p>
        </p:txBody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7379208" y="2953512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它研究训练数据策展，而不是测试充分性；</a:t>
            </a:r>
            <a:endParaRPr lang="en-US" sz="1350" dirty="0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6483096" y="369417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核心原则</a:t>
            </a:r>
            <a:endParaRPr lang="en-US" sz="1250" dirty="0"/>
          </a:p>
        </p:txBody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7379208" y="362102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不同选择策略使用同一数据预算、同一任务和同一评价条件，再比较下游表现。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6483096" y="4443984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</a:t>
            </a:r>
            <a:endParaRPr lang="en-US" sz="1250" dirty="0"/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7379208" y="4370832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定向补 100 张必须与随机补 100 张公平比较，不能只报告覆盖率上升。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98448" y="557784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678424"/>
            <a:ext cx="92171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注意：SELECT研究训练数据策展；这里借鉴的是“统一预算与基线”的评价原则。</a:t>
            </a:r>
            <a:endParaRPr lang="en-US" sz="1400" dirty="0"/>
          </a:p>
        </p:txBody>
      </p:sp>
      <p:sp>
        <p:nvSpPr>
          <p:cNvPr id="28" name="Text 26">
            <a:hlinkClick r:id="rId13"/>
          </p:cNvPr>
          <p:cNvSpPr/>
          <p:nvPr/>
        </p:nvSpPr>
        <p:spPr>
          <a:xfrm>
            <a:off x="585216" y="6172200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u="sng" dirty="0">
                <a:solidFill>
                  <a:srgbClr val="6E7A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Abbasishahkoo et al., TEASMA, IEEE TSE 2024；Feuer et al., SELECT, NeurIPS 2024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MY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r>
              <a:rPr lang="en-US" altLang="zh-CN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从“测量表”走向“决策闭环”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黑盒条件下，诊断视觉测试数据缺少哪些可解释证据，并指导有限预算行动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55648"/>
            <a:ext cx="10725912" cy="722376"/>
          </a:xfrm>
          <a:prstGeom prst="roundRect">
            <a:avLst>
              <a:gd name="adj" fmla="val 10127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425" y="1929130"/>
            <a:ext cx="10373360" cy="338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给定测试目标与候选数据，如何识别缺少证据的视觉状态，并给出可验证的复核与补样决策？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10512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可靠测量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78408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如何将图片稳定转换为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有限、可核验的视觉状态？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· unknown · 人工复核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96512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7216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缺口定义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325112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如何依据测试目标判断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哪些状态缺失或证据不足？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98264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 · 参照 · 组合约束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43216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71816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行动与收益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71816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固定预算下，如何分配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复核与补样并验证收益？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44968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随机基线 · 故障 · 成本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5596128"/>
            <a:ext cx="10204704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当前犬类实验覆盖 RQ1、RQ2 与初步补样；RQ3 的独立效用验证尚未完成。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RESEARCH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第一阶段验证主线：D0 → dog 训练补样 → D1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检验覆盖诊断的训练数据效用；测试集故障检出能力需要另行验证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64792"/>
            <a:ext cx="2359152" cy="91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固定总集 D0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按类别整理，固定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/ 验证 / 测试划分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计划：统一模型得到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基线指标 M_before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45536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764792"/>
            <a:ext cx="2359152" cy="91440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2011680"/>
            <a:ext cx="347472" cy="347472"/>
          </a:xfrm>
          <a:prstGeom prst="ellipse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 dog 训练子集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57600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COCO 目标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输出23项视觉特征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5888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当前已测：补图前覆盖率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C_before = 78.64%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07024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36208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764792"/>
            <a:ext cx="2359152" cy="91440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7376" y="2011680"/>
            <a:ext cx="347472" cy="347472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Ddog+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19088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只在训练候选中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选择补充图片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37376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 dog 子集后已测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C_after = 84.17%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8512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97696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97696" y="1764792"/>
            <a:ext cx="2359152" cy="91440"/>
          </a:xfrm>
          <a:prstGeom prst="rect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8864" y="2011680"/>
            <a:ext cx="347472" cy="34747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37776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计划构建 D1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9180576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Ddog+ 合并进 D0_train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保持相同实验配置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98864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重训得到 M_after；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D_test 比较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13232" y="4919472"/>
            <a:ext cx="10643616" cy="713232"/>
          </a:xfrm>
          <a:prstGeom prst="roundRect">
            <a:avLst>
              <a:gd name="adj" fmla="val 10256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5074920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8ED1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两条结果线分别报告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926080" y="5038344"/>
            <a:ext cx="37947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覆盖变化：ΔC = C_after − C_before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03720" y="5038090"/>
            <a:ext cx="442595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模型变化：ΔM = M_after − M_before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9264" y="5888736"/>
            <a:ext cx="101864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当前仅完成 dog 覆盖对比；D0 / D1 模型训练待完成，且不能替代固定模型下的测试故障检出验证。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结果分析</a:t>
            </a: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：覆盖变化能否解释模型变化？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ΔC 是过程结果，ΔM 才能回答补图是否改善了任务表现；两者必须联合解释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37360"/>
            <a:ext cx="3657600" cy="4069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2487168"/>
            <a:ext cx="312724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487168"/>
            <a:ext cx="73152" cy="1024128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606040"/>
            <a:ext cx="279806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+5.53 pp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170432" y="3008376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覆盖指数变化 ΔC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70432" y="3255264"/>
            <a:ext cx="279806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78.64% → 84.17%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0976" y="3730752"/>
            <a:ext cx="312724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3730752"/>
            <a:ext cx="73152" cy="1024128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849624"/>
            <a:ext cx="279806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待测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170432" y="4251960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模型性能变化 ΔM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4498848"/>
            <a:ext cx="279806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同一固定测试集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0976" y="5047488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因此当前只能说：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缺口驱动补图改善了定义下的状态覆盖。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45152" y="1737360"/>
            <a:ext cx="68580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933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ΔC / ΔM 联合判读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24871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6060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24871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26060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05472" y="25877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支持“补充状态”可能带来任务收益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937760" y="31729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2918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31729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32918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≈ 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05472" y="32735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覆盖指标变好，但新增状态未转化为模型收益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937760" y="38587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9776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≈ 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38587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39776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05472" y="39593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性能变化可能来自训练随机性或其他数据因素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937760" y="45445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6634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89320" y="45445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6634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05472" y="46451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检查清洁、标签、重复与数据分布变化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937760" y="5330952"/>
            <a:ext cx="5989320" cy="292608"/>
          </a:xfrm>
          <a:prstGeom prst="roundRect">
            <a:avLst>
              <a:gd name="adj" fmla="val 25000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5367528"/>
            <a:ext cx="56509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需要控制：模型、训练轮数、随机种子、总预算、固定测试集、去重规则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" y="6016752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分析结论的强弱取决于：ΔM 是否显著、是否跨模型复现、是否优于等预算基线。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87D7B"/>
                </a:solidFill>
                <a:latin typeface="Aptos"/>
              </a:rPr>
              <a:t>07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53B5B"/>
                </a:solidFill>
                <a:latin typeface="Microsoft YaHei"/>
              </a:rPr>
              <a:t>总结：从覆盖诊断走向可验证的数据行动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B76"/>
                </a:solidFill>
                <a:latin typeface="Microsoft YaHei"/>
              </a:rPr>
              <a:t>当前完成了状态测量与缺口驱动补图；更强结论仍需要公平基线和独立效用验证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99616"/>
            <a:ext cx="11018520" cy="10972"/>
          </a:xfrm>
          <a:prstGeom prst="rect">
            <a:avLst/>
          </a:prstGeom>
          <a:solidFill>
            <a:srgbClr val="D8E0E6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10512"/>
            <a:ext cx="3310128" cy="82296"/>
          </a:xfrm>
          <a:prstGeom prst="rect">
            <a:avLst/>
          </a:prstGeom>
          <a:solidFill>
            <a:srgbClr val="2E6F9E"/>
          </a:solidFill>
          <a:ln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084831"/>
            <a:ext cx="393192" cy="393192"/>
          </a:xfrm>
          <a:prstGeom prst="ellipse">
            <a:avLst/>
          </a:prstGeom>
          <a:solidFill>
            <a:srgbClr val="2E6F9E"/>
          </a:solidFill>
          <a:ln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6F9E"/>
                </a:solidFill>
                <a:latin typeface="Microsoft YaHei"/>
              </a:rPr>
              <a:t>已经完成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固定目标与三视图输入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23项视觉状态和严格校验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缺口驱动选择100张补图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15384"/>
            <a:ext cx="2798064" cy="283464"/>
          </a:xfrm>
          <a:prstGeom prst="roundRect">
            <a:avLst/>
          </a:prstGeom>
          <a:solidFill>
            <a:srgbClr val="E7F0F7"/>
          </a:solidFill>
          <a:ln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10512"/>
            <a:ext cx="3310128" cy="8229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084831"/>
            <a:ext cx="393192" cy="393192"/>
          </a:xfrm>
          <a:prstGeom prst="ellipse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524"/>
                </a:solidFill>
                <a:latin typeface="Microsoft YaHei"/>
              </a:rPr>
              <a:t>当前证据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覆盖指数：78.64% → 84.17%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低频状态：45 → 33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只支持状态覆盖改善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4215384"/>
            <a:ext cx="2798064" cy="283464"/>
          </a:xfrm>
          <a:prstGeom prst="roundRect">
            <a:avLst/>
          </a:prstGeom>
          <a:solidFill>
            <a:srgbClr val="FCECDD"/>
          </a:solidFill>
          <a:ln>
            <a:solidFill>
              <a:srgbClr val="FC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2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1810512"/>
            <a:ext cx="3310128" cy="82296"/>
          </a:xfrm>
          <a:prstGeom prst="rect">
            <a:avLst/>
          </a:prstGeom>
          <a:solidFill>
            <a:srgbClr val="2F7D5A"/>
          </a:solidFill>
          <a:ln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2084831"/>
            <a:ext cx="393192" cy="393192"/>
          </a:xfrm>
          <a:prstGeom prst="ellipse">
            <a:avLst/>
          </a:prstGeom>
          <a:solidFill>
            <a:srgbClr val="2F7D5A"/>
          </a:solidFill>
          <a:ln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F7D5A"/>
                </a:solidFill>
                <a:latin typeface="Microsoft YaHei"/>
              </a:rPr>
              <a:t>下一步验证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人工一致性与标签有效性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等预算随机/分层基线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固定测试集上的 ΔM 与故障检出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4215384"/>
            <a:ext cx="2798064" cy="283464"/>
          </a:xfrm>
          <a:prstGeom prst="roundRect">
            <a:avLst/>
          </a:prstGeom>
          <a:solidFill>
            <a:srgbClr val="E7F2EC"/>
          </a:solidFill>
          <a:ln>
            <a:solidFill>
              <a:srgbClr val="E7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983480"/>
            <a:ext cx="10616184" cy="841248"/>
          </a:xfrm>
          <a:prstGeom prst="roundRect">
            <a:avLst/>
          </a:prstGeom>
          <a:solidFill>
            <a:srgbClr val="153B5B"/>
          </a:solidFill>
          <a:ln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129784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5F3F1"/>
                </a:solidFill>
                <a:latin typeface="Aptos"/>
              </a:rPr>
              <a:t>TAKE-HOME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093208"/>
            <a:ext cx="86410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覆盖的价值不是替代模型性能，而是指出“哪些测试证据还没有”，并指导有限预算下的补样。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6007608"/>
            <a:ext cx="10012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B84A3A"/>
                </a:solidFill>
                <a:latin typeface="Microsoft YaHei"/>
              </a:rPr>
              <a:t>当前结论边界：流程已运行、状态覆盖已改善；策略优越性和模型收益仍待验证。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B76"/>
                </a:solidFill>
                <a:latin typeface="Aptos"/>
              </a:rPr>
              <a:t>QE · SUMMARY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2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3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4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5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6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7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8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9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0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1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2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3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4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5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6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7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8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9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2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8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9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8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9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8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49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0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1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2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3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4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5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6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7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8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9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2430</Words>
  <Application>WPS 演示</Application>
  <PresentationFormat>On-screen Show (16:9)</PresentationFormat>
  <Paragraphs>329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Aptos</vt:lpstr>
      <vt:lpstr>Helvetica Neue</vt:lpstr>
      <vt:lpstr>微软雅黑</vt:lpstr>
      <vt:lpstr>方正雅意黑 GB18030L2</vt:lpstr>
      <vt:lpstr>微软雅黑</vt:lpstr>
      <vt:lpstr>微软雅黑</vt:lpstr>
      <vt:lpstr>Aptos</vt:lpstr>
      <vt:lpstr>Aptos</vt:lpstr>
      <vt:lpstr>Aptos</vt:lpstr>
      <vt:lpstr>宋体</vt:lpstr>
      <vt:lpstr>汉仪书宋二KW</vt:lpstr>
      <vt:lpstr>Arial Unicode MS</vt:lpstr>
      <vt:lpstr>Calibri</vt:lpstr>
      <vt:lpstr>??</vt:lpstr>
      <vt:lpstr>Thonburi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面向视觉测试数据的可解释状态覆盖与缺口驱动补样</dc:title>
  <dc:creator>QE Project</dc:creator>
  <dc:subject>视觉测试数据充分性组会汇报</dc:subject>
  <cp:lastModifiedBy>忽忽溜~</cp:lastModifiedBy>
  <cp:revision>11</cp:revision>
  <dcterms:created xsi:type="dcterms:W3CDTF">2026-09-15T12:26:27Z</dcterms:created>
  <dcterms:modified xsi:type="dcterms:W3CDTF">2026-09-15T12:26:27Z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4CAEB681099C79D8391FA96A42E5E22B_42</vt:lpwstr>
  </property>
  <property fmtid="{D5CDD505-2E9C-101B-9397-08002B2CF9AE}" pid="3" name="KSOProductBuildVer">
    <vt:lpwstr>2052-12.1.26046.26046</vt:lpwstr>
  </property>
</Properties>
</file>