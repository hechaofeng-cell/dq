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提出问题：图片很多是否就代表测试充分？再指向页面下方的研究闭环。第一，用可解释特征把图片转换成视觉状态；第二，统计缺失或低频状态；第三，在固定预算下进行定向补样并与基线比较；第四，用独立测试集验证模型收益。当前已经跑通状态提取、缺口诊断和定向补图，等预算对照与独立模型验证尚未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四张图来自实际补图候选。它们分别体现多犬和人物共现、背向雪地、极小目标、跳跃交互。重点不是逐张解释所有标签，而是让听众直观看到：同一个dog类别内部有完全不同的测试条件。只统计500张dog不能告诉我们这些状态是否出现，也不能告诉我们是否有足够证据评价模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强调三个概念不能互相替代。嘴部开合程度是单图属性；图片难度是图片相对于模型的表现；覆盖和充分性是整批数据相对于目标的性质。一个状态出现一次只说明被触及，不代表已经有足够样本稳定估计该条件下的模型表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这页只交代发展脉络，不逐篇展开结果。路线不是简单的优劣替代：内部覆盖、输入覆盖、语义覆盖分别回答不同问题。我要强调的是，研究正在从抽象内部反馈向可解释、可行动、可验证的测试证据推进。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DeepXplore的重要性在于提供了测试反馈，而不是说神经元覆盖等于测试充分性。它通过神经元覆盖和多个同功能模型之间的差分行为来搜索异常输入。对我的工作而言，它留下的关键问题是：内部活动变化很难直接翻译成应该补充哪一种图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C是与本方向最直接的输入覆盖工作。它用VAE从训练数据学习低维表示，再把潜空间中的特征组合当作覆盖域。这里要中性地讲：IDC解决了没有显式输入规格时怎样构造黑盒覆盖，不要贬低它。我的问题是，它学到的维度未必能够直接告诉数据人员应该补充侧面、遮挡还是小目标图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Hyperion说明可解释特征可以成为测试地图的坐标。Asudeh等人的工作说明，离散属性组合中的欠覆盖不仅可以被发现，还可以进一步计算需要补多少数据。这两篇共同构成我方法的桥梁。但它们也暴露一个前提：视觉图像中的属性从哪里来，是否可信，哪些组合才有任务意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决定后面怎样诚实解释自己的结果。TEASMA提醒我们，充分性指标要和故障检出能力建立联系。SELECT虽然研究的是训练数据策展，不是测试充分性，但它强调同一预算和统一基线。由此可知，仅仅让自己定义的覆盖指数升高，不能证明补样策略更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转折句可以直接说：这些工作不是没有解决问题，而是分别解决了不同环节。真正困难的是把环节连接起来。第一，VLM输出确定标签并不等于标签正确；第二，没有任务要求时只能描述分布，不能断言缺失就是不足；第三，按覆盖目标选图后覆盖上升具有一定必然性，必须再用独立收益检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给出我的正式研究问题。定位不是再做一个编码器，也不是声称提出通用充分性理论，而是做可解释、可追溯的测量和决策流程。当前dog实验已经把图片转为状态、统计缺口并做了候选补图，但尚未完成随机基线和独立模型故障收益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按图从左到右讲，不逐项念文字。第一，初始500张和候选400张保持独立。第二，每张图由程序根据COCO框固定一个A目标，并提供原图、标记图和裁剪图。第三，VLM输出23项有限枚举特征。第四，程序严格校验JSON、枚举、依赖关系并保留原始响应。第五，根据低频状态从候选池选择100张，最后冻结清洁数据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讲可支持结论：在固定dog_v3.1协议和当前候选池内，定向补图后覆盖指数由78.64%提高到84.17%，最终低频状态数从45降到33。然后主动说边界：900/900只表示输出通过严格格式和规则校验，不是23项特征全部识别正确；补图策略正是优化覆盖，所以还不能据此证明策略优于随机，更不能解释成识别准确率提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明确这是第一阶段的训练数据效用验证，不是对当前数据流程的重复。D0固定训练、验证和测试划分并得到M_before；随后只分析dog训练子集，根据低频状态得到Ddog+，测试集不参与选图。Ddog+与原dog子集合并后，当前已测覆盖由78.64%到84.17%；把Ddog+并入D0_train形成D1、重训M_after并在固定D_test评价仍待完成。该结果即使完成，也不能替代固定被测模型下的测试集新增故障检出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页补上真正的分析。第一，当前已有的数据只有ΔC，所以只能说明定义下的状态覆盖增加。第二，只有把补图加入训练集，并在完全固定的测试集上比较M_before和M_after，才能知道模型性能是否变化。第三，不同ΔC/ΔM组合有不同解释：最理想是两者都上升；如果覆盖上升但性能不变，说明覆盖指标可能没有预测任务收益；如果性能变化但覆盖不变，要检查训练随机性和其他数据因素。最后要做等预算基线、多个随机种子和跨模型复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束时收束成一句话：我的目标不是用一个覆盖分数替代准确率，而是让我们知道测试数据还缺少哪些条件证据，并在有限预算下采取可验证的行动。当前工程链路已经跑通，后续最关键的工作是标签有效性、公平基线、独立故障收益和跨类别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老师问最近工作，先承认这些方向已经存在，再说明问题设定的差别。尤其HiBug2已经使用任务相关属性做错误切片，因此不能把自动属性本身当作创新。项目更可能的贡献需要落在标签不确定性、任务覆盖要求、复核和补样预算，以及独立验证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这些回答的核心是不要防御性回避局限。先明确当前结果支持的范围，再指出计划中的验证设计。老师如果质疑覆盖增加是自我实现目标，可以直接承认，这是为什么下一步必须做等预算基线和独立故障收益。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如果被问到为什么有31和33两个数字：600张选择结果中解决14个缺口，剩31个；清洁时从原始500张中排除了4张非真实犬表现形式，重新统计后最终596张有33个低频状态。主讲统一使用最终清洁口径：45降到33。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E_MASTER">
    <p:bg>
      <p:bgPr>
        <a:solidFill>
          <a:srgbClr val="F7F9F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705.06640"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i.org/10.1145/3576040"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107.06997" TargetMode="Externa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08.01311"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87D7B"/>
          </a:solidFill>
          <a:ln w="12700">
            <a:solidFill>
              <a:srgbClr val="187D7B"/>
            </a:solidFill>
            <a:prstDash val="solid"/>
          </a:ln>
        </p:spPr>
      </p:sp>
      <p:sp>
        <p:nvSpPr>
          <p:cNvPr id="3" name="Shape 1"/>
          <p:cNvSpPr/>
          <p:nvPr/>
        </p:nvSpPr>
        <p:spPr>
          <a:xfrm>
            <a:off x="658368" y="566928"/>
            <a:ext cx="1600200" cy="329184"/>
          </a:xfrm>
          <a:prstGeom prst="roundRect">
            <a:avLst>
              <a:gd name="adj" fmla="val 50000"/>
            </a:avLst>
          </a:prstGeom>
          <a:solidFill>
            <a:srgbClr val="E5F3F1"/>
          </a:solidFill>
          <a:ln w="12700">
            <a:solidFill>
              <a:srgbClr val="E5F3F1"/>
            </a:solidFill>
            <a:prstDash val="solid"/>
          </a:ln>
        </p:spPr>
      </p:sp>
      <p:sp>
        <p:nvSpPr>
          <p:cNvPr id="4" name="Text 2"/>
          <p:cNvSpPr/>
          <p:nvPr/>
        </p:nvSpPr>
        <p:spPr>
          <a:xfrm>
            <a:off x="731520" y="585216"/>
            <a:ext cx="1453896"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87D7B"/>
                </a:solidFill>
                <a:latin typeface="Microsoft YaHei" pitchFamily="34" charset="0"/>
                <a:ea typeface="Microsoft YaHei" pitchFamily="34" charset="-122"/>
                <a:cs typeface="Microsoft YaHei" pitchFamily="34" charset="-120"/>
              </a:rPr>
              <a:t>QE · 组会汇报</a:t>
            </a:r>
            <a:endParaRPr lang="en-US" sz="1100" dirty="0"/>
          </a:p>
        </p:txBody>
      </p:sp>
      <p:sp>
        <p:nvSpPr>
          <p:cNvPr id="5" name="Text 3"/>
          <p:cNvSpPr/>
          <p:nvPr/>
        </p:nvSpPr>
        <p:spPr>
          <a:xfrm>
            <a:off x="658368" y="1234440"/>
            <a:ext cx="10607040" cy="1417320"/>
          </a:xfrm>
          <a:prstGeom prst="rect">
            <a:avLst/>
          </a:prstGeom>
          <a:noFill/>
          <a:ln/>
        </p:spPr>
        <p:txBody>
          <a:bodyPr wrap="square" lIns="0" tIns="0" rIns="0" bIns="0" rtlCol="0" anchor="t">
            <a:normAutofit/>
          </a:bodyPr>
          <a:lstStyle/>
          <a:p>
            <a:pPr algn="l" indent="0" marL="0">
              <a:lnSpc>
                <a:spcPct val="100000"/>
              </a:lnSpc>
              <a:buNone/>
            </a:pPr>
            <a:r>
              <a:rPr lang="en-US" sz="3400" b="1" dirty="0">
                <a:solidFill>
                  <a:srgbClr val="153B5B"/>
                </a:solidFill>
                <a:latin typeface="Microsoft YaHei" pitchFamily="34" charset="0"/>
                <a:ea typeface="Microsoft YaHei" pitchFamily="34" charset="-122"/>
                <a:cs typeface="Microsoft YaHei" pitchFamily="34" charset="-120"/>
              </a:rPr>
              <a:t>面向视觉测试数据的</a:t>
            </a:r>
            <a:endParaRPr lang="en-US" sz="3400" dirty="0"/>
          </a:p>
          <a:p>
            <a:pPr algn="l" indent="0" marL="0">
              <a:lnSpc>
                <a:spcPct val="100000"/>
              </a:lnSpc>
              <a:buNone/>
            </a:pPr>
            <a:r>
              <a:rPr lang="en-US" sz="3400" b="1" dirty="0">
                <a:solidFill>
                  <a:srgbClr val="153B5B"/>
                </a:solidFill>
                <a:latin typeface="Microsoft YaHei" pitchFamily="34" charset="0"/>
                <a:ea typeface="Microsoft YaHei" pitchFamily="34" charset="-122"/>
                <a:cs typeface="Microsoft YaHei" pitchFamily="34" charset="-120"/>
              </a:rPr>
              <a:t>可解释状态覆盖与缺口驱动补样</a:t>
            </a:r>
            <a:endParaRPr lang="en-US" sz="3400" dirty="0"/>
          </a:p>
        </p:txBody>
      </p:sp>
      <p:sp>
        <p:nvSpPr>
          <p:cNvPr id="6" name="Text 4"/>
          <p:cNvSpPr/>
          <p:nvPr/>
        </p:nvSpPr>
        <p:spPr>
          <a:xfrm>
            <a:off x="685800" y="2788920"/>
            <a:ext cx="9509760" cy="402336"/>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5F6B76"/>
                </a:solidFill>
                <a:latin typeface="Microsoft YaHei" pitchFamily="34" charset="0"/>
                <a:ea typeface="Microsoft YaHei" pitchFamily="34" charset="-122"/>
                <a:cs typeface="Microsoft YaHei" pitchFamily="34" charset="-120"/>
              </a:rPr>
              <a:t>从深度学习测试充分性研究到犬类图像初步验证</a:t>
            </a:r>
            <a:endParaRPr lang="en-US" sz="1800" dirty="0"/>
          </a:p>
        </p:txBody>
      </p:sp>
      <p:sp>
        <p:nvSpPr>
          <p:cNvPr id="7" name="Text 5"/>
          <p:cNvSpPr/>
          <p:nvPr/>
        </p:nvSpPr>
        <p:spPr>
          <a:xfrm>
            <a:off x="713232" y="3749040"/>
            <a:ext cx="10094976"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5F6B76"/>
                </a:solidFill>
                <a:latin typeface="Microsoft YaHei" pitchFamily="34" charset="0"/>
                <a:ea typeface="Microsoft YaHei" pitchFamily="34" charset="-122"/>
                <a:cs typeface="Microsoft YaHei" pitchFamily="34" charset="-120"/>
              </a:rPr>
              <a:t>研究闭环概览｜可解释测量与缺口诊断已跑通；等预算对照和独立验证待完成</a:t>
            </a:r>
            <a:endParaRPr lang="en-US" sz="1300" dirty="0"/>
          </a:p>
        </p:txBody>
      </p:sp>
      <p:sp>
        <p:nvSpPr>
          <p:cNvPr id="8" name="Shape 6"/>
          <p:cNvSpPr/>
          <p:nvPr/>
        </p:nvSpPr>
        <p:spPr>
          <a:xfrm>
            <a:off x="713232" y="4251960"/>
            <a:ext cx="2084832" cy="749808"/>
          </a:xfrm>
          <a:prstGeom prst="roundRect">
            <a:avLst>
              <a:gd name="adj" fmla="val 9756"/>
            </a:avLst>
          </a:prstGeom>
          <a:solidFill>
            <a:srgbClr val="E7F0F7"/>
          </a:solidFill>
          <a:ln w="12700">
            <a:solidFill>
              <a:srgbClr val="2E6F9E"/>
            </a:solidFill>
            <a:prstDash val="solid"/>
          </a:ln>
        </p:spPr>
      </p:sp>
      <p:sp>
        <p:nvSpPr>
          <p:cNvPr id="9" name="Shape 7"/>
          <p:cNvSpPr/>
          <p:nvPr/>
        </p:nvSpPr>
        <p:spPr>
          <a:xfrm>
            <a:off x="877824" y="4453128"/>
            <a:ext cx="347472" cy="347472"/>
          </a:xfrm>
          <a:prstGeom prst="ellipse">
            <a:avLst/>
          </a:prstGeom>
          <a:solidFill>
            <a:srgbClr val="2E6F9E"/>
          </a:solidFill>
          <a:ln w="12700">
            <a:solidFill>
              <a:srgbClr val="2E6F9E"/>
            </a:solidFill>
            <a:prstDash val="solid"/>
          </a:ln>
        </p:spPr>
      </p:sp>
      <p:sp>
        <p:nvSpPr>
          <p:cNvPr id="10" name="Text 8"/>
          <p:cNvSpPr/>
          <p:nvPr/>
        </p:nvSpPr>
        <p:spPr>
          <a:xfrm>
            <a:off x="877824" y="4462272"/>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1" name="Text 9"/>
          <p:cNvSpPr/>
          <p:nvPr/>
        </p:nvSpPr>
        <p:spPr>
          <a:xfrm>
            <a:off x="1335024" y="4398264"/>
            <a:ext cx="1243584" cy="33832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2E6F9E"/>
                </a:solidFill>
                <a:latin typeface="Microsoft YaHei" pitchFamily="34" charset="0"/>
                <a:ea typeface="Microsoft YaHei" pitchFamily="34" charset="-122"/>
                <a:cs typeface="Microsoft YaHei" pitchFamily="34" charset="-120"/>
              </a:rPr>
              <a:t>可解释特征</a:t>
            </a:r>
            <a:endParaRPr lang="en-US" sz="1500" dirty="0"/>
          </a:p>
        </p:txBody>
      </p:sp>
      <p:sp>
        <p:nvSpPr>
          <p:cNvPr id="12" name="Shape 10"/>
          <p:cNvSpPr/>
          <p:nvPr/>
        </p:nvSpPr>
        <p:spPr>
          <a:xfrm>
            <a:off x="2871216" y="4626864"/>
            <a:ext cx="402336" cy="0"/>
          </a:xfrm>
          <a:prstGeom prst="line">
            <a:avLst/>
          </a:prstGeom>
          <a:noFill/>
          <a:ln w="25400">
            <a:solidFill>
              <a:srgbClr val="D8E0E6"/>
            </a:solidFill>
            <a:prstDash val="solid"/>
            <a:headEnd type="none"/>
            <a:tailEnd type="triangle"/>
          </a:ln>
        </p:spPr>
      </p:sp>
      <p:sp>
        <p:nvSpPr>
          <p:cNvPr id="13" name="Shape 11"/>
          <p:cNvSpPr/>
          <p:nvPr/>
        </p:nvSpPr>
        <p:spPr>
          <a:xfrm>
            <a:off x="3383280" y="4251960"/>
            <a:ext cx="2084832" cy="749808"/>
          </a:xfrm>
          <a:prstGeom prst="roundRect">
            <a:avLst>
              <a:gd name="adj" fmla="val 9756"/>
            </a:avLst>
          </a:prstGeom>
          <a:solidFill>
            <a:srgbClr val="E5F3F1"/>
          </a:solidFill>
          <a:ln w="12700">
            <a:solidFill>
              <a:srgbClr val="187D7B"/>
            </a:solidFill>
            <a:prstDash val="solid"/>
          </a:ln>
        </p:spPr>
      </p:sp>
      <p:sp>
        <p:nvSpPr>
          <p:cNvPr id="14" name="Shape 12"/>
          <p:cNvSpPr/>
          <p:nvPr/>
        </p:nvSpPr>
        <p:spPr>
          <a:xfrm>
            <a:off x="3547872" y="4453128"/>
            <a:ext cx="347472" cy="347472"/>
          </a:xfrm>
          <a:prstGeom prst="ellipse">
            <a:avLst/>
          </a:prstGeom>
          <a:solidFill>
            <a:srgbClr val="187D7B"/>
          </a:solidFill>
          <a:ln w="12700">
            <a:solidFill>
              <a:srgbClr val="187D7B"/>
            </a:solidFill>
            <a:prstDash val="solid"/>
          </a:ln>
        </p:spPr>
      </p:sp>
      <p:sp>
        <p:nvSpPr>
          <p:cNvPr id="15" name="Text 13"/>
          <p:cNvSpPr/>
          <p:nvPr/>
        </p:nvSpPr>
        <p:spPr>
          <a:xfrm>
            <a:off x="3547872" y="4462272"/>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p:nvPr/>
        </p:nvSpPr>
        <p:spPr>
          <a:xfrm>
            <a:off x="4005072" y="4398264"/>
            <a:ext cx="1243584" cy="33832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87D7B"/>
                </a:solidFill>
                <a:latin typeface="Microsoft YaHei" pitchFamily="34" charset="0"/>
                <a:ea typeface="Microsoft YaHei" pitchFamily="34" charset="-122"/>
                <a:cs typeface="Microsoft YaHei" pitchFamily="34" charset="-120"/>
              </a:rPr>
              <a:t>覆盖缺口</a:t>
            </a:r>
            <a:endParaRPr lang="en-US" sz="1500" dirty="0"/>
          </a:p>
        </p:txBody>
      </p:sp>
      <p:sp>
        <p:nvSpPr>
          <p:cNvPr id="17" name="Shape 15"/>
          <p:cNvSpPr/>
          <p:nvPr/>
        </p:nvSpPr>
        <p:spPr>
          <a:xfrm>
            <a:off x="5541264" y="4626864"/>
            <a:ext cx="402336" cy="0"/>
          </a:xfrm>
          <a:prstGeom prst="line">
            <a:avLst/>
          </a:prstGeom>
          <a:noFill/>
          <a:ln w="25400">
            <a:solidFill>
              <a:srgbClr val="D8E0E6"/>
            </a:solidFill>
            <a:prstDash val="solid"/>
            <a:headEnd type="none"/>
            <a:tailEnd type="triangle"/>
          </a:ln>
        </p:spPr>
      </p:sp>
      <p:sp>
        <p:nvSpPr>
          <p:cNvPr id="18" name="Shape 16"/>
          <p:cNvSpPr/>
          <p:nvPr/>
        </p:nvSpPr>
        <p:spPr>
          <a:xfrm>
            <a:off x="6053328" y="4251960"/>
            <a:ext cx="2084832" cy="749808"/>
          </a:xfrm>
          <a:prstGeom prst="roundRect">
            <a:avLst>
              <a:gd name="adj" fmla="val 9756"/>
            </a:avLst>
          </a:prstGeom>
          <a:solidFill>
            <a:srgbClr val="FCECDD"/>
          </a:solidFill>
          <a:ln w="12700">
            <a:solidFill>
              <a:srgbClr val="E87524"/>
            </a:solidFill>
            <a:prstDash val="solid"/>
          </a:ln>
        </p:spPr>
      </p:sp>
      <p:sp>
        <p:nvSpPr>
          <p:cNvPr id="19" name="Shape 17"/>
          <p:cNvSpPr/>
          <p:nvPr/>
        </p:nvSpPr>
        <p:spPr>
          <a:xfrm>
            <a:off x="6217920" y="4453128"/>
            <a:ext cx="347472" cy="347472"/>
          </a:xfrm>
          <a:prstGeom prst="ellipse">
            <a:avLst/>
          </a:prstGeom>
          <a:solidFill>
            <a:srgbClr val="E87524"/>
          </a:solidFill>
          <a:ln w="12700">
            <a:solidFill>
              <a:srgbClr val="E87524"/>
            </a:solidFill>
            <a:prstDash val="solid"/>
          </a:ln>
        </p:spPr>
      </p:sp>
      <p:sp>
        <p:nvSpPr>
          <p:cNvPr id="20" name="Text 18"/>
          <p:cNvSpPr/>
          <p:nvPr/>
        </p:nvSpPr>
        <p:spPr>
          <a:xfrm>
            <a:off x="6217920" y="4462272"/>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1" name="Text 19"/>
          <p:cNvSpPr/>
          <p:nvPr/>
        </p:nvSpPr>
        <p:spPr>
          <a:xfrm>
            <a:off x="6675120" y="4398264"/>
            <a:ext cx="1243584" cy="33832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E87524"/>
                </a:solidFill>
                <a:latin typeface="Microsoft YaHei" pitchFamily="34" charset="0"/>
                <a:ea typeface="Microsoft YaHei" pitchFamily="34" charset="-122"/>
                <a:cs typeface="Microsoft YaHei" pitchFamily="34" charset="-120"/>
              </a:rPr>
              <a:t>预算化补样</a:t>
            </a:r>
            <a:endParaRPr lang="en-US" sz="1500" dirty="0"/>
          </a:p>
        </p:txBody>
      </p:sp>
      <p:sp>
        <p:nvSpPr>
          <p:cNvPr id="22" name="Shape 20"/>
          <p:cNvSpPr/>
          <p:nvPr/>
        </p:nvSpPr>
        <p:spPr>
          <a:xfrm>
            <a:off x="8211312" y="4626864"/>
            <a:ext cx="402336" cy="0"/>
          </a:xfrm>
          <a:prstGeom prst="line">
            <a:avLst/>
          </a:prstGeom>
          <a:noFill/>
          <a:ln w="25400">
            <a:solidFill>
              <a:srgbClr val="D8E0E6"/>
            </a:solidFill>
            <a:prstDash val="solid"/>
            <a:headEnd type="none"/>
            <a:tailEnd type="triangle"/>
          </a:ln>
        </p:spPr>
      </p:sp>
      <p:sp>
        <p:nvSpPr>
          <p:cNvPr id="23" name="Shape 21"/>
          <p:cNvSpPr/>
          <p:nvPr/>
        </p:nvSpPr>
        <p:spPr>
          <a:xfrm>
            <a:off x="8723376" y="4251960"/>
            <a:ext cx="2084832" cy="749808"/>
          </a:xfrm>
          <a:prstGeom prst="roundRect">
            <a:avLst>
              <a:gd name="adj" fmla="val 9756"/>
            </a:avLst>
          </a:prstGeom>
          <a:solidFill>
            <a:srgbClr val="E7F2EC"/>
          </a:solidFill>
          <a:ln w="12700">
            <a:solidFill>
              <a:srgbClr val="2F7D5A"/>
            </a:solidFill>
            <a:prstDash val="solid"/>
          </a:ln>
        </p:spPr>
      </p:sp>
      <p:sp>
        <p:nvSpPr>
          <p:cNvPr id="24" name="Shape 22"/>
          <p:cNvSpPr/>
          <p:nvPr/>
        </p:nvSpPr>
        <p:spPr>
          <a:xfrm>
            <a:off x="8887968" y="4453128"/>
            <a:ext cx="347472" cy="347472"/>
          </a:xfrm>
          <a:prstGeom prst="ellipse">
            <a:avLst/>
          </a:prstGeom>
          <a:solidFill>
            <a:srgbClr val="2F7D5A"/>
          </a:solidFill>
          <a:ln w="12700">
            <a:solidFill>
              <a:srgbClr val="2F7D5A"/>
            </a:solidFill>
            <a:prstDash val="solid"/>
          </a:ln>
        </p:spPr>
      </p:sp>
      <p:sp>
        <p:nvSpPr>
          <p:cNvPr id="25" name="Text 23"/>
          <p:cNvSpPr/>
          <p:nvPr/>
        </p:nvSpPr>
        <p:spPr>
          <a:xfrm>
            <a:off x="8887968" y="4462272"/>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6" name="Text 24"/>
          <p:cNvSpPr/>
          <p:nvPr/>
        </p:nvSpPr>
        <p:spPr>
          <a:xfrm>
            <a:off x="9345168" y="4398264"/>
            <a:ext cx="1243584" cy="33832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2F7D5A"/>
                </a:solidFill>
                <a:latin typeface="Microsoft YaHei" pitchFamily="34" charset="0"/>
                <a:ea typeface="Microsoft YaHei" pitchFamily="34" charset="-122"/>
                <a:cs typeface="Microsoft YaHei" pitchFamily="34" charset="-120"/>
              </a:rPr>
              <a:t>独立验证</a:t>
            </a:r>
            <a:endParaRPr lang="en-US" sz="1500" dirty="0"/>
          </a:p>
        </p:txBody>
      </p:sp>
      <p:sp>
        <p:nvSpPr>
          <p:cNvPr id="27" name="Shape 25"/>
          <p:cNvSpPr/>
          <p:nvPr/>
        </p:nvSpPr>
        <p:spPr>
          <a:xfrm>
            <a:off x="685800" y="5870448"/>
            <a:ext cx="10844784" cy="0"/>
          </a:xfrm>
          <a:prstGeom prst="line">
            <a:avLst/>
          </a:prstGeom>
          <a:noFill/>
          <a:ln w="12700">
            <a:solidFill>
              <a:srgbClr val="D8E0E6"/>
            </a:solidFill>
            <a:prstDash val="solid"/>
          </a:ln>
        </p:spPr>
      </p:sp>
      <p:sp>
        <p:nvSpPr>
          <p:cNvPr id="28" name="Text 26"/>
          <p:cNvSpPr/>
          <p:nvPr/>
        </p:nvSpPr>
        <p:spPr>
          <a:xfrm>
            <a:off x="685800" y="6016752"/>
            <a:ext cx="3657600" cy="256032"/>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5F6B76"/>
                </a:solidFill>
                <a:latin typeface="Aptos" pitchFamily="34" charset="0"/>
                <a:ea typeface="Aptos" pitchFamily="34" charset="-122"/>
                <a:cs typeface="Aptos" pitchFamily="34" charset="-120"/>
              </a:rPr>
              <a:t>组会汇报 · 2026.09.15</a:t>
            </a:r>
            <a:endParaRPr lang="en-US" sz="1200" dirty="0"/>
          </a:p>
        </p:txBody>
      </p:sp>
      <p:sp>
        <p:nvSpPr>
          <p:cNvPr id="29" name="Text 27"/>
          <p:cNvSpPr/>
          <p:nvPr/>
        </p:nvSpPr>
        <p:spPr>
          <a:xfrm>
            <a:off x="5760720" y="5961888"/>
            <a:ext cx="5760720" cy="329184"/>
          </a:xfrm>
          <a:prstGeom prst="rect">
            <a:avLst/>
          </a:prstGeom>
          <a:noFill/>
          <a:ln/>
        </p:spPr>
        <p:txBody>
          <a:bodyPr wrap="square" lIns="0" tIns="0" rIns="0" bIns="0" rtlCol="0" anchor="ctr">
            <a:normAutofit/>
          </a:bodyPr>
          <a:lstStyle/>
          <a:p>
            <a:pPr algn="r" indent="0" marL="0">
              <a:lnSpc>
                <a:spcPct val="100000"/>
              </a:lnSpc>
              <a:buNone/>
            </a:pPr>
            <a:r>
              <a:rPr lang="en-US" sz="1200" b="1" dirty="0">
                <a:solidFill>
                  <a:srgbClr val="B84A3A"/>
                </a:solidFill>
                <a:latin typeface="Microsoft YaHei" pitchFamily="34" charset="0"/>
                <a:ea typeface="Microsoft YaHei" pitchFamily="34" charset="-122"/>
                <a:cs typeface="Microsoft YaHei" pitchFamily="34" charset="-120"/>
              </a:rPr>
              <a:t>研究对象：测试数据集，而非单张图片或单一模型分数</a:t>
            </a:r>
            <a:endParaRPr lang="en-US" sz="120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01 · MOTIVATION</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同一类别内部，测试条件差异很大</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真实补图候选显示：dog 不是一个单一状态，而是一组可解释的视觉变化</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603504" y="1755648"/>
            <a:ext cx="2313432" cy="3456432"/>
          </a:xfrm>
          <a:prstGeom prst="roundRect">
            <a:avLst>
              <a:gd name="adj" fmla="val 3162"/>
            </a:avLst>
          </a:prstGeom>
          <a:solidFill>
            <a:srgbClr val="FFFFFF"/>
          </a:solidFill>
          <a:ln w="12700">
            <a:solidFill>
              <a:srgbClr val="D8E0E6"/>
            </a:solidFill>
            <a:prstDash val="solid"/>
          </a:ln>
        </p:spPr>
      </p:sp>
      <p:sp>
        <p:nvSpPr>
          <p:cNvPr id="7" name="Shape 5"/>
          <p:cNvSpPr/>
          <p:nvPr/>
        </p:nvSpPr>
        <p:spPr>
          <a:xfrm>
            <a:off x="749808" y="1920240"/>
            <a:ext cx="2020824" cy="1627632"/>
          </a:xfrm>
          <a:prstGeom prst="roundRect">
            <a:avLst>
              <a:gd name="adj" fmla="val 4494"/>
            </a:avLst>
          </a:prstGeom>
          <a:solidFill>
            <a:srgbClr val="EEF2F4"/>
          </a:solidFill>
          <a:ln w="12700">
            <a:solidFill>
              <a:srgbClr val="EEF2F4"/>
            </a:solidFill>
            <a:prstDash val="solid"/>
          </a:ln>
        </p:spPr>
      </p:sp>
      <p:pic>
        <p:nvPicPr>
          <p:cNvPr id="8" name="Image 0" descr="/home/hcf/project/QE/artifacts/dog_candidate400_v2_1_inputs_20260912/marked/000000247068.jpg">    </p:cNvPr>
          <p:cNvPicPr>
            <a:picLocks noChangeAspect="1"/>
          </p:cNvPicPr>
          <p:nvPr/>
        </p:nvPicPr>
        <p:blipFill>
          <a:blip r:embed="rId1"/>
          <a:stretch>
            <a:fillRect/>
          </a:stretch>
        </p:blipFill>
        <p:spPr>
          <a:xfrm>
            <a:off x="749808" y="2164120"/>
            <a:ext cx="2020824" cy="1139871"/>
          </a:xfrm>
          <a:prstGeom prst="rect">
            <a:avLst/>
          </a:prstGeom>
        </p:spPr>
      </p:pic>
      <p:sp>
        <p:nvSpPr>
          <p:cNvPr id="9" name="Text 6"/>
          <p:cNvSpPr/>
          <p:nvPr/>
        </p:nvSpPr>
        <p:spPr>
          <a:xfrm>
            <a:off x="768096" y="3803904"/>
            <a:ext cx="1984248" cy="310896"/>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7C527C"/>
                </a:solidFill>
                <a:latin typeface="Microsoft YaHei" pitchFamily="34" charset="0"/>
                <a:ea typeface="Microsoft YaHei" pitchFamily="34" charset="-122"/>
                <a:cs typeface="Microsoft YaHei" pitchFamily="34" charset="-120"/>
              </a:rPr>
              <a:t>多犬与人物共现</a:t>
            </a:r>
            <a:endParaRPr lang="en-US" sz="1500" dirty="0"/>
          </a:p>
        </p:txBody>
      </p:sp>
      <p:sp>
        <p:nvSpPr>
          <p:cNvPr id="10" name="Shape 7"/>
          <p:cNvSpPr/>
          <p:nvPr/>
        </p:nvSpPr>
        <p:spPr>
          <a:xfrm>
            <a:off x="804672" y="4297680"/>
            <a:ext cx="1911096" cy="329184"/>
          </a:xfrm>
          <a:prstGeom prst="roundRect">
            <a:avLst>
              <a:gd name="adj" fmla="val 50000"/>
            </a:avLst>
          </a:prstGeom>
          <a:solidFill>
            <a:srgbClr val="F1EAF2"/>
          </a:solidFill>
          <a:ln w="12700">
            <a:solidFill>
              <a:srgbClr val="F1EAF2"/>
            </a:solidFill>
            <a:prstDash val="solid"/>
          </a:ln>
        </p:spPr>
      </p:sp>
      <p:sp>
        <p:nvSpPr>
          <p:cNvPr id="11" name="Text 8"/>
          <p:cNvSpPr/>
          <p:nvPr/>
        </p:nvSpPr>
        <p:spPr>
          <a:xfrm>
            <a:off x="877824" y="4315968"/>
            <a:ext cx="17647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7C527C"/>
                </a:solidFill>
                <a:latin typeface="Microsoft YaHei" pitchFamily="34" charset="0"/>
                <a:ea typeface="Microsoft YaHei" pitchFamily="34" charset="-122"/>
                <a:cs typeface="Microsoft YaHei" pitchFamily="34" charset="-120"/>
              </a:rPr>
              <a:t>multiple_dogs · interacting</a:t>
            </a:r>
            <a:endParaRPr lang="en-US" sz="1100" dirty="0"/>
          </a:p>
        </p:txBody>
      </p:sp>
      <p:sp>
        <p:nvSpPr>
          <p:cNvPr id="12" name="Text 9"/>
          <p:cNvSpPr/>
          <p:nvPr/>
        </p:nvSpPr>
        <p:spPr>
          <a:xfrm>
            <a:off x="768096" y="4809744"/>
            <a:ext cx="1984248" cy="201168"/>
          </a:xfrm>
          <a:prstGeom prst="rect">
            <a:avLst/>
          </a:prstGeom>
          <a:noFill/>
          <a:ln/>
        </p:spPr>
        <p:txBody>
          <a:bodyPr wrap="square" lIns="0" tIns="0" rIns="0" bIns="0" rtlCol="0" anchor="ctr">
            <a:normAutofit/>
          </a:bodyPr>
          <a:lstStyle/>
          <a:p>
            <a:pPr algn="ctr" indent="0" marL="0">
              <a:lnSpc>
                <a:spcPct val="100000"/>
              </a:lnSpc>
              <a:buNone/>
            </a:pPr>
            <a:r>
              <a:rPr lang="en-US" sz="950" dirty="0">
                <a:solidFill>
                  <a:srgbClr val="5F6B76"/>
                </a:solidFill>
                <a:latin typeface="Aptos" pitchFamily="34" charset="0"/>
                <a:ea typeface="Aptos" pitchFamily="34" charset="-122"/>
                <a:cs typeface="Aptos" pitchFamily="34" charset="-120"/>
              </a:rPr>
              <a:t>候选排名 #1</a:t>
            </a:r>
            <a:endParaRPr lang="en-US" sz="950" dirty="0"/>
          </a:p>
        </p:txBody>
      </p:sp>
      <p:sp>
        <p:nvSpPr>
          <p:cNvPr id="13" name="Shape 10"/>
          <p:cNvSpPr/>
          <p:nvPr/>
        </p:nvSpPr>
        <p:spPr>
          <a:xfrm>
            <a:off x="3502152" y="1755648"/>
            <a:ext cx="2313432" cy="3456432"/>
          </a:xfrm>
          <a:prstGeom prst="roundRect">
            <a:avLst>
              <a:gd name="adj" fmla="val 3162"/>
            </a:avLst>
          </a:prstGeom>
          <a:solidFill>
            <a:srgbClr val="FFFFFF"/>
          </a:solidFill>
          <a:ln w="12700">
            <a:solidFill>
              <a:srgbClr val="D8E0E6"/>
            </a:solidFill>
            <a:prstDash val="solid"/>
          </a:ln>
        </p:spPr>
      </p:sp>
      <p:sp>
        <p:nvSpPr>
          <p:cNvPr id="14" name="Shape 11"/>
          <p:cNvSpPr/>
          <p:nvPr/>
        </p:nvSpPr>
        <p:spPr>
          <a:xfrm>
            <a:off x="3648456" y="1920240"/>
            <a:ext cx="2020824" cy="1627632"/>
          </a:xfrm>
          <a:prstGeom prst="roundRect">
            <a:avLst>
              <a:gd name="adj" fmla="val 4494"/>
            </a:avLst>
          </a:prstGeom>
          <a:solidFill>
            <a:srgbClr val="EEF2F4"/>
          </a:solidFill>
          <a:ln w="12700">
            <a:solidFill>
              <a:srgbClr val="EEF2F4"/>
            </a:solidFill>
            <a:prstDash val="solid"/>
          </a:ln>
        </p:spPr>
      </p:sp>
      <p:pic>
        <p:nvPicPr>
          <p:cNvPr id="15" name="Image 1" descr="/home/hcf/project/QE/artifacts/dog_candidate400_v2_1_inputs_20260912/marked/000000438744.jpg">    </p:cNvPr>
          <p:cNvPicPr>
            <a:picLocks noChangeAspect="1"/>
          </p:cNvPicPr>
          <p:nvPr/>
        </p:nvPicPr>
        <p:blipFill>
          <a:blip r:embed="rId2"/>
          <a:stretch>
            <a:fillRect/>
          </a:stretch>
        </p:blipFill>
        <p:spPr>
          <a:xfrm>
            <a:off x="3648456" y="1924148"/>
            <a:ext cx="2020824" cy="1619817"/>
          </a:xfrm>
          <a:prstGeom prst="rect">
            <a:avLst/>
          </a:prstGeom>
        </p:spPr>
      </p:pic>
      <p:sp>
        <p:nvSpPr>
          <p:cNvPr id="16" name="Text 12"/>
          <p:cNvSpPr/>
          <p:nvPr/>
        </p:nvSpPr>
        <p:spPr>
          <a:xfrm>
            <a:off x="3666744" y="3803904"/>
            <a:ext cx="1984248" cy="310896"/>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87D7B"/>
                </a:solidFill>
                <a:latin typeface="Microsoft YaHei" pitchFamily="34" charset="0"/>
                <a:ea typeface="Microsoft YaHei" pitchFamily="34" charset="-122"/>
                <a:cs typeface="Microsoft YaHei" pitchFamily="34" charset="-120"/>
              </a:rPr>
              <a:t>背向与雪地场景</a:t>
            </a:r>
            <a:endParaRPr lang="en-US" sz="1500" dirty="0"/>
          </a:p>
        </p:txBody>
      </p:sp>
      <p:sp>
        <p:nvSpPr>
          <p:cNvPr id="17" name="Shape 13"/>
          <p:cNvSpPr/>
          <p:nvPr/>
        </p:nvSpPr>
        <p:spPr>
          <a:xfrm>
            <a:off x="3703320" y="4297680"/>
            <a:ext cx="1911096" cy="329184"/>
          </a:xfrm>
          <a:prstGeom prst="roundRect">
            <a:avLst>
              <a:gd name="adj" fmla="val 50000"/>
            </a:avLst>
          </a:prstGeom>
          <a:solidFill>
            <a:srgbClr val="E5F3F1"/>
          </a:solidFill>
          <a:ln w="12700">
            <a:solidFill>
              <a:srgbClr val="E5F3F1"/>
            </a:solidFill>
            <a:prstDash val="solid"/>
          </a:ln>
        </p:spPr>
      </p:sp>
      <p:sp>
        <p:nvSpPr>
          <p:cNvPr id="18" name="Text 14"/>
          <p:cNvSpPr/>
          <p:nvPr/>
        </p:nvSpPr>
        <p:spPr>
          <a:xfrm>
            <a:off x="3776472" y="4315968"/>
            <a:ext cx="17647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87D7B"/>
                </a:solidFill>
                <a:latin typeface="Microsoft YaHei" pitchFamily="34" charset="0"/>
                <a:ea typeface="Microsoft YaHei" pitchFamily="34" charset="-122"/>
                <a:cs typeface="Microsoft YaHei" pitchFamily="34" charset="-120"/>
              </a:rPr>
              <a:t>head_back · outdoor_snow</a:t>
            </a:r>
            <a:endParaRPr lang="en-US" sz="1100" dirty="0"/>
          </a:p>
        </p:txBody>
      </p:sp>
      <p:sp>
        <p:nvSpPr>
          <p:cNvPr id="19" name="Text 15"/>
          <p:cNvSpPr/>
          <p:nvPr/>
        </p:nvSpPr>
        <p:spPr>
          <a:xfrm>
            <a:off x="3666744" y="4809744"/>
            <a:ext cx="1984248" cy="201168"/>
          </a:xfrm>
          <a:prstGeom prst="rect">
            <a:avLst/>
          </a:prstGeom>
          <a:noFill/>
          <a:ln/>
        </p:spPr>
        <p:txBody>
          <a:bodyPr wrap="square" lIns="0" tIns="0" rIns="0" bIns="0" rtlCol="0" anchor="ctr">
            <a:normAutofit/>
          </a:bodyPr>
          <a:lstStyle/>
          <a:p>
            <a:pPr algn="ctr" indent="0" marL="0">
              <a:lnSpc>
                <a:spcPct val="100000"/>
              </a:lnSpc>
              <a:buNone/>
            </a:pPr>
            <a:r>
              <a:rPr lang="en-US" sz="950" dirty="0">
                <a:solidFill>
                  <a:srgbClr val="5F6B76"/>
                </a:solidFill>
                <a:latin typeface="Aptos" pitchFamily="34" charset="0"/>
                <a:ea typeface="Aptos" pitchFamily="34" charset="-122"/>
                <a:cs typeface="Aptos" pitchFamily="34" charset="-120"/>
              </a:rPr>
              <a:t>候选排名 #2</a:t>
            </a:r>
            <a:endParaRPr lang="en-US" sz="950" dirty="0"/>
          </a:p>
        </p:txBody>
      </p:sp>
      <p:sp>
        <p:nvSpPr>
          <p:cNvPr id="20" name="Shape 16"/>
          <p:cNvSpPr/>
          <p:nvPr/>
        </p:nvSpPr>
        <p:spPr>
          <a:xfrm>
            <a:off x="6400800" y="1755648"/>
            <a:ext cx="2313432" cy="3456432"/>
          </a:xfrm>
          <a:prstGeom prst="roundRect">
            <a:avLst>
              <a:gd name="adj" fmla="val 3162"/>
            </a:avLst>
          </a:prstGeom>
          <a:solidFill>
            <a:srgbClr val="FFFFFF"/>
          </a:solidFill>
          <a:ln w="12700">
            <a:solidFill>
              <a:srgbClr val="D8E0E6"/>
            </a:solidFill>
            <a:prstDash val="solid"/>
          </a:ln>
        </p:spPr>
      </p:sp>
      <p:sp>
        <p:nvSpPr>
          <p:cNvPr id="21" name="Shape 17"/>
          <p:cNvSpPr/>
          <p:nvPr/>
        </p:nvSpPr>
        <p:spPr>
          <a:xfrm>
            <a:off x="6547104" y="1920240"/>
            <a:ext cx="2020824" cy="1627632"/>
          </a:xfrm>
          <a:prstGeom prst="roundRect">
            <a:avLst>
              <a:gd name="adj" fmla="val 4494"/>
            </a:avLst>
          </a:prstGeom>
          <a:solidFill>
            <a:srgbClr val="EEF2F4"/>
          </a:solidFill>
          <a:ln w="12700">
            <a:solidFill>
              <a:srgbClr val="EEF2F4"/>
            </a:solidFill>
            <a:prstDash val="solid"/>
          </a:ln>
        </p:spPr>
      </p:sp>
      <p:pic>
        <p:nvPicPr>
          <p:cNvPr id="22" name="Image 2" descr="/home/hcf/project/QE/artifacts/dog_candidate400_v2_1_inputs_20260912/marked/000000495454.jpg">    </p:cNvPr>
          <p:cNvPicPr>
            <a:picLocks noChangeAspect="1"/>
          </p:cNvPicPr>
          <p:nvPr/>
        </p:nvPicPr>
        <p:blipFill>
          <a:blip r:embed="rId3"/>
          <a:stretch>
            <a:fillRect/>
          </a:stretch>
        </p:blipFill>
        <p:spPr>
          <a:xfrm>
            <a:off x="6547104" y="2112021"/>
            <a:ext cx="2020824" cy="1244070"/>
          </a:xfrm>
          <a:prstGeom prst="rect">
            <a:avLst/>
          </a:prstGeom>
        </p:spPr>
      </p:pic>
      <p:sp>
        <p:nvSpPr>
          <p:cNvPr id="23" name="Text 18"/>
          <p:cNvSpPr/>
          <p:nvPr/>
        </p:nvSpPr>
        <p:spPr>
          <a:xfrm>
            <a:off x="6565392" y="3803904"/>
            <a:ext cx="1984248" cy="310896"/>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E87524"/>
                </a:solidFill>
                <a:latin typeface="Microsoft YaHei" pitchFamily="34" charset="0"/>
                <a:ea typeface="Microsoft YaHei" pitchFamily="34" charset="-122"/>
                <a:cs typeface="Microsoft YaHei" pitchFamily="34" charset="-120"/>
              </a:rPr>
              <a:t>极小目标</a:t>
            </a:r>
            <a:endParaRPr lang="en-US" sz="1500" dirty="0"/>
          </a:p>
        </p:txBody>
      </p:sp>
      <p:sp>
        <p:nvSpPr>
          <p:cNvPr id="24" name="Shape 19"/>
          <p:cNvSpPr/>
          <p:nvPr/>
        </p:nvSpPr>
        <p:spPr>
          <a:xfrm>
            <a:off x="6601968" y="4297680"/>
            <a:ext cx="1911096" cy="329184"/>
          </a:xfrm>
          <a:prstGeom prst="roundRect">
            <a:avLst>
              <a:gd name="adj" fmla="val 50000"/>
            </a:avLst>
          </a:prstGeom>
          <a:solidFill>
            <a:srgbClr val="FCECDD"/>
          </a:solidFill>
          <a:ln w="12700">
            <a:solidFill>
              <a:srgbClr val="FCECDD"/>
            </a:solidFill>
            <a:prstDash val="solid"/>
          </a:ln>
        </p:spPr>
      </p:sp>
      <p:sp>
        <p:nvSpPr>
          <p:cNvPr id="25" name="Text 20"/>
          <p:cNvSpPr/>
          <p:nvPr/>
        </p:nvSpPr>
        <p:spPr>
          <a:xfrm>
            <a:off x="6675120" y="4315968"/>
            <a:ext cx="17647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E87524"/>
                </a:solidFill>
                <a:latin typeface="Microsoft YaHei" pitchFamily="34" charset="0"/>
                <a:ea typeface="Microsoft YaHei" pitchFamily="34" charset="-122"/>
                <a:cs typeface="Microsoft YaHei" pitchFamily="34" charset="-120"/>
              </a:rPr>
              <a:t>tiny_target · back_view</a:t>
            </a:r>
            <a:endParaRPr lang="en-US" sz="1100" dirty="0"/>
          </a:p>
        </p:txBody>
      </p:sp>
      <p:sp>
        <p:nvSpPr>
          <p:cNvPr id="26" name="Text 21"/>
          <p:cNvSpPr/>
          <p:nvPr/>
        </p:nvSpPr>
        <p:spPr>
          <a:xfrm>
            <a:off x="6565392" y="4809744"/>
            <a:ext cx="1984248" cy="201168"/>
          </a:xfrm>
          <a:prstGeom prst="rect">
            <a:avLst/>
          </a:prstGeom>
          <a:noFill/>
          <a:ln/>
        </p:spPr>
        <p:txBody>
          <a:bodyPr wrap="square" lIns="0" tIns="0" rIns="0" bIns="0" rtlCol="0" anchor="ctr">
            <a:normAutofit/>
          </a:bodyPr>
          <a:lstStyle/>
          <a:p>
            <a:pPr algn="ctr" indent="0" marL="0">
              <a:lnSpc>
                <a:spcPct val="100000"/>
              </a:lnSpc>
              <a:buNone/>
            </a:pPr>
            <a:r>
              <a:rPr lang="en-US" sz="950" dirty="0">
                <a:solidFill>
                  <a:srgbClr val="5F6B76"/>
                </a:solidFill>
                <a:latin typeface="Aptos" pitchFamily="34" charset="0"/>
                <a:ea typeface="Aptos" pitchFamily="34" charset="-122"/>
                <a:cs typeface="Aptos" pitchFamily="34" charset="-120"/>
              </a:rPr>
              <a:t>候选排名 #3</a:t>
            </a:r>
            <a:endParaRPr lang="en-US" sz="950" dirty="0"/>
          </a:p>
        </p:txBody>
      </p:sp>
      <p:sp>
        <p:nvSpPr>
          <p:cNvPr id="27" name="Shape 22"/>
          <p:cNvSpPr/>
          <p:nvPr/>
        </p:nvSpPr>
        <p:spPr>
          <a:xfrm>
            <a:off x="9299448" y="1755648"/>
            <a:ext cx="2313432" cy="3456432"/>
          </a:xfrm>
          <a:prstGeom prst="roundRect">
            <a:avLst>
              <a:gd name="adj" fmla="val 3162"/>
            </a:avLst>
          </a:prstGeom>
          <a:solidFill>
            <a:srgbClr val="FFFFFF"/>
          </a:solidFill>
          <a:ln w="12700">
            <a:solidFill>
              <a:srgbClr val="D8E0E6"/>
            </a:solidFill>
            <a:prstDash val="solid"/>
          </a:ln>
        </p:spPr>
      </p:sp>
      <p:sp>
        <p:nvSpPr>
          <p:cNvPr id="28" name="Shape 23"/>
          <p:cNvSpPr/>
          <p:nvPr/>
        </p:nvSpPr>
        <p:spPr>
          <a:xfrm>
            <a:off x="9445752" y="1920240"/>
            <a:ext cx="2020824" cy="1627632"/>
          </a:xfrm>
          <a:prstGeom prst="roundRect">
            <a:avLst>
              <a:gd name="adj" fmla="val 4494"/>
            </a:avLst>
          </a:prstGeom>
          <a:solidFill>
            <a:srgbClr val="EEF2F4"/>
          </a:solidFill>
          <a:ln w="12700">
            <a:solidFill>
              <a:srgbClr val="EEF2F4"/>
            </a:solidFill>
            <a:prstDash val="solid"/>
          </a:ln>
        </p:spPr>
      </p:sp>
      <p:pic>
        <p:nvPicPr>
          <p:cNvPr id="29" name="Image 3" descr="/home/hcf/project/QE/artifacts/dog_candidate400_v2_1_inputs_20260912/marked/000000280709.jpg">    </p:cNvPr>
          <p:cNvPicPr>
            <a:picLocks noChangeAspect="1"/>
          </p:cNvPicPr>
          <p:nvPr/>
        </p:nvPicPr>
        <p:blipFill>
          <a:blip r:embed="rId4"/>
          <a:stretch>
            <a:fillRect/>
          </a:stretch>
        </p:blipFill>
        <p:spPr>
          <a:xfrm>
            <a:off x="9445752" y="2061501"/>
            <a:ext cx="2020824" cy="1345111"/>
          </a:xfrm>
          <a:prstGeom prst="rect">
            <a:avLst/>
          </a:prstGeom>
        </p:spPr>
      </p:pic>
      <p:sp>
        <p:nvSpPr>
          <p:cNvPr id="30" name="Text 24"/>
          <p:cNvSpPr/>
          <p:nvPr/>
        </p:nvSpPr>
        <p:spPr>
          <a:xfrm>
            <a:off x="9464040" y="3803904"/>
            <a:ext cx="1984248" cy="310896"/>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2F7D5A"/>
                </a:solidFill>
                <a:latin typeface="Microsoft YaHei" pitchFamily="34" charset="0"/>
                <a:ea typeface="Microsoft YaHei" pitchFamily="34" charset="-122"/>
                <a:cs typeface="Microsoft YaHei" pitchFamily="34" charset="-120"/>
              </a:rPr>
              <a:t>跳跃与交互</a:t>
            </a:r>
            <a:endParaRPr lang="en-US" sz="1500" dirty="0"/>
          </a:p>
        </p:txBody>
      </p:sp>
      <p:sp>
        <p:nvSpPr>
          <p:cNvPr id="31" name="Shape 25"/>
          <p:cNvSpPr/>
          <p:nvPr/>
        </p:nvSpPr>
        <p:spPr>
          <a:xfrm>
            <a:off x="9500616" y="4297680"/>
            <a:ext cx="1911096" cy="329184"/>
          </a:xfrm>
          <a:prstGeom prst="roundRect">
            <a:avLst>
              <a:gd name="adj" fmla="val 50000"/>
            </a:avLst>
          </a:prstGeom>
          <a:solidFill>
            <a:srgbClr val="E7F2EC"/>
          </a:solidFill>
          <a:ln w="12700">
            <a:solidFill>
              <a:srgbClr val="E7F2EC"/>
            </a:solidFill>
            <a:prstDash val="solid"/>
          </a:ln>
        </p:spPr>
      </p:sp>
      <p:sp>
        <p:nvSpPr>
          <p:cNvPr id="32" name="Text 26"/>
          <p:cNvSpPr/>
          <p:nvPr/>
        </p:nvSpPr>
        <p:spPr>
          <a:xfrm>
            <a:off x="9573768" y="4315968"/>
            <a:ext cx="17647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F7D5A"/>
                </a:solidFill>
                <a:latin typeface="Microsoft YaHei" pitchFamily="34" charset="0"/>
                <a:ea typeface="Microsoft YaHei" pitchFamily="34" charset="-122"/>
                <a:cs typeface="Microsoft YaHei" pitchFamily="34" charset="-120"/>
              </a:rPr>
              <a:t>jumping · person_cooccurrence</a:t>
            </a:r>
            <a:endParaRPr lang="en-US" sz="1100" dirty="0"/>
          </a:p>
        </p:txBody>
      </p:sp>
      <p:sp>
        <p:nvSpPr>
          <p:cNvPr id="33" name="Text 27"/>
          <p:cNvSpPr/>
          <p:nvPr/>
        </p:nvSpPr>
        <p:spPr>
          <a:xfrm>
            <a:off x="9464040" y="4809744"/>
            <a:ext cx="1984248" cy="201168"/>
          </a:xfrm>
          <a:prstGeom prst="rect">
            <a:avLst/>
          </a:prstGeom>
          <a:noFill/>
          <a:ln/>
        </p:spPr>
        <p:txBody>
          <a:bodyPr wrap="square" lIns="0" tIns="0" rIns="0" bIns="0" rtlCol="0" anchor="ctr">
            <a:normAutofit/>
          </a:bodyPr>
          <a:lstStyle/>
          <a:p>
            <a:pPr algn="ctr" indent="0" marL="0">
              <a:lnSpc>
                <a:spcPct val="100000"/>
              </a:lnSpc>
              <a:buNone/>
            </a:pPr>
            <a:r>
              <a:rPr lang="en-US" sz="950" dirty="0">
                <a:solidFill>
                  <a:srgbClr val="5F6B76"/>
                </a:solidFill>
                <a:latin typeface="Aptos" pitchFamily="34" charset="0"/>
                <a:ea typeface="Aptos" pitchFamily="34" charset="-122"/>
                <a:cs typeface="Aptos" pitchFamily="34" charset="-120"/>
              </a:rPr>
              <a:t>候选排名 #6</a:t>
            </a:r>
            <a:endParaRPr lang="en-US" sz="950" dirty="0"/>
          </a:p>
        </p:txBody>
      </p:sp>
      <p:sp>
        <p:nvSpPr>
          <p:cNvPr id="34" name="Shape 28"/>
          <p:cNvSpPr/>
          <p:nvPr/>
        </p:nvSpPr>
        <p:spPr>
          <a:xfrm>
            <a:off x="1024128" y="5477256"/>
            <a:ext cx="10140696" cy="512064"/>
          </a:xfrm>
          <a:prstGeom prst="roundRect">
            <a:avLst>
              <a:gd name="adj" fmla="val 14286"/>
            </a:avLst>
          </a:prstGeom>
          <a:solidFill>
            <a:srgbClr val="153B5B"/>
          </a:solidFill>
          <a:ln w="12700">
            <a:solidFill>
              <a:srgbClr val="153B5B"/>
            </a:solidFill>
            <a:prstDash val="solid"/>
          </a:ln>
        </p:spPr>
      </p:sp>
      <p:sp>
        <p:nvSpPr>
          <p:cNvPr id="35" name="Text 29"/>
          <p:cNvSpPr/>
          <p:nvPr/>
        </p:nvSpPr>
        <p:spPr>
          <a:xfrm>
            <a:off x="1234440" y="5605272"/>
            <a:ext cx="9720072" cy="265176"/>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Microsoft YaHei" pitchFamily="34" charset="0"/>
                <a:ea typeface="Microsoft YaHei" pitchFamily="34" charset="-122"/>
                <a:cs typeface="Microsoft YaHei" pitchFamily="34" charset="-120"/>
              </a:rPr>
              <a:t>只知道“有多少张 dog”还不够：这些状态是否出现、是否有足够证据？</a:t>
            </a:r>
            <a:endParaRPr lang="en-US" sz="1800" dirty="0"/>
          </a:p>
        </p:txBody>
      </p:sp>
      <p:sp>
        <p:nvSpPr>
          <p:cNvPr id="36" name="Text 30"/>
          <p:cNvSpPr/>
          <p:nvPr/>
        </p:nvSpPr>
        <p:spPr>
          <a:xfrm>
            <a:off x="585216" y="6172200"/>
            <a:ext cx="10881360" cy="182880"/>
          </a:xfrm>
          <a:prstGeom prst="rect">
            <a:avLst/>
          </a:prstGeom>
          <a:noFill/>
          <a:ln/>
        </p:spPr>
        <p:txBody>
          <a:bodyPr wrap="square" lIns="0" tIns="0" rIns="0" bIns="0" rtlCol="0" anchor="ctr">
            <a:normAutofit/>
          </a:bodyPr>
          <a:lstStyle/>
          <a:p>
            <a:pPr algn="l" indent="0" marL="0">
              <a:lnSpc>
                <a:spcPct val="100000"/>
              </a:lnSpc>
              <a:buNone/>
            </a:pPr>
            <a:r>
              <a:rPr lang="en-US" sz="850" i="1" dirty="0">
                <a:solidFill>
                  <a:srgbClr val="6E7A84"/>
                </a:solidFill>
                <a:latin typeface="Microsoft YaHei" pitchFamily="34" charset="0"/>
                <a:ea typeface="Microsoft YaHei" pitchFamily="34" charset="-122"/>
                <a:cs typeface="Microsoft YaHei" pitchFamily="34" charset="-120"/>
              </a:rPr>
              <a:t>真实补图候选（COCO 2017）；红框为程序固定的 A 目标，状态来自 dog_v3.1 结构化输出。</a:t>
            </a:r>
            <a:endParaRPr lang="en-US" sz="850" dirty="0"/>
          </a:p>
        </p:txBody>
      </p:sp>
      <p:sp>
        <p:nvSpPr>
          <p:cNvPr id="37" name="Text 31"/>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01 · MOTIVATION</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三个概念必须分开</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覆盖是“触及了什么”，充分性是“证据是否够用”</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86384" y="1810512"/>
            <a:ext cx="3054096" cy="3328416"/>
          </a:xfrm>
          <a:prstGeom prst="roundRect">
            <a:avLst>
              <a:gd name="adj" fmla="val 2395"/>
            </a:avLst>
          </a:prstGeom>
          <a:solidFill>
            <a:srgbClr val="FFFFFF"/>
          </a:solidFill>
          <a:ln w="12700">
            <a:solidFill>
              <a:srgbClr val="D8E0E6"/>
            </a:solidFill>
            <a:prstDash val="solid"/>
          </a:ln>
        </p:spPr>
      </p:sp>
      <p:sp>
        <p:nvSpPr>
          <p:cNvPr id="7" name="Shape 5"/>
          <p:cNvSpPr/>
          <p:nvPr/>
        </p:nvSpPr>
        <p:spPr>
          <a:xfrm>
            <a:off x="786384" y="1810512"/>
            <a:ext cx="3054096" cy="91440"/>
          </a:xfrm>
          <a:prstGeom prst="rect">
            <a:avLst/>
          </a:prstGeom>
          <a:solidFill>
            <a:srgbClr val="2E6F9E"/>
          </a:solidFill>
          <a:ln w="12700">
            <a:solidFill>
              <a:srgbClr val="2E6F9E"/>
            </a:solidFill>
            <a:prstDash val="solid"/>
          </a:ln>
        </p:spPr>
      </p:sp>
      <p:sp>
        <p:nvSpPr>
          <p:cNvPr id="8" name="Text 6"/>
          <p:cNvSpPr/>
          <p:nvPr/>
        </p:nvSpPr>
        <p:spPr>
          <a:xfrm>
            <a:off x="1014984" y="2084832"/>
            <a:ext cx="566928" cy="329184"/>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2E6F9E"/>
                </a:solidFill>
                <a:latin typeface="Aptos" pitchFamily="34" charset="0"/>
                <a:ea typeface="Aptos" pitchFamily="34" charset="-122"/>
                <a:cs typeface="Aptos" pitchFamily="34" charset="-120"/>
              </a:rPr>
              <a:t>01</a:t>
            </a:r>
            <a:endParaRPr lang="en-US" sz="2000" dirty="0"/>
          </a:p>
        </p:txBody>
      </p:sp>
      <p:sp>
        <p:nvSpPr>
          <p:cNvPr id="9" name="Text 7"/>
          <p:cNvSpPr/>
          <p:nvPr/>
        </p:nvSpPr>
        <p:spPr>
          <a:xfrm>
            <a:off x="1014984" y="2523744"/>
            <a:ext cx="2240280" cy="384048"/>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153B5B"/>
                </a:solidFill>
                <a:latin typeface="Microsoft YaHei" pitchFamily="34" charset="0"/>
                <a:ea typeface="Microsoft YaHei" pitchFamily="34" charset="-122"/>
                <a:cs typeface="Microsoft YaHei" pitchFamily="34" charset="-120"/>
              </a:rPr>
              <a:t>模型表现</a:t>
            </a:r>
            <a:endParaRPr lang="en-US" sz="2100" dirty="0"/>
          </a:p>
        </p:txBody>
      </p:sp>
      <p:sp>
        <p:nvSpPr>
          <p:cNvPr id="10" name="Text 8"/>
          <p:cNvSpPr/>
          <p:nvPr/>
        </p:nvSpPr>
        <p:spPr>
          <a:xfrm>
            <a:off x="1014984" y="2926080"/>
            <a:ext cx="2240280"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5F6B76"/>
                </a:solidFill>
                <a:latin typeface="Aptos" pitchFamily="34" charset="0"/>
                <a:ea typeface="Aptos" pitchFamily="34" charset="-122"/>
                <a:cs typeface="Aptos" pitchFamily="34" charset="-120"/>
              </a:rPr>
              <a:t>Performance</a:t>
            </a:r>
            <a:endParaRPr lang="en-US" sz="1100" dirty="0"/>
          </a:p>
        </p:txBody>
      </p:sp>
      <p:sp>
        <p:nvSpPr>
          <p:cNvPr id="11" name="Shape 9"/>
          <p:cNvSpPr/>
          <p:nvPr/>
        </p:nvSpPr>
        <p:spPr>
          <a:xfrm>
            <a:off x="1014984" y="3374136"/>
            <a:ext cx="2596896" cy="859536"/>
          </a:xfrm>
          <a:prstGeom prst="roundRect">
            <a:avLst>
              <a:gd name="adj" fmla="val 8511"/>
            </a:avLst>
          </a:prstGeom>
          <a:solidFill>
            <a:srgbClr val="E7F0F7"/>
          </a:solidFill>
          <a:ln w="12700">
            <a:solidFill>
              <a:srgbClr val="E7F0F7"/>
            </a:solidFill>
            <a:prstDash val="solid"/>
          </a:ln>
        </p:spPr>
      </p:sp>
      <p:sp>
        <p:nvSpPr>
          <p:cNvPr id="12" name="Text 10"/>
          <p:cNvSpPr/>
          <p:nvPr/>
        </p:nvSpPr>
        <p:spPr>
          <a:xfrm>
            <a:off x="1179576" y="3529584"/>
            <a:ext cx="2267712" cy="530352"/>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2E6F9E"/>
                </a:solidFill>
                <a:latin typeface="Microsoft YaHei" pitchFamily="34" charset="0"/>
                <a:ea typeface="Microsoft YaHei" pitchFamily="34" charset="-122"/>
                <a:cs typeface="Microsoft YaHei" pitchFamily="34" charset="-120"/>
              </a:rPr>
              <a:t>已有图片上</a:t>
            </a:r>
            <a:endParaRPr lang="en-US" sz="1500" dirty="0"/>
          </a:p>
          <a:p>
            <a:pPr algn="ctr" indent="0" marL="0">
              <a:lnSpc>
                <a:spcPct val="100000"/>
              </a:lnSpc>
              <a:buNone/>
            </a:pPr>
            <a:r>
              <a:rPr lang="en-US" sz="1500" b="1" dirty="0">
                <a:solidFill>
                  <a:srgbClr val="2E6F9E"/>
                </a:solidFill>
                <a:latin typeface="Microsoft YaHei" pitchFamily="34" charset="0"/>
                <a:ea typeface="Microsoft YaHei" pitchFamily="34" charset="-122"/>
                <a:cs typeface="Microsoft YaHei" pitchFamily="34" charset="-120"/>
              </a:rPr>
              <a:t>模型表现怎样？</a:t>
            </a:r>
            <a:endParaRPr lang="en-US" sz="1500" dirty="0"/>
          </a:p>
        </p:txBody>
      </p:sp>
      <p:sp>
        <p:nvSpPr>
          <p:cNvPr id="13" name="Text 11"/>
          <p:cNvSpPr/>
          <p:nvPr/>
        </p:nvSpPr>
        <p:spPr>
          <a:xfrm>
            <a:off x="1014984" y="4498848"/>
            <a:ext cx="2596896" cy="274320"/>
          </a:xfrm>
          <a:prstGeom prst="rect">
            <a:avLst/>
          </a:prstGeom>
          <a:noFill/>
          <a:ln/>
        </p:spPr>
        <p:txBody>
          <a:bodyPr wrap="square" lIns="0" tIns="0" rIns="0" bIns="0" rtlCol="0" anchor="ctr">
            <a:normAutofit/>
          </a:bodyPr>
          <a:lstStyle/>
          <a:p>
            <a:pPr algn="ctr" indent="0" marL="0">
              <a:lnSpc>
                <a:spcPct val="100000"/>
              </a:lnSpc>
              <a:buNone/>
            </a:pPr>
            <a:r>
              <a:rPr lang="en-US" sz="1250" dirty="0">
                <a:solidFill>
                  <a:srgbClr val="5F6B76"/>
                </a:solidFill>
                <a:latin typeface="Microsoft YaHei" pitchFamily="34" charset="0"/>
                <a:ea typeface="Microsoft YaHei" pitchFamily="34" charset="-122"/>
                <a:cs typeface="Microsoft YaHei" pitchFamily="34" charset="-120"/>
              </a:rPr>
              <a:t>准确率、错误率、校准</a:t>
            </a:r>
            <a:endParaRPr lang="en-US" sz="1250" dirty="0"/>
          </a:p>
        </p:txBody>
      </p:sp>
      <p:sp>
        <p:nvSpPr>
          <p:cNvPr id="14" name="Shape 12"/>
          <p:cNvSpPr/>
          <p:nvPr/>
        </p:nvSpPr>
        <p:spPr>
          <a:xfrm>
            <a:off x="3922776" y="3493008"/>
            <a:ext cx="155448" cy="0"/>
          </a:xfrm>
          <a:prstGeom prst="line">
            <a:avLst/>
          </a:prstGeom>
          <a:noFill/>
          <a:ln w="25400">
            <a:solidFill>
              <a:srgbClr val="D8E0E6"/>
            </a:solidFill>
            <a:prstDash val="solid"/>
            <a:headEnd type="none"/>
            <a:tailEnd type="triangle"/>
          </a:ln>
        </p:spPr>
      </p:sp>
      <p:sp>
        <p:nvSpPr>
          <p:cNvPr id="15" name="Shape 13"/>
          <p:cNvSpPr/>
          <p:nvPr/>
        </p:nvSpPr>
        <p:spPr>
          <a:xfrm>
            <a:off x="4105656" y="1810512"/>
            <a:ext cx="3054096" cy="3328416"/>
          </a:xfrm>
          <a:prstGeom prst="roundRect">
            <a:avLst>
              <a:gd name="adj" fmla="val 2395"/>
            </a:avLst>
          </a:prstGeom>
          <a:solidFill>
            <a:srgbClr val="FFFFFF"/>
          </a:solidFill>
          <a:ln w="12700">
            <a:solidFill>
              <a:srgbClr val="D8E0E6"/>
            </a:solidFill>
            <a:prstDash val="solid"/>
          </a:ln>
        </p:spPr>
      </p:sp>
      <p:sp>
        <p:nvSpPr>
          <p:cNvPr id="16" name="Shape 14"/>
          <p:cNvSpPr/>
          <p:nvPr/>
        </p:nvSpPr>
        <p:spPr>
          <a:xfrm>
            <a:off x="4105656" y="1810512"/>
            <a:ext cx="3054096" cy="91440"/>
          </a:xfrm>
          <a:prstGeom prst="rect">
            <a:avLst/>
          </a:prstGeom>
          <a:solidFill>
            <a:srgbClr val="187D7B"/>
          </a:solidFill>
          <a:ln w="12700">
            <a:solidFill>
              <a:srgbClr val="187D7B"/>
            </a:solidFill>
            <a:prstDash val="solid"/>
          </a:ln>
        </p:spPr>
      </p:sp>
      <p:sp>
        <p:nvSpPr>
          <p:cNvPr id="17" name="Text 15"/>
          <p:cNvSpPr/>
          <p:nvPr/>
        </p:nvSpPr>
        <p:spPr>
          <a:xfrm>
            <a:off x="4334256" y="2084832"/>
            <a:ext cx="566928" cy="329184"/>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187D7B"/>
                </a:solidFill>
                <a:latin typeface="Aptos" pitchFamily="34" charset="0"/>
                <a:ea typeface="Aptos" pitchFamily="34" charset="-122"/>
                <a:cs typeface="Aptos" pitchFamily="34" charset="-120"/>
              </a:rPr>
              <a:t>02</a:t>
            </a:r>
            <a:endParaRPr lang="en-US" sz="2000" dirty="0"/>
          </a:p>
        </p:txBody>
      </p:sp>
      <p:sp>
        <p:nvSpPr>
          <p:cNvPr id="18" name="Text 16"/>
          <p:cNvSpPr/>
          <p:nvPr/>
        </p:nvSpPr>
        <p:spPr>
          <a:xfrm>
            <a:off x="4334256" y="2523744"/>
            <a:ext cx="2240280" cy="384048"/>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153B5B"/>
                </a:solidFill>
                <a:latin typeface="Microsoft YaHei" pitchFamily="34" charset="0"/>
                <a:ea typeface="Microsoft YaHei" pitchFamily="34" charset="-122"/>
                <a:cs typeface="Microsoft YaHei" pitchFamily="34" charset="-120"/>
              </a:rPr>
              <a:t>条件覆盖</a:t>
            </a:r>
            <a:endParaRPr lang="en-US" sz="2100" dirty="0"/>
          </a:p>
        </p:txBody>
      </p:sp>
      <p:sp>
        <p:nvSpPr>
          <p:cNvPr id="19" name="Text 17"/>
          <p:cNvSpPr/>
          <p:nvPr/>
        </p:nvSpPr>
        <p:spPr>
          <a:xfrm>
            <a:off x="4334256" y="2926080"/>
            <a:ext cx="2240280"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5F6B76"/>
                </a:solidFill>
                <a:latin typeface="Aptos" pitchFamily="34" charset="0"/>
                <a:ea typeface="Aptos" pitchFamily="34" charset="-122"/>
                <a:cs typeface="Aptos" pitchFamily="34" charset="-120"/>
              </a:rPr>
              <a:t>Coverage</a:t>
            </a:r>
            <a:endParaRPr lang="en-US" sz="1100" dirty="0"/>
          </a:p>
        </p:txBody>
      </p:sp>
      <p:sp>
        <p:nvSpPr>
          <p:cNvPr id="20" name="Shape 18"/>
          <p:cNvSpPr/>
          <p:nvPr/>
        </p:nvSpPr>
        <p:spPr>
          <a:xfrm>
            <a:off x="4334256" y="3374136"/>
            <a:ext cx="2596896" cy="859536"/>
          </a:xfrm>
          <a:prstGeom prst="roundRect">
            <a:avLst>
              <a:gd name="adj" fmla="val 8511"/>
            </a:avLst>
          </a:prstGeom>
          <a:solidFill>
            <a:srgbClr val="E5F3F1"/>
          </a:solidFill>
          <a:ln w="12700">
            <a:solidFill>
              <a:srgbClr val="E5F3F1"/>
            </a:solidFill>
            <a:prstDash val="solid"/>
          </a:ln>
        </p:spPr>
      </p:sp>
      <p:sp>
        <p:nvSpPr>
          <p:cNvPr id="21" name="Text 19"/>
          <p:cNvSpPr/>
          <p:nvPr/>
        </p:nvSpPr>
        <p:spPr>
          <a:xfrm>
            <a:off x="4498848" y="3529584"/>
            <a:ext cx="2267712" cy="530352"/>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87D7B"/>
                </a:solidFill>
                <a:latin typeface="Microsoft YaHei" pitchFamily="34" charset="0"/>
                <a:ea typeface="Microsoft YaHei" pitchFamily="34" charset="-122"/>
                <a:cs typeface="Microsoft YaHei" pitchFamily="34" charset="-120"/>
              </a:rPr>
              <a:t>测试集包含了</a:t>
            </a:r>
            <a:endParaRPr lang="en-US" sz="1500" dirty="0"/>
          </a:p>
          <a:p>
            <a:pPr algn="ctr" indent="0" marL="0">
              <a:lnSpc>
                <a:spcPct val="100000"/>
              </a:lnSpc>
              <a:buNone/>
            </a:pPr>
            <a:r>
              <a:rPr lang="en-US" sz="1500" b="1" dirty="0">
                <a:solidFill>
                  <a:srgbClr val="187D7B"/>
                </a:solidFill>
                <a:latin typeface="Microsoft YaHei" pitchFamily="34" charset="0"/>
                <a:ea typeface="Microsoft YaHei" pitchFamily="34" charset="-122"/>
                <a:cs typeface="Microsoft YaHei" pitchFamily="34" charset="-120"/>
              </a:rPr>
              <a:t>哪些视觉条件？</a:t>
            </a:r>
            <a:endParaRPr lang="en-US" sz="1500" dirty="0"/>
          </a:p>
        </p:txBody>
      </p:sp>
      <p:sp>
        <p:nvSpPr>
          <p:cNvPr id="22" name="Text 20"/>
          <p:cNvSpPr/>
          <p:nvPr/>
        </p:nvSpPr>
        <p:spPr>
          <a:xfrm>
            <a:off x="4334256" y="4498848"/>
            <a:ext cx="2596896" cy="274320"/>
          </a:xfrm>
          <a:prstGeom prst="rect">
            <a:avLst/>
          </a:prstGeom>
          <a:noFill/>
          <a:ln/>
        </p:spPr>
        <p:txBody>
          <a:bodyPr wrap="square" lIns="0" tIns="0" rIns="0" bIns="0" rtlCol="0" anchor="ctr">
            <a:normAutofit/>
          </a:bodyPr>
          <a:lstStyle/>
          <a:p>
            <a:pPr algn="ctr" indent="0" marL="0">
              <a:lnSpc>
                <a:spcPct val="100000"/>
              </a:lnSpc>
              <a:buNone/>
            </a:pPr>
            <a:r>
              <a:rPr lang="en-US" sz="1250" dirty="0">
                <a:solidFill>
                  <a:srgbClr val="5F6B76"/>
                </a:solidFill>
                <a:latin typeface="Microsoft YaHei" pitchFamily="34" charset="0"/>
                <a:ea typeface="Microsoft YaHei" pitchFamily="34" charset="-122"/>
                <a:cs typeface="Microsoft YaHei" pitchFamily="34" charset="-120"/>
              </a:rPr>
              <a:t>视角、尺度、遮挡、场景</a:t>
            </a:r>
            <a:endParaRPr lang="en-US" sz="1250" dirty="0"/>
          </a:p>
        </p:txBody>
      </p:sp>
      <p:sp>
        <p:nvSpPr>
          <p:cNvPr id="23" name="Shape 21"/>
          <p:cNvSpPr/>
          <p:nvPr/>
        </p:nvSpPr>
        <p:spPr>
          <a:xfrm>
            <a:off x="7242048" y="3493008"/>
            <a:ext cx="155448" cy="0"/>
          </a:xfrm>
          <a:prstGeom prst="line">
            <a:avLst/>
          </a:prstGeom>
          <a:noFill/>
          <a:ln w="25400">
            <a:solidFill>
              <a:srgbClr val="D8E0E6"/>
            </a:solidFill>
            <a:prstDash val="solid"/>
            <a:headEnd type="none"/>
            <a:tailEnd type="triangle"/>
          </a:ln>
        </p:spPr>
      </p:sp>
      <p:sp>
        <p:nvSpPr>
          <p:cNvPr id="24" name="Shape 22"/>
          <p:cNvSpPr/>
          <p:nvPr/>
        </p:nvSpPr>
        <p:spPr>
          <a:xfrm>
            <a:off x="7424928" y="1810512"/>
            <a:ext cx="3054096" cy="3328416"/>
          </a:xfrm>
          <a:prstGeom prst="roundRect">
            <a:avLst>
              <a:gd name="adj" fmla="val 2395"/>
            </a:avLst>
          </a:prstGeom>
          <a:solidFill>
            <a:srgbClr val="FFFFFF"/>
          </a:solidFill>
          <a:ln w="12700">
            <a:solidFill>
              <a:srgbClr val="D8E0E6"/>
            </a:solidFill>
            <a:prstDash val="solid"/>
          </a:ln>
        </p:spPr>
      </p:sp>
      <p:sp>
        <p:nvSpPr>
          <p:cNvPr id="25" name="Shape 23"/>
          <p:cNvSpPr/>
          <p:nvPr/>
        </p:nvSpPr>
        <p:spPr>
          <a:xfrm>
            <a:off x="7424928" y="1810512"/>
            <a:ext cx="3054096" cy="91440"/>
          </a:xfrm>
          <a:prstGeom prst="rect">
            <a:avLst/>
          </a:prstGeom>
          <a:solidFill>
            <a:srgbClr val="E87524"/>
          </a:solidFill>
          <a:ln w="12700">
            <a:solidFill>
              <a:srgbClr val="E87524"/>
            </a:solidFill>
            <a:prstDash val="solid"/>
          </a:ln>
        </p:spPr>
      </p:sp>
      <p:sp>
        <p:nvSpPr>
          <p:cNvPr id="26" name="Text 24"/>
          <p:cNvSpPr/>
          <p:nvPr/>
        </p:nvSpPr>
        <p:spPr>
          <a:xfrm>
            <a:off x="7653528" y="2084832"/>
            <a:ext cx="566928" cy="329184"/>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E87524"/>
                </a:solidFill>
                <a:latin typeface="Aptos" pitchFamily="34" charset="0"/>
                <a:ea typeface="Aptos" pitchFamily="34" charset="-122"/>
                <a:cs typeface="Aptos" pitchFamily="34" charset="-120"/>
              </a:rPr>
              <a:t>03</a:t>
            </a:r>
            <a:endParaRPr lang="en-US" sz="2000" dirty="0"/>
          </a:p>
        </p:txBody>
      </p:sp>
      <p:sp>
        <p:nvSpPr>
          <p:cNvPr id="27" name="Text 25"/>
          <p:cNvSpPr/>
          <p:nvPr/>
        </p:nvSpPr>
        <p:spPr>
          <a:xfrm>
            <a:off x="7653528" y="2523744"/>
            <a:ext cx="2240280" cy="384048"/>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153B5B"/>
                </a:solidFill>
                <a:latin typeface="Microsoft YaHei" pitchFamily="34" charset="0"/>
                <a:ea typeface="Microsoft YaHei" pitchFamily="34" charset="-122"/>
                <a:cs typeface="Microsoft YaHei" pitchFamily="34" charset="-120"/>
              </a:rPr>
              <a:t>测试充分性</a:t>
            </a:r>
            <a:endParaRPr lang="en-US" sz="2100" dirty="0"/>
          </a:p>
        </p:txBody>
      </p:sp>
      <p:sp>
        <p:nvSpPr>
          <p:cNvPr id="28" name="Text 26"/>
          <p:cNvSpPr/>
          <p:nvPr/>
        </p:nvSpPr>
        <p:spPr>
          <a:xfrm>
            <a:off x="7653528" y="2926080"/>
            <a:ext cx="2240280"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5F6B76"/>
                </a:solidFill>
                <a:latin typeface="Aptos" pitchFamily="34" charset="0"/>
                <a:ea typeface="Aptos" pitchFamily="34" charset="-122"/>
                <a:cs typeface="Aptos" pitchFamily="34" charset="-120"/>
              </a:rPr>
              <a:t>Adequacy</a:t>
            </a:r>
            <a:endParaRPr lang="en-US" sz="1100" dirty="0"/>
          </a:p>
        </p:txBody>
      </p:sp>
      <p:sp>
        <p:nvSpPr>
          <p:cNvPr id="29" name="Shape 27"/>
          <p:cNvSpPr/>
          <p:nvPr/>
        </p:nvSpPr>
        <p:spPr>
          <a:xfrm>
            <a:off x="7653528" y="3374136"/>
            <a:ext cx="2596896" cy="859536"/>
          </a:xfrm>
          <a:prstGeom prst="roundRect">
            <a:avLst>
              <a:gd name="adj" fmla="val 8511"/>
            </a:avLst>
          </a:prstGeom>
          <a:solidFill>
            <a:srgbClr val="FCECDD"/>
          </a:solidFill>
          <a:ln w="12700">
            <a:solidFill>
              <a:srgbClr val="FCECDD"/>
            </a:solidFill>
            <a:prstDash val="solid"/>
          </a:ln>
        </p:spPr>
      </p:sp>
      <p:sp>
        <p:nvSpPr>
          <p:cNvPr id="30" name="Text 28"/>
          <p:cNvSpPr/>
          <p:nvPr/>
        </p:nvSpPr>
        <p:spPr>
          <a:xfrm>
            <a:off x="7818120" y="3529584"/>
            <a:ext cx="2267712" cy="530352"/>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E87524"/>
                </a:solidFill>
                <a:latin typeface="Microsoft YaHei" pitchFamily="34" charset="0"/>
                <a:ea typeface="Microsoft YaHei" pitchFamily="34" charset="-122"/>
                <a:cs typeface="Microsoft YaHei" pitchFamily="34" charset="-120"/>
              </a:rPr>
              <a:t>这些证据是否足以</a:t>
            </a:r>
            <a:endParaRPr lang="en-US" sz="1500" dirty="0"/>
          </a:p>
          <a:p>
            <a:pPr algn="ctr" indent="0" marL="0">
              <a:lnSpc>
                <a:spcPct val="100000"/>
              </a:lnSpc>
              <a:buNone/>
            </a:pPr>
            <a:r>
              <a:rPr lang="en-US" sz="1500" b="1" dirty="0">
                <a:solidFill>
                  <a:srgbClr val="E87524"/>
                </a:solidFill>
                <a:latin typeface="Microsoft YaHei" pitchFamily="34" charset="0"/>
                <a:ea typeface="Microsoft YaHei" pitchFamily="34" charset="-122"/>
                <a:cs typeface="Microsoft YaHei" pitchFamily="34" charset="-120"/>
              </a:rPr>
              <a:t>支持当前评价目的？</a:t>
            </a:r>
            <a:endParaRPr lang="en-US" sz="1500" dirty="0"/>
          </a:p>
        </p:txBody>
      </p:sp>
      <p:sp>
        <p:nvSpPr>
          <p:cNvPr id="31" name="Text 29"/>
          <p:cNvSpPr/>
          <p:nvPr/>
        </p:nvSpPr>
        <p:spPr>
          <a:xfrm>
            <a:off x="7653528" y="4498848"/>
            <a:ext cx="2596896" cy="274320"/>
          </a:xfrm>
          <a:prstGeom prst="rect">
            <a:avLst/>
          </a:prstGeom>
          <a:noFill/>
          <a:ln/>
        </p:spPr>
        <p:txBody>
          <a:bodyPr wrap="square" lIns="0" tIns="0" rIns="0" bIns="0" rtlCol="0" anchor="ctr">
            <a:normAutofit/>
          </a:bodyPr>
          <a:lstStyle/>
          <a:p>
            <a:pPr algn="ctr" indent="0" marL="0">
              <a:lnSpc>
                <a:spcPct val="100000"/>
              </a:lnSpc>
              <a:buNone/>
            </a:pPr>
            <a:r>
              <a:rPr lang="en-US" sz="1250" dirty="0">
                <a:solidFill>
                  <a:srgbClr val="5F6B76"/>
                </a:solidFill>
                <a:latin typeface="Microsoft YaHei" pitchFamily="34" charset="0"/>
                <a:ea typeface="Microsoft YaHei" pitchFamily="34" charset="-122"/>
                <a:cs typeface="Microsoft YaHei" pitchFamily="34" charset="-120"/>
              </a:rPr>
              <a:t>需要目标、样本量与效用</a:t>
            </a:r>
            <a:endParaRPr lang="en-US" sz="1250" dirty="0"/>
          </a:p>
        </p:txBody>
      </p:sp>
      <p:sp>
        <p:nvSpPr>
          <p:cNvPr id="32" name="Shape 30"/>
          <p:cNvSpPr/>
          <p:nvPr/>
        </p:nvSpPr>
        <p:spPr>
          <a:xfrm>
            <a:off x="1298448" y="5468112"/>
            <a:ext cx="9601200" cy="530352"/>
          </a:xfrm>
          <a:prstGeom prst="roundRect">
            <a:avLst>
              <a:gd name="adj" fmla="val 13793"/>
            </a:avLst>
          </a:prstGeom>
          <a:solidFill>
            <a:srgbClr val="F8E7E4"/>
          </a:solidFill>
          <a:ln w="12700">
            <a:solidFill>
              <a:srgbClr val="B84A3A"/>
            </a:solidFill>
            <a:prstDash val="solid"/>
          </a:ln>
        </p:spPr>
      </p:sp>
      <p:sp>
        <p:nvSpPr>
          <p:cNvPr id="33" name="Text 31"/>
          <p:cNvSpPr/>
          <p:nvPr/>
        </p:nvSpPr>
        <p:spPr>
          <a:xfrm>
            <a:off x="1508760" y="5596128"/>
            <a:ext cx="9180576" cy="274320"/>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B84A3A"/>
                </a:solidFill>
                <a:latin typeface="Microsoft YaHei" pitchFamily="34" charset="0"/>
                <a:ea typeface="Microsoft YaHei" pitchFamily="34" charset="-122"/>
                <a:cs typeface="Microsoft YaHei" pitchFamily="34" charset="-120"/>
              </a:rPr>
              <a:t>出现一次只表示“触及”；充分性要求相对于测试目标具有足够证据。</a:t>
            </a:r>
            <a:endParaRPr lang="en-US" sz="1700" dirty="0"/>
          </a:p>
        </p:txBody>
      </p:sp>
      <p:sp>
        <p:nvSpPr>
          <p:cNvPr id="34" name="Text 32"/>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02 · RELATED WORK</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相关研究怎样一步步接近这个问题</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从网络内部反馈，走向输入条件、可解释诊断与测试收益</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932688" y="2743200"/>
            <a:ext cx="10195560" cy="0"/>
          </a:xfrm>
          <a:prstGeom prst="line">
            <a:avLst/>
          </a:prstGeom>
          <a:noFill/>
          <a:ln w="31750">
            <a:solidFill>
              <a:srgbClr val="9EB0BD"/>
            </a:solidFill>
            <a:prstDash val="solid"/>
          </a:ln>
        </p:spPr>
      </p:sp>
      <p:sp>
        <p:nvSpPr>
          <p:cNvPr id="7" name="Shape 5"/>
          <p:cNvSpPr/>
          <p:nvPr/>
        </p:nvSpPr>
        <p:spPr>
          <a:xfrm>
            <a:off x="1389888" y="2542032"/>
            <a:ext cx="384048" cy="384048"/>
          </a:xfrm>
          <a:prstGeom prst="ellipse">
            <a:avLst/>
          </a:prstGeom>
          <a:solidFill>
            <a:srgbClr val="2E6F9E"/>
          </a:solidFill>
          <a:ln w="25400">
            <a:solidFill>
              <a:srgbClr val="FFFFFF"/>
            </a:solidFill>
            <a:prstDash val="solid"/>
          </a:ln>
        </p:spPr>
      </p:sp>
      <p:sp>
        <p:nvSpPr>
          <p:cNvPr id="8" name="Text 6"/>
          <p:cNvSpPr/>
          <p:nvPr/>
        </p:nvSpPr>
        <p:spPr>
          <a:xfrm>
            <a:off x="786384" y="1947672"/>
            <a:ext cx="160020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E6F9E"/>
                </a:solidFill>
                <a:latin typeface="Aptos" pitchFamily="34" charset="0"/>
                <a:ea typeface="Aptos" pitchFamily="34" charset="-122"/>
                <a:cs typeface="Aptos" pitchFamily="34" charset="-120"/>
              </a:rPr>
              <a:t>2017–2018</a:t>
            </a:r>
            <a:endParaRPr lang="en-US" sz="1100" dirty="0"/>
          </a:p>
        </p:txBody>
      </p:sp>
      <p:sp>
        <p:nvSpPr>
          <p:cNvPr id="9" name="Shape 7"/>
          <p:cNvSpPr/>
          <p:nvPr/>
        </p:nvSpPr>
        <p:spPr>
          <a:xfrm>
            <a:off x="603504" y="3090672"/>
            <a:ext cx="1984248" cy="1901952"/>
          </a:xfrm>
          <a:prstGeom prst="roundRect">
            <a:avLst>
              <a:gd name="adj" fmla="val 3846"/>
            </a:avLst>
          </a:prstGeom>
          <a:solidFill>
            <a:srgbClr val="FFFFFF"/>
          </a:solidFill>
          <a:ln w="12700">
            <a:solidFill>
              <a:srgbClr val="D8E0E6"/>
            </a:solidFill>
            <a:prstDash val="solid"/>
          </a:ln>
        </p:spPr>
      </p:sp>
      <p:sp>
        <p:nvSpPr>
          <p:cNvPr id="10" name="Shape 8"/>
          <p:cNvSpPr/>
          <p:nvPr/>
        </p:nvSpPr>
        <p:spPr>
          <a:xfrm>
            <a:off x="603504" y="3090672"/>
            <a:ext cx="1984248" cy="73152"/>
          </a:xfrm>
          <a:prstGeom prst="rect">
            <a:avLst/>
          </a:prstGeom>
          <a:solidFill>
            <a:srgbClr val="2E6F9E"/>
          </a:solidFill>
          <a:ln w="12700">
            <a:solidFill>
              <a:srgbClr val="2E6F9E"/>
            </a:solidFill>
            <a:prstDash val="solid"/>
          </a:ln>
        </p:spPr>
      </p:sp>
      <p:sp>
        <p:nvSpPr>
          <p:cNvPr id="11" name="Text 9"/>
          <p:cNvSpPr/>
          <p:nvPr/>
        </p:nvSpPr>
        <p:spPr>
          <a:xfrm>
            <a:off x="758952" y="3328416"/>
            <a:ext cx="1673352" cy="502920"/>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53B5B"/>
                </a:solidFill>
                <a:latin typeface="Aptos" pitchFamily="34" charset="0"/>
                <a:ea typeface="Aptos" pitchFamily="34" charset="-122"/>
                <a:cs typeface="Aptos" pitchFamily="34" charset="-120"/>
              </a:rPr>
              <a:t>DeepXplore</a:t>
            </a:r>
            <a:endParaRPr lang="en-US" sz="1500" dirty="0"/>
          </a:p>
          <a:p>
            <a:pPr algn="ctr" indent="0" marL="0">
              <a:lnSpc>
                <a:spcPct val="100000"/>
              </a:lnSpc>
              <a:buNone/>
            </a:pPr>
            <a:r>
              <a:rPr lang="en-US" sz="1500" b="1" dirty="0">
                <a:solidFill>
                  <a:srgbClr val="153B5B"/>
                </a:solidFill>
                <a:latin typeface="Aptos" pitchFamily="34" charset="0"/>
                <a:ea typeface="Aptos" pitchFamily="34" charset="-122"/>
                <a:cs typeface="Aptos" pitchFamily="34" charset="-120"/>
              </a:rPr>
              <a:t>DeepGauge</a:t>
            </a:r>
            <a:endParaRPr lang="en-US" sz="1500" dirty="0"/>
          </a:p>
        </p:txBody>
      </p:sp>
      <p:sp>
        <p:nvSpPr>
          <p:cNvPr id="12" name="Text 10"/>
          <p:cNvSpPr/>
          <p:nvPr/>
        </p:nvSpPr>
        <p:spPr>
          <a:xfrm>
            <a:off x="758952" y="3922776"/>
            <a:ext cx="1673352" cy="283464"/>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2E6F9E"/>
                </a:solidFill>
                <a:latin typeface="Microsoft YaHei" pitchFamily="34" charset="0"/>
                <a:ea typeface="Microsoft YaHei" pitchFamily="34" charset="-122"/>
                <a:cs typeface="Microsoft YaHei" pitchFamily="34" charset="-120"/>
              </a:rPr>
              <a:t>网络行为覆盖</a:t>
            </a:r>
            <a:endParaRPr lang="en-US" sz="1300" dirty="0"/>
          </a:p>
        </p:txBody>
      </p:sp>
      <p:sp>
        <p:nvSpPr>
          <p:cNvPr id="13" name="Text 11"/>
          <p:cNvSpPr/>
          <p:nvPr/>
        </p:nvSpPr>
        <p:spPr>
          <a:xfrm>
            <a:off x="786384" y="4352544"/>
            <a:ext cx="1618488" cy="40233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用内部活动指导测试</a:t>
            </a:r>
            <a:endParaRPr lang="en-US" sz="1050" dirty="0"/>
          </a:p>
        </p:txBody>
      </p:sp>
      <p:sp>
        <p:nvSpPr>
          <p:cNvPr id="14" name="Shape 12"/>
          <p:cNvSpPr/>
          <p:nvPr/>
        </p:nvSpPr>
        <p:spPr>
          <a:xfrm>
            <a:off x="3657600" y="2542032"/>
            <a:ext cx="384048" cy="384048"/>
          </a:xfrm>
          <a:prstGeom prst="ellipse">
            <a:avLst/>
          </a:prstGeom>
          <a:solidFill>
            <a:srgbClr val="187D7B"/>
          </a:solidFill>
          <a:ln w="25400">
            <a:solidFill>
              <a:srgbClr val="FFFFFF"/>
            </a:solidFill>
            <a:prstDash val="solid"/>
          </a:ln>
        </p:spPr>
      </p:sp>
      <p:sp>
        <p:nvSpPr>
          <p:cNvPr id="15" name="Text 13"/>
          <p:cNvSpPr/>
          <p:nvPr/>
        </p:nvSpPr>
        <p:spPr>
          <a:xfrm>
            <a:off x="3054096" y="1947672"/>
            <a:ext cx="160020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87D7B"/>
                </a:solidFill>
                <a:latin typeface="Aptos" pitchFamily="34" charset="0"/>
                <a:ea typeface="Aptos" pitchFamily="34" charset="-122"/>
                <a:cs typeface="Aptos" pitchFamily="34" charset="-120"/>
              </a:rPr>
              <a:t>2019–2023</a:t>
            </a:r>
            <a:endParaRPr lang="en-US" sz="1100" dirty="0"/>
          </a:p>
        </p:txBody>
      </p:sp>
      <p:sp>
        <p:nvSpPr>
          <p:cNvPr id="16" name="Shape 14"/>
          <p:cNvSpPr/>
          <p:nvPr/>
        </p:nvSpPr>
        <p:spPr>
          <a:xfrm>
            <a:off x="2871216" y="3090672"/>
            <a:ext cx="1984248" cy="1901952"/>
          </a:xfrm>
          <a:prstGeom prst="roundRect">
            <a:avLst>
              <a:gd name="adj" fmla="val 3846"/>
            </a:avLst>
          </a:prstGeom>
          <a:solidFill>
            <a:srgbClr val="FFFFFF"/>
          </a:solidFill>
          <a:ln w="12700">
            <a:solidFill>
              <a:srgbClr val="D8E0E6"/>
            </a:solidFill>
            <a:prstDash val="solid"/>
          </a:ln>
        </p:spPr>
      </p:sp>
      <p:sp>
        <p:nvSpPr>
          <p:cNvPr id="17" name="Shape 15"/>
          <p:cNvSpPr/>
          <p:nvPr/>
        </p:nvSpPr>
        <p:spPr>
          <a:xfrm>
            <a:off x="2871216" y="3090672"/>
            <a:ext cx="1984248" cy="73152"/>
          </a:xfrm>
          <a:prstGeom prst="rect">
            <a:avLst/>
          </a:prstGeom>
          <a:solidFill>
            <a:srgbClr val="187D7B"/>
          </a:solidFill>
          <a:ln w="12700">
            <a:solidFill>
              <a:srgbClr val="187D7B"/>
            </a:solidFill>
            <a:prstDash val="solid"/>
          </a:ln>
        </p:spPr>
      </p:sp>
      <p:sp>
        <p:nvSpPr>
          <p:cNvPr id="18" name="Text 16"/>
          <p:cNvSpPr/>
          <p:nvPr/>
        </p:nvSpPr>
        <p:spPr>
          <a:xfrm>
            <a:off x="3026664" y="3328416"/>
            <a:ext cx="1673352" cy="502920"/>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53B5B"/>
                </a:solidFill>
                <a:latin typeface="Aptos" pitchFamily="34" charset="0"/>
                <a:ea typeface="Aptos" pitchFamily="34" charset="-122"/>
                <a:cs typeface="Aptos" pitchFamily="34" charset="-120"/>
              </a:rPr>
              <a:t>IDC</a:t>
            </a:r>
            <a:endParaRPr lang="en-US" sz="1500" dirty="0"/>
          </a:p>
        </p:txBody>
      </p:sp>
      <p:sp>
        <p:nvSpPr>
          <p:cNvPr id="19" name="Text 17"/>
          <p:cNvSpPr/>
          <p:nvPr/>
        </p:nvSpPr>
        <p:spPr>
          <a:xfrm>
            <a:off x="3026664" y="3922776"/>
            <a:ext cx="1673352" cy="283464"/>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187D7B"/>
                </a:solidFill>
                <a:latin typeface="Microsoft YaHei" pitchFamily="34" charset="0"/>
                <a:ea typeface="Microsoft YaHei" pitchFamily="34" charset="-122"/>
                <a:cs typeface="Microsoft YaHei" pitchFamily="34" charset="-120"/>
              </a:rPr>
              <a:t>输入分布覆盖</a:t>
            </a:r>
            <a:endParaRPr lang="en-US" sz="1300" dirty="0"/>
          </a:p>
        </p:txBody>
      </p:sp>
      <p:sp>
        <p:nvSpPr>
          <p:cNvPr id="20" name="Text 18"/>
          <p:cNvSpPr/>
          <p:nvPr/>
        </p:nvSpPr>
        <p:spPr>
          <a:xfrm>
            <a:off x="3054096" y="4352544"/>
            <a:ext cx="1618488" cy="40233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潜空间中的特征组合</a:t>
            </a:r>
            <a:endParaRPr lang="en-US" sz="1050" dirty="0"/>
          </a:p>
        </p:txBody>
      </p:sp>
      <p:sp>
        <p:nvSpPr>
          <p:cNvPr id="21" name="Shape 19"/>
          <p:cNvSpPr/>
          <p:nvPr/>
        </p:nvSpPr>
        <p:spPr>
          <a:xfrm>
            <a:off x="5925312" y="2542032"/>
            <a:ext cx="384048" cy="384048"/>
          </a:xfrm>
          <a:prstGeom prst="ellipse">
            <a:avLst/>
          </a:prstGeom>
          <a:solidFill>
            <a:srgbClr val="7C527C"/>
          </a:solidFill>
          <a:ln w="25400">
            <a:solidFill>
              <a:srgbClr val="FFFFFF"/>
            </a:solidFill>
            <a:prstDash val="solid"/>
          </a:ln>
        </p:spPr>
      </p:sp>
      <p:sp>
        <p:nvSpPr>
          <p:cNvPr id="22" name="Text 20"/>
          <p:cNvSpPr/>
          <p:nvPr/>
        </p:nvSpPr>
        <p:spPr>
          <a:xfrm>
            <a:off x="5321808" y="1947672"/>
            <a:ext cx="160020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7C527C"/>
                </a:solidFill>
                <a:latin typeface="Aptos" pitchFamily="34" charset="0"/>
                <a:ea typeface="Aptos" pitchFamily="34" charset="-122"/>
                <a:cs typeface="Aptos" pitchFamily="34" charset="-120"/>
              </a:rPr>
              <a:t>2021</a:t>
            </a:r>
            <a:endParaRPr lang="en-US" sz="1100" dirty="0"/>
          </a:p>
        </p:txBody>
      </p:sp>
      <p:sp>
        <p:nvSpPr>
          <p:cNvPr id="23" name="Shape 21"/>
          <p:cNvSpPr/>
          <p:nvPr/>
        </p:nvSpPr>
        <p:spPr>
          <a:xfrm>
            <a:off x="5138928" y="3090672"/>
            <a:ext cx="1984248" cy="1901952"/>
          </a:xfrm>
          <a:prstGeom prst="roundRect">
            <a:avLst>
              <a:gd name="adj" fmla="val 3846"/>
            </a:avLst>
          </a:prstGeom>
          <a:solidFill>
            <a:srgbClr val="FFFFFF"/>
          </a:solidFill>
          <a:ln w="12700">
            <a:solidFill>
              <a:srgbClr val="D8E0E6"/>
            </a:solidFill>
            <a:prstDash val="solid"/>
          </a:ln>
        </p:spPr>
      </p:sp>
      <p:sp>
        <p:nvSpPr>
          <p:cNvPr id="24" name="Shape 22"/>
          <p:cNvSpPr/>
          <p:nvPr/>
        </p:nvSpPr>
        <p:spPr>
          <a:xfrm>
            <a:off x="5138928" y="3090672"/>
            <a:ext cx="1984248" cy="73152"/>
          </a:xfrm>
          <a:prstGeom prst="rect">
            <a:avLst/>
          </a:prstGeom>
          <a:solidFill>
            <a:srgbClr val="7C527C"/>
          </a:solidFill>
          <a:ln w="12700">
            <a:solidFill>
              <a:srgbClr val="7C527C"/>
            </a:solidFill>
            <a:prstDash val="solid"/>
          </a:ln>
        </p:spPr>
      </p:sp>
      <p:sp>
        <p:nvSpPr>
          <p:cNvPr id="25" name="Text 23"/>
          <p:cNvSpPr/>
          <p:nvPr/>
        </p:nvSpPr>
        <p:spPr>
          <a:xfrm>
            <a:off x="5294376" y="3328416"/>
            <a:ext cx="1673352" cy="502920"/>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53B5B"/>
                </a:solidFill>
                <a:latin typeface="Aptos" pitchFamily="34" charset="0"/>
                <a:ea typeface="Aptos" pitchFamily="34" charset="-122"/>
                <a:cs typeface="Aptos" pitchFamily="34" charset="-120"/>
              </a:rPr>
              <a:t>DeepHyperion</a:t>
            </a:r>
            <a:endParaRPr lang="en-US" sz="1500" dirty="0"/>
          </a:p>
        </p:txBody>
      </p:sp>
      <p:sp>
        <p:nvSpPr>
          <p:cNvPr id="26" name="Text 24"/>
          <p:cNvSpPr/>
          <p:nvPr/>
        </p:nvSpPr>
        <p:spPr>
          <a:xfrm>
            <a:off x="5294376" y="3922776"/>
            <a:ext cx="1673352" cy="283464"/>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7C527C"/>
                </a:solidFill>
                <a:latin typeface="Microsoft YaHei" pitchFamily="34" charset="0"/>
                <a:ea typeface="Microsoft YaHei" pitchFamily="34" charset="-122"/>
                <a:cs typeface="Microsoft YaHei" pitchFamily="34" charset="-120"/>
              </a:rPr>
              <a:t>可解释特征地图</a:t>
            </a:r>
            <a:endParaRPr lang="en-US" sz="1300" dirty="0"/>
          </a:p>
        </p:txBody>
      </p:sp>
      <p:sp>
        <p:nvSpPr>
          <p:cNvPr id="27" name="Text 25"/>
          <p:cNvSpPr/>
          <p:nvPr/>
        </p:nvSpPr>
        <p:spPr>
          <a:xfrm>
            <a:off x="5321808" y="4352544"/>
            <a:ext cx="1618488" cy="40233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将行为放入可读条件空间</a:t>
            </a:r>
            <a:endParaRPr lang="en-US" sz="1050" dirty="0"/>
          </a:p>
        </p:txBody>
      </p:sp>
      <p:sp>
        <p:nvSpPr>
          <p:cNvPr id="28" name="Shape 26"/>
          <p:cNvSpPr/>
          <p:nvPr/>
        </p:nvSpPr>
        <p:spPr>
          <a:xfrm>
            <a:off x="8193024" y="2542032"/>
            <a:ext cx="384048" cy="384048"/>
          </a:xfrm>
          <a:prstGeom prst="ellipse">
            <a:avLst/>
          </a:prstGeom>
          <a:solidFill>
            <a:srgbClr val="E87524"/>
          </a:solidFill>
          <a:ln w="25400">
            <a:solidFill>
              <a:srgbClr val="FFFFFF"/>
            </a:solidFill>
            <a:prstDash val="solid"/>
          </a:ln>
        </p:spPr>
      </p:sp>
      <p:sp>
        <p:nvSpPr>
          <p:cNvPr id="29" name="Text 27"/>
          <p:cNvSpPr/>
          <p:nvPr/>
        </p:nvSpPr>
        <p:spPr>
          <a:xfrm>
            <a:off x="7589520" y="1947672"/>
            <a:ext cx="160020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E87524"/>
                </a:solidFill>
                <a:latin typeface="Aptos" pitchFamily="34" charset="0"/>
                <a:ea typeface="Aptos" pitchFamily="34" charset="-122"/>
                <a:cs typeface="Aptos" pitchFamily="34" charset="-120"/>
              </a:rPr>
              <a:t>2019</a:t>
            </a:r>
            <a:endParaRPr lang="en-US" sz="1100" dirty="0"/>
          </a:p>
        </p:txBody>
      </p:sp>
      <p:sp>
        <p:nvSpPr>
          <p:cNvPr id="30" name="Shape 28"/>
          <p:cNvSpPr/>
          <p:nvPr/>
        </p:nvSpPr>
        <p:spPr>
          <a:xfrm>
            <a:off x="7406640" y="3090672"/>
            <a:ext cx="1984248" cy="1901952"/>
          </a:xfrm>
          <a:prstGeom prst="roundRect">
            <a:avLst>
              <a:gd name="adj" fmla="val 3846"/>
            </a:avLst>
          </a:prstGeom>
          <a:solidFill>
            <a:srgbClr val="FFFFFF"/>
          </a:solidFill>
          <a:ln w="12700">
            <a:solidFill>
              <a:srgbClr val="D8E0E6"/>
            </a:solidFill>
            <a:prstDash val="solid"/>
          </a:ln>
        </p:spPr>
      </p:sp>
      <p:sp>
        <p:nvSpPr>
          <p:cNvPr id="31" name="Shape 29"/>
          <p:cNvSpPr/>
          <p:nvPr/>
        </p:nvSpPr>
        <p:spPr>
          <a:xfrm>
            <a:off x="7406640" y="3090672"/>
            <a:ext cx="1984248" cy="73152"/>
          </a:xfrm>
          <a:prstGeom prst="rect">
            <a:avLst/>
          </a:prstGeom>
          <a:solidFill>
            <a:srgbClr val="E87524"/>
          </a:solidFill>
          <a:ln w="12700">
            <a:solidFill>
              <a:srgbClr val="E87524"/>
            </a:solidFill>
            <a:prstDash val="solid"/>
          </a:ln>
        </p:spPr>
      </p:sp>
      <p:sp>
        <p:nvSpPr>
          <p:cNvPr id="32" name="Text 30"/>
          <p:cNvSpPr/>
          <p:nvPr/>
        </p:nvSpPr>
        <p:spPr>
          <a:xfrm>
            <a:off x="7562088" y="3328416"/>
            <a:ext cx="1673352" cy="502920"/>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53B5B"/>
                </a:solidFill>
                <a:latin typeface="Aptos" pitchFamily="34" charset="0"/>
                <a:ea typeface="Aptos" pitchFamily="34" charset="-122"/>
                <a:cs typeface="Aptos" pitchFamily="34" charset="-120"/>
              </a:rPr>
              <a:t>Asudeh et al.</a:t>
            </a:r>
            <a:endParaRPr lang="en-US" sz="1500" dirty="0"/>
          </a:p>
        </p:txBody>
      </p:sp>
      <p:sp>
        <p:nvSpPr>
          <p:cNvPr id="33" name="Text 31"/>
          <p:cNvSpPr/>
          <p:nvPr/>
        </p:nvSpPr>
        <p:spPr>
          <a:xfrm>
            <a:off x="7562088" y="3922776"/>
            <a:ext cx="1673352" cy="283464"/>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E87524"/>
                </a:solidFill>
                <a:latin typeface="Microsoft YaHei" pitchFamily="34" charset="0"/>
                <a:ea typeface="Microsoft YaHei" pitchFamily="34" charset="-122"/>
                <a:cs typeface="Microsoft YaHei" pitchFamily="34" charset="-120"/>
              </a:rPr>
              <a:t>缺口与补足</a:t>
            </a:r>
            <a:endParaRPr lang="en-US" sz="1300" dirty="0"/>
          </a:p>
        </p:txBody>
      </p:sp>
      <p:sp>
        <p:nvSpPr>
          <p:cNvPr id="34" name="Text 32"/>
          <p:cNvSpPr/>
          <p:nvPr/>
        </p:nvSpPr>
        <p:spPr>
          <a:xfrm>
            <a:off x="7589520" y="4352544"/>
            <a:ext cx="1618488" cy="40233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属性组合欠覆盖与新增数据</a:t>
            </a:r>
            <a:endParaRPr lang="en-US" sz="1050" dirty="0"/>
          </a:p>
        </p:txBody>
      </p:sp>
      <p:sp>
        <p:nvSpPr>
          <p:cNvPr id="35" name="Shape 33"/>
          <p:cNvSpPr/>
          <p:nvPr/>
        </p:nvSpPr>
        <p:spPr>
          <a:xfrm>
            <a:off x="10460736" y="2542032"/>
            <a:ext cx="384048" cy="384048"/>
          </a:xfrm>
          <a:prstGeom prst="ellipse">
            <a:avLst/>
          </a:prstGeom>
          <a:solidFill>
            <a:srgbClr val="2F7D5A"/>
          </a:solidFill>
          <a:ln w="25400">
            <a:solidFill>
              <a:srgbClr val="FFFFFF"/>
            </a:solidFill>
            <a:prstDash val="solid"/>
          </a:ln>
        </p:spPr>
      </p:sp>
      <p:sp>
        <p:nvSpPr>
          <p:cNvPr id="36" name="Text 34"/>
          <p:cNvSpPr/>
          <p:nvPr/>
        </p:nvSpPr>
        <p:spPr>
          <a:xfrm>
            <a:off x="9857232" y="1947672"/>
            <a:ext cx="160020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F7D5A"/>
                </a:solidFill>
                <a:latin typeface="Aptos" pitchFamily="34" charset="0"/>
                <a:ea typeface="Aptos" pitchFamily="34" charset="-122"/>
                <a:cs typeface="Aptos" pitchFamily="34" charset="-120"/>
              </a:rPr>
              <a:t>2024</a:t>
            </a:r>
            <a:endParaRPr lang="en-US" sz="1100" dirty="0"/>
          </a:p>
        </p:txBody>
      </p:sp>
      <p:sp>
        <p:nvSpPr>
          <p:cNvPr id="37" name="Shape 35"/>
          <p:cNvSpPr/>
          <p:nvPr/>
        </p:nvSpPr>
        <p:spPr>
          <a:xfrm>
            <a:off x="9674352" y="3090672"/>
            <a:ext cx="1984248" cy="1901952"/>
          </a:xfrm>
          <a:prstGeom prst="roundRect">
            <a:avLst>
              <a:gd name="adj" fmla="val 3846"/>
            </a:avLst>
          </a:prstGeom>
          <a:solidFill>
            <a:srgbClr val="FFFFFF"/>
          </a:solidFill>
          <a:ln w="12700">
            <a:solidFill>
              <a:srgbClr val="D8E0E6"/>
            </a:solidFill>
            <a:prstDash val="solid"/>
          </a:ln>
        </p:spPr>
      </p:sp>
      <p:sp>
        <p:nvSpPr>
          <p:cNvPr id="38" name="Shape 36"/>
          <p:cNvSpPr/>
          <p:nvPr/>
        </p:nvSpPr>
        <p:spPr>
          <a:xfrm>
            <a:off x="9674352" y="3090672"/>
            <a:ext cx="1984248" cy="73152"/>
          </a:xfrm>
          <a:prstGeom prst="rect">
            <a:avLst/>
          </a:prstGeom>
          <a:solidFill>
            <a:srgbClr val="2F7D5A"/>
          </a:solidFill>
          <a:ln w="12700">
            <a:solidFill>
              <a:srgbClr val="2F7D5A"/>
            </a:solidFill>
            <a:prstDash val="solid"/>
          </a:ln>
        </p:spPr>
      </p:sp>
      <p:sp>
        <p:nvSpPr>
          <p:cNvPr id="39" name="Text 37"/>
          <p:cNvSpPr/>
          <p:nvPr/>
        </p:nvSpPr>
        <p:spPr>
          <a:xfrm>
            <a:off x="9829800" y="3328416"/>
            <a:ext cx="1673352" cy="502920"/>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53B5B"/>
                </a:solidFill>
                <a:latin typeface="Aptos" pitchFamily="34" charset="0"/>
                <a:ea typeface="Aptos" pitchFamily="34" charset="-122"/>
                <a:cs typeface="Aptos" pitchFamily="34" charset="-120"/>
              </a:rPr>
              <a:t>TEASMA</a:t>
            </a:r>
            <a:endParaRPr lang="en-US" sz="1500" dirty="0"/>
          </a:p>
          <a:p>
            <a:pPr algn="ctr" indent="0" marL="0">
              <a:lnSpc>
                <a:spcPct val="100000"/>
              </a:lnSpc>
              <a:buNone/>
            </a:pPr>
            <a:r>
              <a:rPr lang="en-US" sz="1500" b="1" dirty="0">
                <a:solidFill>
                  <a:srgbClr val="153B5B"/>
                </a:solidFill>
                <a:latin typeface="Aptos" pitchFamily="34" charset="0"/>
                <a:ea typeface="Aptos" pitchFamily="34" charset="-122"/>
                <a:cs typeface="Aptos" pitchFamily="34" charset="-120"/>
              </a:rPr>
              <a:t>SELECT</a:t>
            </a:r>
            <a:endParaRPr lang="en-US" sz="1500" dirty="0"/>
          </a:p>
        </p:txBody>
      </p:sp>
      <p:sp>
        <p:nvSpPr>
          <p:cNvPr id="40" name="Text 38"/>
          <p:cNvSpPr/>
          <p:nvPr/>
        </p:nvSpPr>
        <p:spPr>
          <a:xfrm>
            <a:off x="9829800" y="3922776"/>
            <a:ext cx="1673352" cy="283464"/>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2F7D5A"/>
                </a:solidFill>
                <a:latin typeface="Microsoft YaHei" pitchFamily="34" charset="0"/>
                <a:ea typeface="Microsoft YaHei" pitchFamily="34" charset="-122"/>
                <a:cs typeface="Microsoft YaHei" pitchFamily="34" charset="-120"/>
              </a:rPr>
              <a:t>效用与公平基线</a:t>
            </a:r>
            <a:endParaRPr lang="en-US" sz="1300" dirty="0"/>
          </a:p>
        </p:txBody>
      </p:sp>
      <p:sp>
        <p:nvSpPr>
          <p:cNvPr id="41" name="Text 39"/>
          <p:cNvSpPr/>
          <p:nvPr/>
        </p:nvSpPr>
        <p:spPr>
          <a:xfrm>
            <a:off x="9857232" y="4352544"/>
            <a:ext cx="1618488" cy="40233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检错能力、统一预算比较</a:t>
            </a:r>
            <a:endParaRPr lang="en-US" sz="1050" dirty="0"/>
          </a:p>
        </p:txBody>
      </p:sp>
      <p:sp>
        <p:nvSpPr>
          <p:cNvPr id="42" name="Text 40"/>
          <p:cNvSpPr/>
          <p:nvPr/>
        </p:nvSpPr>
        <p:spPr>
          <a:xfrm>
            <a:off x="1051560" y="5468112"/>
            <a:ext cx="10058400" cy="411480"/>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153B5B"/>
                </a:solidFill>
                <a:latin typeface="Microsoft YaHei" pitchFamily="34" charset="0"/>
                <a:ea typeface="Microsoft YaHei" pitchFamily="34" charset="-122"/>
                <a:cs typeface="Microsoft YaHei" pitchFamily="34" charset="-120"/>
              </a:rPr>
              <a:t>不是简单替代：覆盖对象不同；共同趋势是走向可解释、可行动、可验证。</a:t>
            </a:r>
            <a:endParaRPr lang="en-US" sz="1900" dirty="0"/>
          </a:p>
        </p:txBody>
      </p:sp>
      <p:sp>
        <p:nvSpPr>
          <p:cNvPr id="43" name="Text 41"/>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02 · RELATED WORK</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DeepXplore：让深度学习测试拥有可计算反馈</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白盒覆盖 + 差分行为 + 梯度搜索</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86384" y="1993392"/>
            <a:ext cx="1700784" cy="960120"/>
          </a:xfrm>
          <a:prstGeom prst="roundRect">
            <a:avLst>
              <a:gd name="adj" fmla="val 7619"/>
            </a:avLst>
          </a:prstGeom>
          <a:solidFill>
            <a:srgbClr val="E7F0F7"/>
          </a:solidFill>
          <a:ln w="12700">
            <a:solidFill>
              <a:srgbClr val="2E6F9E"/>
            </a:solidFill>
            <a:prstDash val="solid"/>
          </a:ln>
        </p:spPr>
      </p:sp>
      <p:sp>
        <p:nvSpPr>
          <p:cNvPr id="7" name="Text 5"/>
          <p:cNvSpPr/>
          <p:nvPr/>
        </p:nvSpPr>
        <p:spPr>
          <a:xfrm>
            <a:off x="877824" y="2157984"/>
            <a:ext cx="1517904" cy="29260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2E6F9E"/>
                </a:solidFill>
                <a:latin typeface="Microsoft YaHei" pitchFamily="34" charset="0"/>
                <a:ea typeface="Microsoft YaHei" pitchFamily="34" charset="-122"/>
                <a:cs typeface="Microsoft YaHei" pitchFamily="34" charset="-120"/>
              </a:rPr>
              <a:t>测试输入</a:t>
            </a:r>
            <a:endParaRPr lang="en-US" sz="1500" dirty="0"/>
          </a:p>
        </p:txBody>
      </p:sp>
      <p:sp>
        <p:nvSpPr>
          <p:cNvPr id="8" name="Text 6"/>
          <p:cNvSpPr/>
          <p:nvPr/>
        </p:nvSpPr>
        <p:spPr>
          <a:xfrm>
            <a:off x="877824" y="2532888"/>
            <a:ext cx="1517904" cy="210312"/>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image x</a:t>
            </a:r>
            <a:endParaRPr lang="en-US" sz="1050" dirty="0"/>
          </a:p>
        </p:txBody>
      </p:sp>
      <p:sp>
        <p:nvSpPr>
          <p:cNvPr id="9" name="Shape 7"/>
          <p:cNvSpPr/>
          <p:nvPr/>
        </p:nvSpPr>
        <p:spPr>
          <a:xfrm>
            <a:off x="2542032" y="2478024"/>
            <a:ext cx="374904" cy="0"/>
          </a:xfrm>
          <a:prstGeom prst="line">
            <a:avLst/>
          </a:prstGeom>
          <a:noFill/>
          <a:ln w="19050">
            <a:solidFill>
              <a:srgbClr val="9BAAB5"/>
            </a:solidFill>
            <a:prstDash val="solid"/>
            <a:headEnd type="none"/>
            <a:tailEnd type="triangle"/>
          </a:ln>
        </p:spPr>
      </p:sp>
      <p:sp>
        <p:nvSpPr>
          <p:cNvPr id="10" name="Shape 8"/>
          <p:cNvSpPr/>
          <p:nvPr/>
        </p:nvSpPr>
        <p:spPr>
          <a:xfrm>
            <a:off x="2971800" y="1993392"/>
            <a:ext cx="1700784" cy="960120"/>
          </a:xfrm>
          <a:prstGeom prst="roundRect">
            <a:avLst>
              <a:gd name="adj" fmla="val 7619"/>
            </a:avLst>
          </a:prstGeom>
          <a:solidFill>
            <a:srgbClr val="E7F0F7"/>
          </a:solidFill>
          <a:ln w="12700">
            <a:solidFill>
              <a:srgbClr val="2E6F9E"/>
            </a:solidFill>
            <a:prstDash val="solid"/>
          </a:ln>
        </p:spPr>
      </p:sp>
      <p:sp>
        <p:nvSpPr>
          <p:cNvPr id="11" name="Text 9"/>
          <p:cNvSpPr/>
          <p:nvPr/>
        </p:nvSpPr>
        <p:spPr>
          <a:xfrm>
            <a:off x="3063240" y="2157984"/>
            <a:ext cx="1517904" cy="29260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2E6F9E"/>
                </a:solidFill>
                <a:latin typeface="Microsoft YaHei" pitchFamily="34" charset="0"/>
                <a:ea typeface="Microsoft YaHei" pitchFamily="34" charset="-122"/>
                <a:cs typeface="Microsoft YaHei" pitchFamily="34" charset="-120"/>
              </a:rPr>
              <a:t>神经元覆盖</a:t>
            </a:r>
            <a:endParaRPr lang="en-US" sz="1500" dirty="0"/>
          </a:p>
        </p:txBody>
      </p:sp>
      <p:sp>
        <p:nvSpPr>
          <p:cNvPr id="12" name="Text 10"/>
          <p:cNvSpPr/>
          <p:nvPr/>
        </p:nvSpPr>
        <p:spPr>
          <a:xfrm>
            <a:off x="3063240" y="2532888"/>
            <a:ext cx="1517904" cy="210312"/>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内部活动</a:t>
            </a:r>
            <a:endParaRPr lang="en-US" sz="1050" dirty="0"/>
          </a:p>
        </p:txBody>
      </p:sp>
      <p:sp>
        <p:nvSpPr>
          <p:cNvPr id="13" name="Shape 11"/>
          <p:cNvSpPr/>
          <p:nvPr/>
        </p:nvSpPr>
        <p:spPr>
          <a:xfrm>
            <a:off x="4727448" y="2478024"/>
            <a:ext cx="374904" cy="0"/>
          </a:xfrm>
          <a:prstGeom prst="line">
            <a:avLst/>
          </a:prstGeom>
          <a:noFill/>
          <a:ln w="19050">
            <a:solidFill>
              <a:srgbClr val="9BAAB5"/>
            </a:solidFill>
            <a:prstDash val="solid"/>
            <a:headEnd type="none"/>
            <a:tailEnd type="triangle"/>
          </a:ln>
        </p:spPr>
      </p:sp>
      <p:sp>
        <p:nvSpPr>
          <p:cNvPr id="14" name="Shape 12"/>
          <p:cNvSpPr/>
          <p:nvPr/>
        </p:nvSpPr>
        <p:spPr>
          <a:xfrm>
            <a:off x="5157216" y="1993392"/>
            <a:ext cx="1700784" cy="960120"/>
          </a:xfrm>
          <a:prstGeom prst="roundRect">
            <a:avLst>
              <a:gd name="adj" fmla="val 7619"/>
            </a:avLst>
          </a:prstGeom>
          <a:solidFill>
            <a:srgbClr val="FCECDD"/>
          </a:solidFill>
          <a:ln w="12700">
            <a:solidFill>
              <a:srgbClr val="E87524"/>
            </a:solidFill>
            <a:prstDash val="solid"/>
          </a:ln>
        </p:spPr>
      </p:sp>
      <p:sp>
        <p:nvSpPr>
          <p:cNvPr id="15" name="Text 13"/>
          <p:cNvSpPr/>
          <p:nvPr/>
        </p:nvSpPr>
        <p:spPr>
          <a:xfrm>
            <a:off x="5248656" y="2157984"/>
            <a:ext cx="1517904" cy="29260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E87524"/>
                </a:solidFill>
                <a:latin typeface="Microsoft YaHei" pitchFamily="34" charset="0"/>
                <a:ea typeface="Microsoft YaHei" pitchFamily="34" charset="-122"/>
                <a:cs typeface="Microsoft YaHei" pitchFamily="34" charset="-120"/>
              </a:rPr>
              <a:t>模型差分</a:t>
            </a:r>
            <a:endParaRPr lang="en-US" sz="1500" dirty="0"/>
          </a:p>
        </p:txBody>
      </p:sp>
      <p:sp>
        <p:nvSpPr>
          <p:cNvPr id="16" name="Text 14"/>
          <p:cNvSpPr/>
          <p:nvPr/>
        </p:nvSpPr>
        <p:spPr>
          <a:xfrm>
            <a:off x="5248656" y="2532888"/>
            <a:ext cx="1517904" cy="210312"/>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交叉参考</a:t>
            </a:r>
            <a:endParaRPr lang="en-US" sz="1050" dirty="0"/>
          </a:p>
        </p:txBody>
      </p:sp>
      <p:sp>
        <p:nvSpPr>
          <p:cNvPr id="17" name="Shape 15"/>
          <p:cNvSpPr/>
          <p:nvPr/>
        </p:nvSpPr>
        <p:spPr>
          <a:xfrm>
            <a:off x="6912864" y="2478024"/>
            <a:ext cx="374904" cy="0"/>
          </a:xfrm>
          <a:prstGeom prst="line">
            <a:avLst/>
          </a:prstGeom>
          <a:noFill/>
          <a:ln w="19050">
            <a:solidFill>
              <a:srgbClr val="9BAAB5"/>
            </a:solidFill>
            <a:prstDash val="solid"/>
            <a:headEnd type="none"/>
            <a:tailEnd type="triangle"/>
          </a:ln>
        </p:spPr>
      </p:sp>
      <p:sp>
        <p:nvSpPr>
          <p:cNvPr id="18" name="Shape 16"/>
          <p:cNvSpPr/>
          <p:nvPr/>
        </p:nvSpPr>
        <p:spPr>
          <a:xfrm>
            <a:off x="7342632" y="1993392"/>
            <a:ext cx="1700784" cy="960120"/>
          </a:xfrm>
          <a:prstGeom prst="roundRect">
            <a:avLst>
              <a:gd name="adj" fmla="val 7619"/>
            </a:avLst>
          </a:prstGeom>
          <a:solidFill>
            <a:srgbClr val="F1EAF2"/>
          </a:solidFill>
          <a:ln w="12700">
            <a:solidFill>
              <a:srgbClr val="7C527C"/>
            </a:solidFill>
            <a:prstDash val="solid"/>
          </a:ln>
        </p:spPr>
      </p:sp>
      <p:sp>
        <p:nvSpPr>
          <p:cNvPr id="19" name="Text 17"/>
          <p:cNvSpPr/>
          <p:nvPr/>
        </p:nvSpPr>
        <p:spPr>
          <a:xfrm>
            <a:off x="7434072" y="2157984"/>
            <a:ext cx="1517904" cy="29260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7C527C"/>
                </a:solidFill>
                <a:latin typeface="Microsoft YaHei" pitchFamily="34" charset="0"/>
                <a:ea typeface="Microsoft YaHei" pitchFamily="34" charset="-122"/>
                <a:cs typeface="Microsoft YaHei" pitchFamily="34" charset="-120"/>
              </a:rPr>
              <a:t>联合优化</a:t>
            </a:r>
            <a:endParaRPr lang="en-US" sz="1500" dirty="0"/>
          </a:p>
        </p:txBody>
      </p:sp>
      <p:sp>
        <p:nvSpPr>
          <p:cNvPr id="20" name="Text 18"/>
          <p:cNvSpPr/>
          <p:nvPr/>
        </p:nvSpPr>
        <p:spPr>
          <a:xfrm>
            <a:off x="7434072" y="2532888"/>
            <a:ext cx="1517904" cy="210312"/>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梯度搜索</a:t>
            </a:r>
            <a:endParaRPr lang="en-US" sz="1050" dirty="0"/>
          </a:p>
        </p:txBody>
      </p:sp>
      <p:sp>
        <p:nvSpPr>
          <p:cNvPr id="21" name="Shape 19"/>
          <p:cNvSpPr/>
          <p:nvPr/>
        </p:nvSpPr>
        <p:spPr>
          <a:xfrm>
            <a:off x="9098280" y="2478024"/>
            <a:ext cx="374904" cy="0"/>
          </a:xfrm>
          <a:prstGeom prst="line">
            <a:avLst/>
          </a:prstGeom>
          <a:noFill/>
          <a:ln w="19050">
            <a:solidFill>
              <a:srgbClr val="9BAAB5"/>
            </a:solidFill>
            <a:prstDash val="solid"/>
            <a:headEnd type="none"/>
            <a:tailEnd type="triangle"/>
          </a:ln>
        </p:spPr>
      </p:sp>
      <p:sp>
        <p:nvSpPr>
          <p:cNvPr id="22" name="Shape 20"/>
          <p:cNvSpPr/>
          <p:nvPr/>
        </p:nvSpPr>
        <p:spPr>
          <a:xfrm>
            <a:off x="9528048" y="1993392"/>
            <a:ext cx="1700784" cy="960120"/>
          </a:xfrm>
          <a:prstGeom prst="roundRect">
            <a:avLst>
              <a:gd name="adj" fmla="val 7619"/>
            </a:avLst>
          </a:prstGeom>
          <a:solidFill>
            <a:srgbClr val="E7F2EC"/>
          </a:solidFill>
          <a:ln w="12700">
            <a:solidFill>
              <a:srgbClr val="2F7D5A"/>
            </a:solidFill>
            <a:prstDash val="solid"/>
          </a:ln>
        </p:spPr>
      </p:sp>
      <p:sp>
        <p:nvSpPr>
          <p:cNvPr id="23" name="Text 21"/>
          <p:cNvSpPr/>
          <p:nvPr/>
        </p:nvSpPr>
        <p:spPr>
          <a:xfrm>
            <a:off x="9619488" y="2157984"/>
            <a:ext cx="1517904" cy="29260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2F7D5A"/>
                </a:solidFill>
                <a:latin typeface="Microsoft YaHei" pitchFamily="34" charset="0"/>
                <a:ea typeface="Microsoft YaHei" pitchFamily="34" charset="-122"/>
                <a:cs typeface="Microsoft YaHei" pitchFamily="34" charset="-120"/>
              </a:rPr>
              <a:t>边角输入</a:t>
            </a:r>
            <a:endParaRPr lang="en-US" sz="1500" dirty="0"/>
          </a:p>
        </p:txBody>
      </p:sp>
      <p:sp>
        <p:nvSpPr>
          <p:cNvPr id="24" name="Text 22"/>
          <p:cNvSpPr/>
          <p:nvPr/>
        </p:nvSpPr>
        <p:spPr>
          <a:xfrm>
            <a:off x="9619488" y="2532888"/>
            <a:ext cx="1517904" cy="210312"/>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触发异常行为</a:t>
            </a:r>
            <a:endParaRPr lang="en-US" sz="1050" dirty="0"/>
          </a:p>
        </p:txBody>
      </p:sp>
      <p:sp>
        <p:nvSpPr>
          <p:cNvPr id="25" name="Shape 23"/>
          <p:cNvSpPr/>
          <p:nvPr/>
        </p:nvSpPr>
        <p:spPr>
          <a:xfrm>
            <a:off x="786384" y="3401568"/>
            <a:ext cx="3108960" cy="1591056"/>
          </a:xfrm>
          <a:prstGeom prst="roundRect">
            <a:avLst>
              <a:gd name="adj" fmla="val 4598"/>
            </a:avLst>
          </a:prstGeom>
          <a:solidFill>
            <a:srgbClr val="FFFFFF"/>
          </a:solidFill>
          <a:ln w="12700">
            <a:solidFill>
              <a:srgbClr val="D8E0E6"/>
            </a:solidFill>
            <a:prstDash val="solid"/>
          </a:ln>
        </p:spPr>
      </p:sp>
      <p:sp>
        <p:nvSpPr>
          <p:cNvPr id="26" name="Shape 24"/>
          <p:cNvSpPr/>
          <p:nvPr/>
        </p:nvSpPr>
        <p:spPr>
          <a:xfrm>
            <a:off x="987552" y="3621024"/>
            <a:ext cx="1225296" cy="329184"/>
          </a:xfrm>
          <a:prstGeom prst="roundRect">
            <a:avLst>
              <a:gd name="adj" fmla="val 50000"/>
            </a:avLst>
          </a:prstGeom>
          <a:solidFill>
            <a:srgbClr val="E7F0F7"/>
          </a:solidFill>
          <a:ln w="12700">
            <a:solidFill>
              <a:srgbClr val="E7F0F7"/>
            </a:solidFill>
            <a:prstDash val="solid"/>
          </a:ln>
        </p:spPr>
      </p:sp>
      <p:sp>
        <p:nvSpPr>
          <p:cNvPr id="27" name="Text 25"/>
          <p:cNvSpPr/>
          <p:nvPr/>
        </p:nvSpPr>
        <p:spPr>
          <a:xfrm>
            <a:off x="1060704" y="3639312"/>
            <a:ext cx="10789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E6F9E"/>
                </a:solidFill>
                <a:latin typeface="Microsoft YaHei" pitchFamily="34" charset="0"/>
                <a:ea typeface="Microsoft YaHei" pitchFamily="34" charset="-122"/>
                <a:cs typeface="Microsoft YaHei" pitchFamily="34" charset="-120"/>
              </a:rPr>
              <a:t>解决什么问题</a:t>
            </a:r>
            <a:endParaRPr lang="en-US" sz="1100" dirty="0"/>
          </a:p>
        </p:txBody>
      </p:sp>
      <p:sp>
        <p:nvSpPr>
          <p:cNvPr id="28" name="Text 26"/>
          <p:cNvSpPr/>
          <p:nvPr/>
        </p:nvSpPr>
        <p:spPr>
          <a:xfrm>
            <a:off x="987552" y="4050792"/>
            <a:ext cx="2706624" cy="694944"/>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7212B"/>
                </a:solidFill>
                <a:latin typeface="Microsoft YaHei" pitchFamily="34" charset="0"/>
                <a:ea typeface="Microsoft YaHei" pitchFamily="34" charset="-122"/>
                <a:cs typeface="Microsoft YaHei" pitchFamily="34" charset="-120"/>
              </a:rPr>
              <a:t>传统代码覆盖难以直接用于 DNN；新输入还经常缺少人工测试预言。</a:t>
            </a:r>
            <a:endParaRPr lang="en-US" sz="1450" dirty="0"/>
          </a:p>
        </p:txBody>
      </p:sp>
      <p:sp>
        <p:nvSpPr>
          <p:cNvPr id="29" name="Shape 27"/>
          <p:cNvSpPr/>
          <p:nvPr/>
        </p:nvSpPr>
        <p:spPr>
          <a:xfrm>
            <a:off x="4078224" y="3401568"/>
            <a:ext cx="3108960" cy="1591056"/>
          </a:xfrm>
          <a:prstGeom prst="roundRect">
            <a:avLst>
              <a:gd name="adj" fmla="val 4598"/>
            </a:avLst>
          </a:prstGeom>
          <a:solidFill>
            <a:srgbClr val="FFFFFF"/>
          </a:solidFill>
          <a:ln w="12700">
            <a:solidFill>
              <a:srgbClr val="D8E0E6"/>
            </a:solidFill>
            <a:prstDash val="solid"/>
          </a:ln>
        </p:spPr>
      </p:sp>
      <p:sp>
        <p:nvSpPr>
          <p:cNvPr id="30" name="Shape 28"/>
          <p:cNvSpPr/>
          <p:nvPr/>
        </p:nvSpPr>
        <p:spPr>
          <a:xfrm>
            <a:off x="4279392" y="3621024"/>
            <a:ext cx="1225296" cy="329184"/>
          </a:xfrm>
          <a:prstGeom prst="roundRect">
            <a:avLst>
              <a:gd name="adj" fmla="val 50000"/>
            </a:avLst>
          </a:prstGeom>
          <a:solidFill>
            <a:srgbClr val="E7F2EC"/>
          </a:solidFill>
          <a:ln w="12700">
            <a:solidFill>
              <a:srgbClr val="E7F2EC"/>
            </a:solidFill>
            <a:prstDash val="solid"/>
          </a:ln>
        </p:spPr>
      </p:sp>
      <p:sp>
        <p:nvSpPr>
          <p:cNvPr id="31" name="Text 29"/>
          <p:cNvSpPr/>
          <p:nvPr/>
        </p:nvSpPr>
        <p:spPr>
          <a:xfrm>
            <a:off x="4352544" y="3639312"/>
            <a:ext cx="10789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F7D5A"/>
                </a:solidFill>
                <a:latin typeface="Microsoft YaHei" pitchFamily="34" charset="0"/>
                <a:ea typeface="Microsoft YaHei" pitchFamily="34" charset="-122"/>
                <a:cs typeface="Microsoft YaHei" pitchFamily="34" charset="-120"/>
              </a:rPr>
              <a:t>核心思路</a:t>
            </a:r>
            <a:endParaRPr lang="en-US" sz="1100" dirty="0"/>
          </a:p>
        </p:txBody>
      </p:sp>
      <p:sp>
        <p:nvSpPr>
          <p:cNvPr id="32" name="Text 30"/>
          <p:cNvSpPr/>
          <p:nvPr/>
        </p:nvSpPr>
        <p:spPr>
          <a:xfrm>
            <a:off x="4279392" y="4050792"/>
            <a:ext cx="2706624" cy="694944"/>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7212B"/>
                </a:solidFill>
                <a:latin typeface="Microsoft YaHei" pitchFamily="34" charset="0"/>
                <a:ea typeface="Microsoft YaHei" pitchFamily="34" charset="-122"/>
                <a:cs typeface="Microsoft YaHei" pitchFamily="34" charset="-120"/>
              </a:rPr>
              <a:t>用神经元覆盖提供反馈，以多模型差分暴露潜在错误，再用梯度搜索生成测试。</a:t>
            </a:r>
            <a:endParaRPr lang="en-US" sz="1450" dirty="0"/>
          </a:p>
        </p:txBody>
      </p:sp>
      <p:sp>
        <p:nvSpPr>
          <p:cNvPr id="33" name="Shape 31"/>
          <p:cNvSpPr/>
          <p:nvPr/>
        </p:nvSpPr>
        <p:spPr>
          <a:xfrm>
            <a:off x="7370064" y="3401568"/>
            <a:ext cx="3108960" cy="1591056"/>
          </a:xfrm>
          <a:prstGeom prst="roundRect">
            <a:avLst>
              <a:gd name="adj" fmla="val 4598"/>
            </a:avLst>
          </a:prstGeom>
          <a:solidFill>
            <a:srgbClr val="FFFFFF"/>
          </a:solidFill>
          <a:ln w="12700">
            <a:solidFill>
              <a:srgbClr val="D8E0E6"/>
            </a:solidFill>
            <a:prstDash val="solid"/>
          </a:ln>
        </p:spPr>
      </p:sp>
      <p:sp>
        <p:nvSpPr>
          <p:cNvPr id="34" name="Shape 32"/>
          <p:cNvSpPr/>
          <p:nvPr/>
        </p:nvSpPr>
        <p:spPr>
          <a:xfrm>
            <a:off x="7571232" y="3621024"/>
            <a:ext cx="1225296" cy="329184"/>
          </a:xfrm>
          <a:prstGeom prst="roundRect">
            <a:avLst>
              <a:gd name="adj" fmla="val 50000"/>
            </a:avLst>
          </a:prstGeom>
          <a:solidFill>
            <a:srgbClr val="FCECDD"/>
          </a:solidFill>
          <a:ln w="12700">
            <a:solidFill>
              <a:srgbClr val="FCECDD"/>
            </a:solidFill>
            <a:prstDash val="solid"/>
          </a:ln>
        </p:spPr>
      </p:sp>
      <p:sp>
        <p:nvSpPr>
          <p:cNvPr id="35" name="Text 33"/>
          <p:cNvSpPr/>
          <p:nvPr/>
        </p:nvSpPr>
        <p:spPr>
          <a:xfrm>
            <a:off x="7644384" y="3639312"/>
            <a:ext cx="10789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E87524"/>
                </a:solidFill>
                <a:latin typeface="Microsoft YaHei" pitchFamily="34" charset="0"/>
                <a:ea typeface="Microsoft YaHei" pitchFamily="34" charset="-122"/>
                <a:cs typeface="Microsoft YaHei" pitchFamily="34" charset="-120"/>
              </a:rPr>
              <a:t>与我的关系</a:t>
            </a:r>
            <a:endParaRPr lang="en-US" sz="1100" dirty="0"/>
          </a:p>
        </p:txBody>
      </p:sp>
      <p:sp>
        <p:nvSpPr>
          <p:cNvPr id="36" name="Text 34"/>
          <p:cNvSpPr/>
          <p:nvPr/>
        </p:nvSpPr>
        <p:spPr>
          <a:xfrm>
            <a:off x="7571232" y="4050792"/>
            <a:ext cx="2706624" cy="694944"/>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7212B"/>
                </a:solidFill>
                <a:latin typeface="Microsoft YaHei" pitchFamily="34" charset="0"/>
                <a:ea typeface="Microsoft YaHei" pitchFamily="34" charset="-122"/>
                <a:cs typeface="Microsoft YaHei" pitchFamily="34" charset="-120"/>
              </a:rPr>
              <a:t>它证明覆盖可以量化；但内部激活难直接回答测试数据具体缺少哪类图片。</a:t>
            </a:r>
            <a:endParaRPr lang="en-US" sz="1450" dirty="0"/>
          </a:p>
        </p:txBody>
      </p:sp>
      <p:sp>
        <p:nvSpPr>
          <p:cNvPr id="37" name="Shape 35"/>
          <p:cNvSpPr/>
          <p:nvPr/>
        </p:nvSpPr>
        <p:spPr>
          <a:xfrm>
            <a:off x="1060704" y="5321808"/>
            <a:ext cx="10058400" cy="576072"/>
          </a:xfrm>
          <a:prstGeom prst="roundRect">
            <a:avLst>
              <a:gd name="adj" fmla="val 12698"/>
            </a:avLst>
          </a:prstGeom>
          <a:solidFill>
            <a:srgbClr val="F1EAF2"/>
          </a:solidFill>
          <a:ln w="12700">
            <a:solidFill>
              <a:srgbClr val="7C527C"/>
            </a:solidFill>
            <a:prstDash val="solid"/>
          </a:ln>
        </p:spPr>
      </p:sp>
      <p:sp>
        <p:nvSpPr>
          <p:cNvPr id="38" name="Text 36"/>
          <p:cNvSpPr/>
          <p:nvPr/>
        </p:nvSpPr>
        <p:spPr>
          <a:xfrm>
            <a:off x="1298448" y="5458968"/>
            <a:ext cx="9582912" cy="283464"/>
          </a:xfrm>
          <a:prstGeom prst="rect">
            <a:avLst/>
          </a:prstGeom>
          <a:noFill/>
          <a:ln/>
        </p:spPr>
        <p:txBody>
          <a:bodyPr wrap="square" lIns="0" tIns="0" rIns="0" bIns="0" rtlCol="0" anchor="ctr">
            <a:normAutofit/>
          </a:bodyPr>
          <a:lstStyle/>
          <a:p>
            <a:pPr algn="ctr" indent="0" marL="0">
              <a:lnSpc>
                <a:spcPct val="100000"/>
              </a:lnSpc>
              <a:buNone/>
            </a:pPr>
            <a:r>
              <a:rPr lang="en-US" sz="1550" b="1" dirty="0">
                <a:solidFill>
                  <a:srgbClr val="7C527C"/>
                </a:solidFill>
                <a:latin typeface="Microsoft YaHei" pitchFamily="34" charset="0"/>
                <a:ea typeface="Microsoft YaHei" pitchFamily="34" charset="-122"/>
                <a:cs typeface="Microsoft YaHei" pitchFamily="34" charset="-120"/>
              </a:rPr>
              <a:t>补充：DeepGauge 将内部覆盖细化为激活区间和边界覆盖，但仍属于模型内部状态。</a:t>
            </a:r>
            <a:endParaRPr lang="en-US" sz="1550" dirty="0"/>
          </a:p>
        </p:txBody>
      </p:sp>
      <p:sp>
        <p:nvSpPr>
          <p:cNvPr id="39" name="Text 37">
            <a:hlinkClick r:id="rId1" tooltip=""/>
          </p:cNvPr>
          <p:cNvSpPr/>
          <p:nvPr/>
        </p:nvSpPr>
        <p:spPr>
          <a:xfrm>
            <a:off x="585216" y="6172200"/>
            <a:ext cx="10881360" cy="182880"/>
          </a:xfrm>
          <a:prstGeom prst="rect">
            <a:avLst/>
          </a:prstGeom>
          <a:noFill/>
          <a:ln/>
        </p:spPr>
        <p:txBody>
          <a:bodyPr wrap="square" lIns="0" tIns="0" rIns="0" bIns="0" rtlCol="0" anchor="ctr">
            <a:normAutofit/>
          </a:bodyPr>
          <a:lstStyle/>
          <a:p>
            <a:pPr algn="l" indent="0" marL="0">
              <a:lnSpc>
                <a:spcPct val="100000"/>
              </a:lnSpc>
              <a:buNone/>
            </a:pPr>
            <a:r>
              <a:rPr lang="en-US" sz="850" i="1" u="sng" dirty="0">
                <a:solidFill>
                  <a:srgbClr val="6E7A84"/>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Pei et al., DeepXplore, SOSP 2017；Ma et al., DeepGauge, ASE 2018</a:t>
            </a:r>
            <a:endParaRPr lang="en-US" sz="850" dirty="0"/>
          </a:p>
        </p:txBody>
      </p:sp>
      <p:sp>
        <p:nvSpPr>
          <p:cNvPr id="40" name="Text 38"/>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02 · RELATED WORK</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IDC：把测试充分性转向输入分布</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在缺少显式输入规格时，以训练数据学习覆盖域</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86384" y="2057400"/>
            <a:ext cx="1874520" cy="1078992"/>
          </a:xfrm>
          <a:prstGeom prst="roundRect">
            <a:avLst>
              <a:gd name="adj" fmla="val 6780"/>
            </a:avLst>
          </a:prstGeom>
          <a:solidFill>
            <a:srgbClr val="FFFFFF"/>
          </a:solidFill>
          <a:ln w="12700">
            <a:solidFill>
              <a:srgbClr val="D8E0E6"/>
            </a:solidFill>
            <a:prstDash val="solid"/>
          </a:ln>
        </p:spPr>
      </p:sp>
      <p:sp>
        <p:nvSpPr>
          <p:cNvPr id="7" name="Text 5"/>
          <p:cNvSpPr/>
          <p:nvPr/>
        </p:nvSpPr>
        <p:spPr>
          <a:xfrm>
            <a:off x="969264" y="2221992"/>
            <a:ext cx="1508760" cy="292608"/>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153B5B"/>
                </a:solidFill>
                <a:latin typeface="Microsoft YaHei" pitchFamily="34" charset="0"/>
                <a:ea typeface="Microsoft YaHei" pitchFamily="34" charset="-122"/>
                <a:cs typeface="Microsoft YaHei" pitchFamily="34" charset="-120"/>
              </a:rPr>
              <a:t>训练数据</a:t>
            </a:r>
            <a:endParaRPr lang="en-US" sz="1700" dirty="0"/>
          </a:p>
        </p:txBody>
      </p:sp>
      <p:sp>
        <p:nvSpPr>
          <p:cNvPr id="8" name="Text 6"/>
          <p:cNvSpPr/>
          <p:nvPr/>
        </p:nvSpPr>
        <p:spPr>
          <a:xfrm>
            <a:off x="969264" y="2670048"/>
            <a:ext cx="1508760" cy="228600"/>
          </a:xfrm>
          <a:prstGeom prst="rect">
            <a:avLst/>
          </a:prstGeom>
          <a:noFill/>
          <a:ln/>
        </p:spPr>
        <p:txBody>
          <a:bodyPr wrap="square" lIns="0" tIns="0" rIns="0" bIns="0" rtlCol="0" anchor="ctr">
            <a:normAutofit/>
          </a:bodyPr>
          <a:lstStyle/>
          <a:p>
            <a:pPr algn="ctr" indent="0" marL="0">
              <a:lnSpc>
                <a:spcPct val="100000"/>
              </a:lnSpc>
              <a:buNone/>
            </a:pPr>
            <a:r>
              <a:rPr lang="en-US" sz="1100" dirty="0">
                <a:solidFill>
                  <a:srgbClr val="5F6B76"/>
                </a:solidFill>
                <a:latin typeface="Microsoft YaHei" pitchFamily="34" charset="0"/>
                <a:ea typeface="Microsoft YaHei" pitchFamily="34" charset="-122"/>
                <a:cs typeface="Microsoft YaHei" pitchFamily="34" charset="-120"/>
              </a:rPr>
              <a:t>隐式输入规格</a:t>
            </a:r>
            <a:endParaRPr lang="en-US" sz="1100" dirty="0"/>
          </a:p>
        </p:txBody>
      </p:sp>
      <p:sp>
        <p:nvSpPr>
          <p:cNvPr id="9" name="Shape 7"/>
          <p:cNvSpPr/>
          <p:nvPr/>
        </p:nvSpPr>
        <p:spPr>
          <a:xfrm>
            <a:off x="2724912" y="2596896"/>
            <a:ext cx="512064" cy="0"/>
          </a:xfrm>
          <a:prstGeom prst="line">
            <a:avLst/>
          </a:prstGeom>
          <a:noFill/>
          <a:ln w="25400">
            <a:solidFill>
              <a:srgbClr val="187D7B"/>
            </a:solidFill>
            <a:prstDash val="solid"/>
            <a:headEnd type="none"/>
            <a:tailEnd type="triangle"/>
          </a:ln>
        </p:spPr>
      </p:sp>
      <p:sp>
        <p:nvSpPr>
          <p:cNvPr id="10" name="Shape 8"/>
          <p:cNvSpPr/>
          <p:nvPr/>
        </p:nvSpPr>
        <p:spPr>
          <a:xfrm>
            <a:off x="3291840" y="2057400"/>
            <a:ext cx="1874520" cy="1078992"/>
          </a:xfrm>
          <a:prstGeom prst="roundRect">
            <a:avLst>
              <a:gd name="adj" fmla="val 6780"/>
            </a:avLst>
          </a:prstGeom>
          <a:solidFill>
            <a:srgbClr val="E5F3F1"/>
          </a:solidFill>
          <a:ln w="12700">
            <a:solidFill>
              <a:srgbClr val="187D7B"/>
            </a:solidFill>
            <a:prstDash val="solid"/>
          </a:ln>
        </p:spPr>
      </p:sp>
      <p:sp>
        <p:nvSpPr>
          <p:cNvPr id="11" name="Text 9"/>
          <p:cNvSpPr/>
          <p:nvPr/>
        </p:nvSpPr>
        <p:spPr>
          <a:xfrm>
            <a:off x="3474720" y="2221992"/>
            <a:ext cx="1508760" cy="292608"/>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187D7B"/>
                </a:solidFill>
                <a:latin typeface="Aptos" pitchFamily="34" charset="0"/>
                <a:ea typeface="Aptos" pitchFamily="34" charset="-122"/>
                <a:cs typeface="Aptos" pitchFamily="34" charset="-120"/>
              </a:rPr>
              <a:t>VAE</a:t>
            </a:r>
            <a:endParaRPr lang="en-US" sz="1900" dirty="0"/>
          </a:p>
        </p:txBody>
      </p:sp>
      <p:sp>
        <p:nvSpPr>
          <p:cNvPr id="12" name="Text 10"/>
          <p:cNvSpPr/>
          <p:nvPr/>
        </p:nvSpPr>
        <p:spPr>
          <a:xfrm>
            <a:off x="3474720" y="2670048"/>
            <a:ext cx="1508760" cy="228600"/>
          </a:xfrm>
          <a:prstGeom prst="rect">
            <a:avLst/>
          </a:prstGeom>
          <a:noFill/>
          <a:ln/>
        </p:spPr>
        <p:txBody>
          <a:bodyPr wrap="square" lIns="0" tIns="0" rIns="0" bIns="0" rtlCol="0" anchor="ctr">
            <a:normAutofit/>
          </a:bodyPr>
          <a:lstStyle/>
          <a:p>
            <a:pPr algn="ctr" indent="0" marL="0">
              <a:lnSpc>
                <a:spcPct val="100000"/>
              </a:lnSpc>
              <a:buNone/>
            </a:pPr>
            <a:r>
              <a:rPr lang="en-US" sz="1100" dirty="0">
                <a:solidFill>
                  <a:srgbClr val="5F6B76"/>
                </a:solidFill>
                <a:latin typeface="Microsoft YaHei" pitchFamily="34" charset="0"/>
                <a:ea typeface="Microsoft YaHei" pitchFamily="34" charset="-122"/>
                <a:cs typeface="Microsoft YaHei" pitchFamily="34" charset="-120"/>
              </a:rPr>
              <a:t>低维潜空间</a:t>
            </a:r>
            <a:endParaRPr lang="en-US" sz="1100" dirty="0"/>
          </a:p>
        </p:txBody>
      </p:sp>
      <p:sp>
        <p:nvSpPr>
          <p:cNvPr id="13" name="Shape 11"/>
          <p:cNvSpPr/>
          <p:nvPr/>
        </p:nvSpPr>
        <p:spPr>
          <a:xfrm>
            <a:off x="5230368" y="2596896"/>
            <a:ext cx="512064" cy="0"/>
          </a:xfrm>
          <a:prstGeom prst="line">
            <a:avLst/>
          </a:prstGeom>
          <a:noFill/>
          <a:ln w="25400">
            <a:solidFill>
              <a:srgbClr val="187D7B"/>
            </a:solidFill>
            <a:prstDash val="solid"/>
            <a:headEnd type="none"/>
            <a:tailEnd type="triangle"/>
          </a:ln>
        </p:spPr>
      </p:sp>
      <p:sp>
        <p:nvSpPr>
          <p:cNvPr id="14" name="Shape 12"/>
          <p:cNvSpPr/>
          <p:nvPr/>
        </p:nvSpPr>
        <p:spPr>
          <a:xfrm>
            <a:off x="5797296" y="2057400"/>
            <a:ext cx="1874520" cy="1078992"/>
          </a:xfrm>
          <a:prstGeom prst="roundRect">
            <a:avLst>
              <a:gd name="adj" fmla="val 6780"/>
            </a:avLst>
          </a:prstGeom>
          <a:solidFill>
            <a:srgbClr val="E7F0F7"/>
          </a:solidFill>
          <a:ln w="12700">
            <a:solidFill>
              <a:srgbClr val="2E6F9E"/>
            </a:solidFill>
            <a:prstDash val="solid"/>
          </a:ln>
        </p:spPr>
      </p:sp>
      <p:sp>
        <p:nvSpPr>
          <p:cNvPr id="15" name="Text 13"/>
          <p:cNvSpPr/>
          <p:nvPr/>
        </p:nvSpPr>
        <p:spPr>
          <a:xfrm>
            <a:off x="5980176" y="2221992"/>
            <a:ext cx="1508760" cy="292608"/>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2E6F9E"/>
                </a:solidFill>
                <a:latin typeface="Microsoft YaHei" pitchFamily="34" charset="0"/>
                <a:ea typeface="Microsoft YaHei" pitchFamily="34" charset="-122"/>
                <a:cs typeface="Microsoft YaHei" pitchFamily="34" charset="-120"/>
              </a:rPr>
              <a:t>可行区域</a:t>
            </a:r>
            <a:endParaRPr lang="en-US" sz="1700" dirty="0"/>
          </a:p>
        </p:txBody>
      </p:sp>
      <p:sp>
        <p:nvSpPr>
          <p:cNvPr id="16" name="Text 14"/>
          <p:cNvSpPr/>
          <p:nvPr/>
        </p:nvSpPr>
        <p:spPr>
          <a:xfrm>
            <a:off x="5980176" y="2670048"/>
            <a:ext cx="1508760" cy="228600"/>
          </a:xfrm>
          <a:prstGeom prst="rect">
            <a:avLst/>
          </a:prstGeom>
          <a:noFill/>
          <a:ln/>
        </p:spPr>
        <p:txBody>
          <a:bodyPr wrap="square" lIns="0" tIns="0" rIns="0" bIns="0" rtlCol="0" anchor="ctr">
            <a:normAutofit/>
          </a:bodyPr>
          <a:lstStyle/>
          <a:p>
            <a:pPr algn="ctr" indent="0" marL="0">
              <a:lnSpc>
                <a:spcPct val="100000"/>
              </a:lnSpc>
              <a:buNone/>
            </a:pPr>
            <a:r>
              <a:rPr lang="en-US" sz="1100" dirty="0">
                <a:solidFill>
                  <a:srgbClr val="5F6B76"/>
                </a:solidFill>
                <a:latin typeface="Microsoft YaHei" pitchFamily="34" charset="0"/>
                <a:ea typeface="Microsoft YaHei" pitchFamily="34" charset="-122"/>
                <a:cs typeface="Microsoft YaHei" pitchFamily="34" charset="-120"/>
              </a:rPr>
              <a:t>特征组合</a:t>
            </a:r>
            <a:endParaRPr lang="en-US" sz="1100" dirty="0"/>
          </a:p>
        </p:txBody>
      </p:sp>
      <p:sp>
        <p:nvSpPr>
          <p:cNvPr id="17" name="Shape 15"/>
          <p:cNvSpPr/>
          <p:nvPr/>
        </p:nvSpPr>
        <p:spPr>
          <a:xfrm>
            <a:off x="7735824" y="2596896"/>
            <a:ext cx="512064" cy="0"/>
          </a:xfrm>
          <a:prstGeom prst="line">
            <a:avLst/>
          </a:prstGeom>
          <a:noFill/>
          <a:ln w="25400">
            <a:solidFill>
              <a:srgbClr val="187D7B"/>
            </a:solidFill>
            <a:prstDash val="solid"/>
            <a:headEnd type="none"/>
            <a:tailEnd type="triangle"/>
          </a:ln>
        </p:spPr>
      </p:sp>
      <p:sp>
        <p:nvSpPr>
          <p:cNvPr id="18" name="Shape 16"/>
          <p:cNvSpPr/>
          <p:nvPr/>
        </p:nvSpPr>
        <p:spPr>
          <a:xfrm>
            <a:off x="8302752" y="2057400"/>
            <a:ext cx="2944368" cy="1078992"/>
          </a:xfrm>
          <a:prstGeom prst="roundRect">
            <a:avLst>
              <a:gd name="adj" fmla="val 6780"/>
            </a:avLst>
          </a:prstGeom>
          <a:solidFill>
            <a:srgbClr val="FCECDD"/>
          </a:solidFill>
          <a:ln w="12700">
            <a:solidFill>
              <a:srgbClr val="E87524"/>
            </a:solidFill>
            <a:prstDash val="solid"/>
          </a:ln>
        </p:spPr>
      </p:sp>
      <p:sp>
        <p:nvSpPr>
          <p:cNvPr id="19" name="Text 17"/>
          <p:cNvSpPr/>
          <p:nvPr/>
        </p:nvSpPr>
        <p:spPr>
          <a:xfrm>
            <a:off x="8458200" y="2212848"/>
            <a:ext cx="2633472" cy="329184"/>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E87524"/>
                </a:solidFill>
                <a:latin typeface="Aptos" pitchFamily="34" charset="0"/>
                <a:ea typeface="Aptos" pitchFamily="34" charset="-122"/>
                <a:cs typeface="Aptos" pitchFamily="34" charset="-120"/>
              </a:rPr>
              <a:t>Input Distribution Coverage</a:t>
            </a:r>
            <a:endParaRPr lang="en-US" sz="1400" dirty="0"/>
          </a:p>
        </p:txBody>
      </p:sp>
      <p:sp>
        <p:nvSpPr>
          <p:cNvPr id="20" name="Text 18"/>
          <p:cNvSpPr/>
          <p:nvPr/>
        </p:nvSpPr>
        <p:spPr>
          <a:xfrm>
            <a:off x="8458200" y="2670048"/>
            <a:ext cx="2633472" cy="228600"/>
          </a:xfrm>
          <a:prstGeom prst="rect">
            <a:avLst/>
          </a:prstGeom>
          <a:noFill/>
          <a:ln/>
        </p:spPr>
        <p:txBody>
          <a:bodyPr wrap="square" lIns="0" tIns="0" rIns="0" bIns="0" rtlCol="0" anchor="ctr">
            <a:normAutofit/>
          </a:bodyPr>
          <a:lstStyle/>
          <a:p>
            <a:pPr algn="ctr" indent="0" marL="0">
              <a:lnSpc>
                <a:spcPct val="100000"/>
              </a:lnSpc>
              <a:buNone/>
            </a:pPr>
            <a:r>
              <a:rPr lang="en-US" sz="1100" dirty="0">
                <a:solidFill>
                  <a:srgbClr val="5F6B76"/>
                </a:solidFill>
                <a:latin typeface="Microsoft YaHei" pitchFamily="34" charset="0"/>
                <a:ea typeface="Microsoft YaHei" pitchFamily="34" charset="-122"/>
                <a:cs typeface="Microsoft YaHei" pitchFamily="34" charset="-120"/>
              </a:rPr>
              <a:t>测试输入覆盖了哪些组合</a:t>
            </a:r>
            <a:endParaRPr lang="en-US" sz="1100" dirty="0"/>
          </a:p>
        </p:txBody>
      </p:sp>
      <p:sp>
        <p:nvSpPr>
          <p:cNvPr id="21" name="Shape 19"/>
          <p:cNvSpPr/>
          <p:nvPr/>
        </p:nvSpPr>
        <p:spPr>
          <a:xfrm>
            <a:off x="786384" y="3547872"/>
            <a:ext cx="3108960" cy="1572768"/>
          </a:xfrm>
          <a:prstGeom prst="roundRect">
            <a:avLst>
              <a:gd name="adj" fmla="val 4651"/>
            </a:avLst>
          </a:prstGeom>
          <a:solidFill>
            <a:srgbClr val="FFFFFF"/>
          </a:solidFill>
          <a:ln w="12700">
            <a:solidFill>
              <a:srgbClr val="D8E0E6"/>
            </a:solidFill>
            <a:prstDash val="solid"/>
          </a:ln>
        </p:spPr>
      </p:sp>
      <p:sp>
        <p:nvSpPr>
          <p:cNvPr id="22" name="Shape 20"/>
          <p:cNvSpPr/>
          <p:nvPr/>
        </p:nvSpPr>
        <p:spPr>
          <a:xfrm>
            <a:off x="987552" y="3758184"/>
            <a:ext cx="1225296" cy="329184"/>
          </a:xfrm>
          <a:prstGeom prst="roundRect">
            <a:avLst>
              <a:gd name="adj" fmla="val 50000"/>
            </a:avLst>
          </a:prstGeom>
          <a:solidFill>
            <a:srgbClr val="E7F0F7"/>
          </a:solidFill>
          <a:ln w="12700">
            <a:solidFill>
              <a:srgbClr val="E7F0F7"/>
            </a:solidFill>
            <a:prstDash val="solid"/>
          </a:ln>
        </p:spPr>
      </p:sp>
      <p:sp>
        <p:nvSpPr>
          <p:cNvPr id="23" name="Text 21"/>
          <p:cNvSpPr/>
          <p:nvPr/>
        </p:nvSpPr>
        <p:spPr>
          <a:xfrm>
            <a:off x="1060704" y="3776472"/>
            <a:ext cx="10789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E6F9E"/>
                </a:solidFill>
                <a:latin typeface="Microsoft YaHei" pitchFamily="34" charset="0"/>
                <a:ea typeface="Microsoft YaHei" pitchFamily="34" charset="-122"/>
                <a:cs typeface="Microsoft YaHei" pitchFamily="34" charset="-120"/>
              </a:rPr>
              <a:t>解决什么问题</a:t>
            </a:r>
            <a:endParaRPr lang="en-US" sz="1100" dirty="0"/>
          </a:p>
        </p:txBody>
      </p:sp>
      <p:sp>
        <p:nvSpPr>
          <p:cNvPr id="24" name="Text 22"/>
          <p:cNvSpPr/>
          <p:nvPr/>
        </p:nvSpPr>
        <p:spPr>
          <a:xfrm>
            <a:off x="987552" y="4178808"/>
            <a:ext cx="2706624" cy="694944"/>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7212B"/>
                </a:solidFill>
                <a:latin typeface="Microsoft YaHei" pitchFamily="34" charset="0"/>
                <a:ea typeface="Microsoft YaHei" pitchFamily="34" charset="-122"/>
                <a:cs typeface="Microsoft YaHei" pitchFamily="34" charset="-120"/>
              </a:rPr>
              <a:t>神经网络缺少显式输入规格，因此难以判断测试集覆盖了哪些有效输入区域。</a:t>
            </a:r>
            <a:endParaRPr lang="en-US" sz="1450" dirty="0"/>
          </a:p>
        </p:txBody>
      </p:sp>
      <p:sp>
        <p:nvSpPr>
          <p:cNvPr id="25" name="Shape 23"/>
          <p:cNvSpPr/>
          <p:nvPr/>
        </p:nvSpPr>
        <p:spPr>
          <a:xfrm>
            <a:off x="4078224" y="3547872"/>
            <a:ext cx="3108960" cy="1572768"/>
          </a:xfrm>
          <a:prstGeom prst="roundRect">
            <a:avLst>
              <a:gd name="adj" fmla="val 4651"/>
            </a:avLst>
          </a:prstGeom>
          <a:solidFill>
            <a:srgbClr val="FFFFFF"/>
          </a:solidFill>
          <a:ln w="12700">
            <a:solidFill>
              <a:srgbClr val="D8E0E6"/>
            </a:solidFill>
            <a:prstDash val="solid"/>
          </a:ln>
        </p:spPr>
      </p:sp>
      <p:sp>
        <p:nvSpPr>
          <p:cNvPr id="26" name="Shape 24"/>
          <p:cNvSpPr/>
          <p:nvPr/>
        </p:nvSpPr>
        <p:spPr>
          <a:xfrm>
            <a:off x="4279392" y="3758184"/>
            <a:ext cx="1225296" cy="329184"/>
          </a:xfrm>
          <a:prstGeom prst="roundRect">
            <a:avLst>
              <a:gd name="adj" fmla="val 50000"/>
            </a:avLst>
          </a:prstGeom>
          <a:solidFill>
            <a:srgbClr val="E5F3F1"/>
          </a:solidFill>
          <a:ln w="12700">
            <a:solidFill>
              <a:srgbClr val="E5F3F1"/>
            </a:solidFill>
            <a:prstDash val="solid"/>
          </a:ln>
        </p:spPr>
      </p:sp>
      <p:sp>
        <p:nvSpPr>
          <p:cNvPr id="27" name="Text 25"/>
          <p:cNvSpPr/>
          <p:nvPr/>
        </p:nvSpPr>
        <p:spPr>
          <a:xfrm>
            <a:off x="4352544" y="3776472"/>
            <a:ext cx="10789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87D7B"/>
                </a:solidFill>
                <a:latin typeface="Microsoft YaHei" pitchFamily="34" charset="0"/>
                <a:ea typeface="Microsoft YaHei" pitchFamily="34" charset="-122"/>
                <a:cs typeface="Microsoft YaHei" pitchFamily="34" charset="-120"/>
              </a:rPr>
              <a:t>核心思路</a:t>
            </a:r>
            <a:endParaRPr lang="en-US" sz="1100" dirty="0"/>
          </a:p>
        </p:txBody>
      </p:sp>
      <p:sp>
        <p:nvSpPr>
          <p:cNvPr id="28" name="Text 26"/>
          <p:cNvSpPr/>
          <p:nvPr/>
        </p:nvSpPr>
        <p:spPr>
          <a:xfrm>
            <a:off x="4279392" y="4178808"/>
            <a:ext cx="2706624" cy="694944"/>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7212B"/>
                </a:solidFill>
                <a:latin typeface="Microsoft YaHei" pitchFamily="34" charset="0"/>
                <a:ea typeface="Microsoft YaHei" pitchFamily="34" charset="-122"/>
                <a:cs typeface="Microsoft YaHei" pitchFamily="34" charset="-120"/>
              </a:rPr>
              <a:t>把训练数据当作隐式规格，用 VAE 学习潜空间，再统计测试输入覆盖的可行特征组合。</a:t>
            </a:r>
            <a:endParaRPr lang="en-US" sz="1450" dirty="0"/>
          </a:p>
        </p:txBody>
      </p:sp>
      <p:sp>
        <p:nvSpPr>
          <p:cNvPr id="29" name="Shape 27"/>
          <p:cNvSpPr/>
          <p:nvPr/>
        </p:nvSpPr>
        <p:spPr>
          <a:xfrm>
            <a:off x="7370064" y="3547872"/>
            <a:ext cx="3108960" cy="1572768"/>
          </a:xfrm>
          <a:prstGeom prst="roundRect">
            <a:avLst>
              <a:gd name="adj" fmla="val 4651"/>
            </a:avLst>
          </a:prstGeom>
          <a:solidFill>
            <a:srgbClr val="FFFFFF"/>
          </a:solidFill>
          <a:ln w="12700">
            <a:solidFill>
              <a:srgbClr val="D8E0E6"/>
            </a:solidFill>
            <a:prstDash val="solid"/>
          </a:ln>
        </p:spPr>
      </p:sp>
      <p:sp>
        <p:nvSpPr>
          <p:cNvPr id="30" name="Shape 28"/>
          <p:cNvSpPr/>
          <p:nvPr/>
        </p:nvSpPr>
        <p:spPr>
          <a:xfrm>
            <a:off x="7571232" y="3758184"/>
            <a:ext cx="1225296" cy="329184"/>
          </a:xfrm>
          <a:prstGeom prst="roundRect">
            <a:avLst>
              <a:gd name="adj" fmla="val 50000"/>
            </a:avLst>
          </a:prstGeom>
          <a:solidFill>
            <a:srgbClr val="FCECDD"/>
          </a:solidFill>
          <a:ln w="12700">
            <a:solidFill>
              <a:srgbClr val="FCECDD"/>
            </a:solidFill>
            <a:prstDash val="solid"/>
          </a:ln>
        </p:spPr>
      </p:sp>
      <p:sp>
        <p:nvSpPr>
          <p:cNvPr id="31" name="Text 29"/>
          <p:cNvSpPr/>
          <p:nvPr/>
        </p:nvSpPr>
        <p:spPr>
          <a:xfrm>
            <a:off x="7644384" y="3776472"/>
            <a:ext cx="1078992"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E87524"/>
                </a:solidFill>
                <a:latin typeface="Microsoft YaHei" pitchFamily="34" charset="0"/>
                <a:ea typeface="Microsoft YaHei" pitchFamily="34" charset="-122"/>
                <a:cs typeface="Microsoft YaHei" pitchFamily="34" charset="-120"/>
              </a:rPr>
              <a:t>与我的关系</a:t>
            </a:r>
            <a:endParaRPr lang="en-US" sz="1100" dirty="0"/>
          </a:p>
        </p:txBody>
      </p:sp>
      <p:sp>
        <p:nvSpPr>
          <p:cNvPr id="32" name="Text 30"/>
          <p:cNvSpPr/>
          <p:nvPr/>
        </p:nvSpPr>
        <p:spPr>
          <a:xfrm>
            <a:off x="7571232" y="4178808"/>
            <a:ext cx="2706624" cy="694944"/>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7212B"/>
                </a:solidFill>
                <a:latin typeface="Microsoft YaHei" pitchFamily="34" charset="0"/>
                <a:ea typeface="Microsoft YaHei" pitchFamily="34" charset="-122"/>
                <a:cs typeface="Microsoft YaHei" pitchFamily="34" charset="-120"/>
              </a:rPr>
              <a:t>它把覆盖转向黑盒输入域；我进一步使用显式视觉状态，让缺口能直接变成补图条件。</a:t>
            </a:r>
            <a:endParaRPr lang="en-US" sz="1450" dirty="0"/>
          </a:p>
        </p:txBody>
      </p:sp>
      <p:sp>
        <p:nvSpPr>
          <p:cNvPr id="33" name="Shape 31"/>
          <p:cNvSpPr/>
          <p:nvPr/>
        </p:nvSpPr>
        <p:spPr>
          <a:xfrm>
            <a:off x="1060704" y="5404104"/>
            <a:ext cx="10058400" cy="502920"/>
          </a:xfrm>
          <a:prstGeom prst="roundRect">
            <a:avLst>
              <a:gd name="adj" fmla="val 14545"/>
            </a:avLst>
          </a:prstGeom>
          <a:solidFill>
            <a:srgbClr val="F8E7E4"/>
          </a:solidFill>
          <a:ln w="12700">
            <a:solidFill>
              <a:srgbClr val="B84A3A"/>
            </a:solidFill>
            <a:prstDash val="solid"/>
          </a:ln>
        </p:spPr>
      </p:sp>
      <p:sp>
        <p:nvSpPr>
          <p:cNvPr id="34" name="Text 32"/>
          <p:cNvSpPr/>
          <p:nvPr/>
        </p:nvSpPr>
        <p:spPr>
          <a:xfrm>
            <a:off x="1298448" y="5522976"/>
            <a:ext cx="9582912" cy="265176"/>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B84A3A"/>
                </a:solidFill>
                <a:latin typeface="Microsoft YaHei" pitchFamily="34" charset="0"/>
                <a:ea typeface="Microsoft YaHei" pitchFamily="34" charset="-122"/>
                <a:cs typeface="Microsoft YaHei" pitchFamily="34" charset="-120"/>
              </a:rPr>
              <a:t>边界：显式状态更便于解释和行动，但不能据此声称它的表达能力一定优于潜变量。</a:t>
            </a:r>
            <a:endParaRPr lang="en-US" sz="1450" dirty="0"/>
          </a:p>
        </p:txBody>
      </p:sp>
      <p:sp>
        <p:nvSpPr>
          <p:cNvPr id="35" name="Text 33">
            <a:hlinkClick r:id="rId1" tooltip=""/>
          </p:cNvPr>
          <p:cNvSpPr/>
          <p:nvPr/>
        </p:nvSpPr>
        <p:spPr>
          <a:xfrm>
            <a:off x="585216" y="6172200"/>
            <a:ext cx="10881360" cy="182880"/>
          </a:xfrm>
          <a:prstGeom prst="rect">
            <a:avLst/>
          </a:prstGeom>
          <a:noFill/>
          <a:ln/>
        </p:spPr>
        <p:txBody>
          <a:bodyPr wrap="square" lIns="0" tIns="0" rIns="0" bIns="0" rtlCol="0" anchor="ctr">
            <a:normAutofit/>
          </a:bodyPr>
          <a:lstStyle/>
          <a:p>
            <a:pPr algn="l" indent="0" marL="0">
              <a:lnSpc>
                <a:spcPct val="100000"/>
              </a:lnSpc>
              <a:buNone/>
            </a:pPr>
            <a:r>
              <a:rPr lang="en-US" sz="850" i="1" u="sng" dirty="0">
                <a:solidFill>
                  <a:srgbClr val="6E7A84"/>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Dola, Dwyer &amp; Soffa, Input Distribution Coverage, ACM TOSEM 2023 · DOI:10.1145/3576040</a:t>
            </a:r>
            <a:endParaRPr lang="en-US" sz="850" dirty="0"/>
          </a:p>
        </p:txBody>
      </p:sp>
      <p:sp>
        <p:nvSpPr>
          <p:cNvPr id="36" name="Text 34"/>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02 · RELATED WORK</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可解释条件与缺口补足：离当前工作更近一步</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一类工作定义可读的覆盖空间，另一类工作把缺口转成数据行动</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676656" y="1755648"/>
            <a:ext cx="5330952" cy="3547872"/>
          </a:xfrm>
          <a:prstGeom prst="roundRect">
            <a:avLst>
              <a:gd name="adj" fmla="val 2062"/>
            </a:avLst>
          </a:prstGeom>
          <a:solidFill>
            <a:srgbClr val="FFFFFF"/>
          </a:solidFill>
          <a:ln w="12700">
            <a:solidFill>
              <a:srgbClr val="D8E0E6"/>
            </a:solidFill>
            <a:prstDash val="solid"/>
          </a:ln>
        </p:spPr>
      </p:sp>
      <p:sp>
        <p:nvSpPr>
          <p:cNvPr id="7" name="Shape 5"/>
          <p:cNvSpPr/>
          <p:nvPr/>
        </p:nvSpPr>
        <p:spPr>
          <a:xfrm>
            <a:off x="676656" y="1755648"/>
            <a:ext cx="5330952" cy="91440"/>
          </a:xfrm>
          <a:prstGeom prst="rect">
            <a:avLst/>
          </a:prstGeom>
          <a:solidFill>
            <a:srgbClr val="7C527C"/>
          </a:solidFill>
          <a:ln w="12700">
            <a:solidFill>
              <a:srgbClr val="7C527C"/>
            </a:solidFill>
            <a:prstDash val="solid"/>
          </a:ln>
        </p:spPr>
      </p:sp>
      <p:sp>
        <p:nvSpPr>
          <p:cNvPr id="8" name="Shape 6"/>
          <p:cNvSpPr/>
          <p:nvPr/>
        </p:nvSpPr>
        <p:spPr>
          <a:xfrm>
            <a:off x="960120" y="2029968"/>
            <a:ext cx="2267712" cy="329184"/>
          </a:xfrm>
          <a:prstGeom prst="roundRect">
            <a:avLst>
              <a:gd name="adj" fmla="val 50000"/>
            </a:avLst>
          </a:prstGeom>
          <a:solidFill>
            <a:srgbClr val="F1EAF2"/>
          </a:solidFill>
          <a:ln w="12700">
            <a:solidFill>
              <a:srgbClr val="F1EAF2"/>
            </a:solidFill>
            <a:prstDash val="solid"/>
          </a:ln>
        </p:spPr>
      </p:sp>
      <p:sp>
        <p:nvSpPr>
          <p:cNvPr id="9" name="Text 7"/>
          <p:cNvSpPr/>
          <p:nvPr/>
        </p:nvSpPr>
        <p:spPr>
          <a:xfrm>
            <a:off x="1033272" y="2048256"/>
            <a:ext cx="2121408"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7C527C"/>
                </a:solidFill>
                <a:latin typeface="Microsoft YaHei" pitchFamily="34" charset="0"/>
                <a:ea typeface="Microsoft YaHei" pitchFamily="34" charset="-122"/>
                <a:cs typeface="Microsoft YaHei" pitchFamily="34" charset="-120"/>
              </a:rPr>
              <a:t>DeepHyperion · ISSTA 2021</a:t>
            </a:r>
            <a:endParaRPr lang="en-US" sz="1100" dirty="0"/>
          </a:p>
        </p:txBody>
      </p:sp>
      <p:sp>
        <p:nvSpPr>
          <p:cNvPr id="10" name="Text 8"/>
          <p:cNvSpPr/>
          <p:nvPr/>
        </p:nvSpPr>
        <p:spPr>
          <a:xfrm>
            <a:off x="960120" y="2496312"/>
            <a:ext cx="4480560" cy="347472"/>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153B5B"/>
                </a:solidFill>
                <a:latin typeface="Microsoft YaHei" pitchFamily="34" charset="0"/>
                <a:ea typeface="Microsoft YaHei" pitchFamily="34" charset="-122"/>
                <a:cs typeface="Microsoft YaHei" pitchFamily="34" charset="-120"/>
              </a:rPr>
              <a:t>可解释特征地图</a:t>
            </a:r>
            <a:endParaRPr lang="en-US" sz="2100" dirty="0"/>
          </a:p>
        </p:txBody>
      </p:sp>
      <p:sp>
        <p:nvSpPr>
          <p:cNvPr id="11" name="Text 9"/>
          <p:cNvSpPr/>
          <p:nvPr/>
        </p:nvSpPr>
        <p:spPr>
          <a:xfrm>
            <a:off x="960120" y="2999232"/>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7C527C"/>
                </a:solidFill>
                <a:latin typeface="Microsoft YaHei" pitchFamily="34" charset="0"/>
                <a:ea typeface="Microsoft YaHei" pitchFamily="34" charset="-122"/>
                <a:cs typeface="Microsoft YaHei" pitchFamily="34" charset="-120"/>
              </a:rPr>
              <a:t>解决问题</a:t>
            </a:r>
            <a:endParaRPr lang="en-US" sz="1250" dirty="0"/>
          </a:p>
        </p:txBody>
      </p:sp>
      <p:sp>
        <p:nvSpPr>
          <p:cNvPr id="12" name="Text 10"/>
          <p:cNvSpPr/>
          <p:nvPr/>
        </p:nvSpPr>
        <p:spPr>
          <a:xfrm>
            <a:off x="1856232" y="2953512"/>
            <a:ext cx="3730752"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生成了很多测试输入后，仍难说明系统究竟在哪些输入条件下容易失效。</a:t>
            </a:r>
            <a:endParaRPr lang="en-US" sz="1350" dirty="0"/>
          </a:p>
        </p:txBody>
      </p:sp>
      <p:sp>
        <p:nvSpPr>
          <p:cNvPr id="13" name="Text 11"/>
          <p:cNvSpPr/>
          <p:nvPr/>
        </p:nvSpPr>
        <p:spPr>
          <a:xfrm>
            <a:off x="960120" y="3694176"/>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7C527C"/>
                </a:solidFill>
                <a:latin typeface="Microsoft YaHei" pitchFamily="34" charset="0"/>
                <a:ea typeface="Microsoft YaHei" pitchFamily="34" charset="-122"/>
                <a:cs typeface="Microsoft YaHei" pitchFamily="34" charset="-120"/>
              </a:rPr>
              <a:t>核心思路</a:t>
            </a:r>
            <a:endParaRPr lang="en-US" sz="1250" dirty="0"/>
          </a:p>
        </p:txBody>
      </p:sp>
      <p:sp>
        <p:nvSpPr>
          <p:cNvPr id="14" name="Text 12"/>
          <p:cNvSpPr/>
          <p:nvPr/>
        </p:nvSpPr>
        <p:spPr>
          <a:xfrm>
            <a:off x="1856232" y="3621024"/>
            <a:ext cx="3730752" cy="53035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用领域可理解的特征作为地图坐标，通过 illumination search 探索不同区域并记录行为。</a:t>
            </a:r>
            <a:endParaRPr lang="en-US" sz="1350" dirty="0"/>
          </a:p>
        </p:txBody>
      </p:sp>
      <p:sp>
        <p:nvSpPr>
          <p:cNvPr id="15" name="Text 13"/>
          <p:cNvSpPr/>
          <p:nvPr/>
        </p:nvSpPr>
        <p:spPr>
          <a:xfrm>
            <a:off x="960120" y="4462272"/>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7C527C"/>
                </a:solidFill>
                <a:latin typeface="Microsoft YaHei" pitchFamily="34" charset="0"/>
                <a:ea typeface="Microsoft YaHei" pitchFamily="34" charset="-122"/>
                <a:cs typeface="Microsoft YaHei" pitchFamily="34" charset="-120"/>
              </a:rPr>
              <a:t>与我关系</a:t>
            </a:r>
            <a:endParaRPr lang="en-US" sz="1250" dirty="0"/>
          </a:p>
        </p:txBody>
      </p:sp>
      <p:sp>
        <p:nvSpPr>
          <p:cNvPr id="16" name="Text 14"/>
          <p:cNvSpPr/>
          <p:nvPr/>
        </p:nvSpPr>
        <p:spPr>
          <a:xfrm>
            <a:off x="1856232" y="4389120"/>
            <a:ext cx="3730752" cy="53035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说明视觉状态可以成为测试空间坐标，使覆盖缺口能够对应具体、可读的变化。</a:t>
            </a:r>
            <a:endParaRPr lang="en-US" sz="1350" dirty="0"/>
          </a:p>
        </p:txBody>
      </p:sp>
      <p:sp>
        <p:nvSpPr>
          <p:cNvPr id="17" name="Shape 15"/>
          <p:cNvSpPr/>
          <p:nvPr/>
        </p:nvSpPr>
        <p:spPr>
          <a:xfrm>
            <a:off x="6199632" y="1755648"/>
            <a:ext cx="5330952" cy="3547872"/>
          </a:xfrm>
          <a:prstGeom prst="roundRect">
            <a:avLst>
              <a:gd name="adj" fmla="val 2062"/>
            </a:avLst>
          </a:prstGeom>
          <a:solidFill>
            <a:srgbClr val="FFFFFF"/>
          </a:solidFill>
          <a:ln w="12700">
            <a:solidFill>
              <a:srgbClr val="D8E0E6"/>
            </a:solidFill>
            <a:prstDash val="solid"/>
          </a:ln>
        </p:spPr>
      </p:sp>
      <p:sp>
        <p:nvSpPr>
          <p:cNvPr id="18" name="Shape 16"/>
          <p:cNvSpPr/>
          <p:nvPr/>
        </p:nvSpPr>
        <p:spPr>
          <a:xfrm>
            <a:off x="6199632" y="1755648"/>
            <a:ext cx="5330952" cy="91440"/>
          </a:xfrm>
          <a:prstGeom prst="rect">
            <a:avLst/>
          </a:prstGeom>
          <a:solidFill>
            <a:srgbClr val="E87524"/>
          </a:solidFill>
          <a:ln w="12700">
            <a:solidFill>
              <a:srgbClr val="E87524"/>
            </a:solidFill>
            <a:prstDash val="solid"/>
          </a:ln>
        </p:spPr>
      </p:sp>
      <p:sp>
        <p:nvSpPr>
          <p:cNvPr id="19" name="Shape 17"/>
          <p:cNvSpPr/>
          <p:nvPr/>
        </p:nvSpPr>
        <p:spPr>
          <a:xfrm>
            <a:off x="6483096" y="2029968"/>
            <a:ext cx="2249424" cy="329184"/>
          </a:xfrm>
          <a:prstGeom prst="roundRect">
            <a:avLst>
              <a:gd name="adj" fmla="val 50000"/>
            </a:avLst>
          </a:prstGeom>
          <a:solidFill>
            <a:srgbClr val="FCECDD"/>
          </a:solidFill>
          <a:ln w="12700">
            <a:solidFill>
              <a:srgbClr val="FCECDD"/>
            </a:solidFill>
            <a:prstDash val="solid"/>
          </a:ln>
        </p:spPr>
      </p:sp>
      <p:sp>
        <p:nvSpPr>
          <p:cNvPr id="20" name="Text 18"/>
          <p:cNvSpPr/>
          <p:nvPr/>
        </p:nvSpPr>
        <p:spPr>
          <a:xfrm>
            <a:off x="6556248" y="2048256"/>
            <a:ext cx="210312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E87524"/>
                </a:solidFill>
                <a:latin typeface="Microsoft YaHei" pitchFamily="34" charset="0"/>
                <a:ea typeface="Microsoft YaHei" pitchFamily="34" charset="-122"/>
                <a:cs typeface="Microsoft YaHei" pitchFamily="34" charset="-120"/>
              </a:rPr>
              <a:t>Asudeh et al. · ICDE 2019</a:t>
            </a:r>
            <a:endParaRPr lang="en-US" sz="1100" dirty="0"/>
          </a:p>
        </p:txBody>
      </p:sp>
      <p:sp>
        <p:nvSpPr>
          <p:cNvPr id="21" name="Text 19"/>
          <p:cNvSpPr/>
          <p:nvPr/>
        </p:nvSpPr>
        <p:spPr>
          <a:xfrm>
            <a:off x="6483096" y="2496312"/>
            <a:ext cx="4480560" cy="347472"/>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153B5B"/>
                </a:solidFill>
                <a:latin typeface="Microsoft YaHei" pitchFamily="34" charset="0"/>
                <a:ea typeface="Microsoft YaHei" pitchFamily="34" charset="-122"/>
                <a:cs typeface="Microsoft YaHei" pitchFamily="34" charset="-120"/>
              </a:rPr>
              <a:t>属性组合欠覆盖与补足</a:t>
            </a:r>
            <a:endParaRPr lang="en-US" sz="2100" dirty="0"/>
          </a:p>
        </p:txBody>
      </p:sp>
      <p:sp>
        <p:nvSpPr>
          <p:cNvPr id="22" name="Text 20"/>
          <p:cNvSpPr/>
          <p:nvPr/>
        </p:nvSpPr>
        <p:spPr>
          <a:xfrm>
            <a:off x="6483096" y="2999232"/>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E87524"/>
                </a:solidFill>
                <a:latin typeface="Microsoft YaHei" pitchFamily="34" charset="0"/>
                <a:ea typeface="Microsoft YaHei" pitchFamily="34" charset="-122"/>
                <a:cs typeface="Microsoft YaHei" pitchFamily="34" charset="-120"/>
              </a:rPr>
              <a:t>解决问题</a:t>
            </a:r>
            <a:endParaRPr lang="en-US" sz="1250" dirty="0"/>
          </a:p>
        </p:txBody>
      </p:sp>
      <p:sp>
        <p:nvSpPr>
          <p:cNvPr id="23" name="Text 21"/>
          <p:cNvSpPr/>
          <p:nvPr/>
        </p:nvSpPr>
        <p:spPr>
          <a:xfrm>
            <a:off x="7379208" y="2953512"/>
            <a:ext cx="3730752"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多维离散属性组合中，哪些群体覆盖不足，以及还需要补充多少数据？</a:t>
            </a:r>
            <a:endParaRPr lang="en-US" sz="1350" dirty="0"/>
          </a:p>
        </p:txBody>
      </p:sp>
      <p:sp>
        <p:nvSpPr>
          <p:cNvPr id="24" name="Text 22"/>
          <p:cNvSpPr/>
          <p:nvPr/>
        </p:nvSpPr>
        <p:spPr>
          <a:xfrm>
            <a:off x="6483096" y="3694176"/>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E87524"/>
                </a:solidFill>
                <a:latin typeface="Microsoft YaHei" pitchFamily="34" charset="0"/>
                <a:ea typeface="Microsoft YaHei" pitchFamily="34" charset="-122"/>
                <a:cs typeface="Microsoft YaHei" pitchFamily="34" charset="-120"/>
              </a:rPr>
              <a:t>核心思路</a:t>
            </a:r>
            <a:endParaRPr lang="en-US" sz="1250" dirty="0"/>
          </a:p>
        </p:txBody>
      </p:sp>
      <p:sp>
        <p:nvSpPr>
          <p:cNvPr id="25" name="Text 23"/>
          <p:cNvSpPr/>
          <p:nvPr/>
        </p:nvSpPr>
        <p:spPr>
          <a:xfrm>
            <a:off x="7379208" y="3621024"/>
            <a:ext cx="3730752" cy="53035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先定位 under-covered groups，再把数据补充转化为面向属性组合缺口的选择问题。</a:t>
            </a:r>
            <a:endParaRPr lang="en-US" sz="1350" dirty="0"/>
          </a:p>
        </p:txBody>
      </p:sp>
      <p:sp>
        <p:nvSpPr>
          <p:cNvPr id="26" name="Text 24"/>
          <p:cNvSpPr/>
          <p:nvPr/>
        </p:nvSpPr>
        <p:spPr>
          <a:xfrm>
            <a:off x="6483096" y="4462272"/>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E87524"/>
                </a:solidFill>
                <a:latin typeface="Microsoft YaHei" pitchFamily="34" charset="0"/>
                <a:ea typeface="Microsoft YaHei" pitchFamily="34" charset="-122"/>
                <a:cs typeface="Microsoft YaHei" pitchFamily="34" charset="-120"/>
              </a:rPr>
              <a:t>与我关系</a:t>
            </a:r>
            <a:endParaRPr lang="en-US" sz="1250" dirty="0"/>
          </a:p>
        </p:txBody>
      </p:sp>
      <p:sp>
        <p:nvSpPr>
          <p:cNvPr id="27" name="Text 25"/>
          <p:cNvSpPr/>
          <p:nvPr/>
        </p:nvSpPr>
        <p:spPr>
          <a:xfrm>
            <a:off x="7379208" y="4389120"/>
            <a:ext cx="3730752" cy="53035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直接支持“发现低频视觉状态，再从候选池定向补图”的研究思路。</a:t>
            </a:r>
            <a:endParaRPr lang="en-US" sz="1350" dirty="0"/>
          </a:p>
        </p:txBody>
      </p:sp>
      <p:sp>
        <p:nvSpPr>
          <p:cNvPr id="28" name="Shape 26"/>
          <p:cNvSpPr/>
          <p:nvPr/>
        </p:nvSpPr>
        <p:spPr>
          <a:xfrm>
            <a:off x="1225296" y="5541264"/>
            <a:ext cx="9738360" cy="457200"/>
          </a:xfrm>
          <a:prstGeom prst="roundRect">
            <a:avLst>
              <a:gd name="adj" fmla="val 16000"/>
            </a:avLst>
          </a:prstGeom>
          <a:solidFill>
            <a:srgbClr val="F8E7E4"/>
          </a:solidFill>
          <a:ln w="12700">
            <a:solidFill>
              <a:srgbClr val="B84A3A"/>
            </a:solidFill>
            <a:prstDash val="solid"/>
          </a:ln>
        </p:spPr>
      </p:sp>
      <p:sp>
        <p:nvSpPr>
          <p:cNvPr id="29" name="Text 27"/>
          <p:cNvSpPr/>
          <p:nvPr/>
        </p:nvSpPr>
        <p:spPr>
          <a:xfrm>
            <a:off x="1426464" y="5650992"/>
            <a:ext cx="9336024" cy="256032"/>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B84A3A"/>
                </a:solidFill>
                <a:latin typeface="Microsoft YaHei" pitchFamily="34" charset="0"/>
                <a:ea typeface="Microsoft YaHei" pitchFamily="34" charset="-122"/>
                <a:cs typeface="Microsoft YaHei" pitchFamily="34" charset="-120"/>
              </a:rPr>
              <a:t>共同前提尚未自动成立：特征必须与任务相关，而且标签本身必须可靠。</a:t>
            </a:r>
            <a:endParaRPr lang="en-US" sz="1700" dirty="0"/>
          </a:p>
        </p:txBody>
      </p:sp>
      <p:sp>
        <p:nvSpPr>
          <p:cNvPr id="30" name="Text 28">
            <a:hlinkClick r:id="rId1" tooltip=""/>
          </p:cNvPr>
          <p:cNvSpPr/>
          <p:nvPr/>
        </p:nvSpPr>
        <p:spPr>
          <a:xfrm>
            <a:off x="585216" y="6172200"/>
            <a:ext cx="10881360" cy="182880"/>
          </a:xfrm>
          <a:prstGeom prst="rect">
            <a:avLst/>
          </a:prstGeom>
          <a:noFill/>
          <a:ln/>
        </p:spPr>
        <p:txBody>
          <a:bodyPr wrap="square" lIns="0" tIns="0" rIns="0" bIns="0" rtlCol="0" anchor="ctr">
            <a:normAutofit/>
          </a:bodyPr>
          <a:lstStyle/>
          <a:p>
            <a:pPr algn="l" indent="0" marL="0">
              <a:lnSpc>
                <a:spcPct val="100000"/>
              </a:lnSpc>
              <a:buNone/>
            </a:pPr>
            <a:r>
              <a:rPr lang="en-US" sz="850" i="1" u="sng" dirty="0">
                <a:solidFill>
                  <a:srgbClr val="6E7A84"/>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Zohdinasab et al., DeepHyperion, ISSTA 2021；Asudeh et al., ICDE 2019</a:t>
            </a:r>
            <a:endParaRPr lang="en-US" sz="850" dirty="0"/>
          </a:p>
        </p:txBody>
      </p:sp>
      <p:sp>
        <p:nvSpPr>
          <p:cNvPr id="31" name="Text 29"/>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02 · RELATED WORK</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覆盖分数不是终点：还要回答“有没有测试收益”</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TEASMA约束效用结论，SELECT约束策略比较</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694944" y="1783080"/>
            <a:ext cx="5303520" cy="3547872"/>
          </a:xfrm>
          <a:prstGeom prst="roundRect">
            <a:avLst>
              <a:gd name="adj" fmla="val 2062"/>
            </a:avLst>
          </a:prstGeom>
          <a:solidFill>
            <a:srgbClr val="FFFFFF"/>
          </a:solidFill>
          <a:ln w="12700">
            <a:solidFill>
              <a:srgbClr val="D8E0E6"/>
            </a:solidFill>
            <a:prstDash val="solid"/>
          </a:ln>
        </p:spPr>
      </p:sp>
      <p:sp>
        <p:nvSpPr>
          <p:cNvPr id="7" name="Shape 5"/>
          <p:cNvSpPr/>
          <p:nvPr/>
        </p:nvSpPr>
        <p:spPr>
          <a:xfrm>
            <a:off x="978408" y="2039112"/>
            <a:ext cx="2075688" cy="329184"/>
          </a:xfrm>
          <a:prstGeom prst="roundRect">
            <a:avLst>
              <a:gd name="adj" fmla="val 50000"/>
            </a:avLst>
          </a:prstGeom>
          <a:solidFill>
            <a:srgbClr val="E7F2EC"/>
          </a:solidFill>
          <a:ln w="12700">
            <a:solidFill>
              <a:srgbClr val="E7F2EC"/>
            </a:solidFill>
            <a:prstDash val="solid"/>
          </a:ln>
        </p:spPr>
      </p:sp>
      <p:sp>
        <p:nvSpPr>
          <p:cNvPr id="8" name="Text 6"/>
          <p:cNvSpPr/>
          <p:nvPr/>
        </p:nvSpPr>
        <p:spPr>
          <a:xfrm>
            <a:off x="1051560" y="2057400"/>
            <a:ext cx="1929384"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F7D5A"/>
                </a:solidFill>
                <a:latin typeface="Microsoft YaHei" pitchFamily="34" charset="0"/>
                <a:ea typeface="Microsoft YaHei" pitchFamily="34" charset="-122"/>
                <a:cs typeface="Microsoft YaHei" pitchFamily="34" charset="-120"/>
              </a:rPr>
              <a:t>TEASMA · IEEE TSE 2024</a:t>
            </a:r>
            <a:endParaRPr lang="en-US" sz="1100" dirty="0"/>
          </a:p>
        </p:txBody>
      </p:sp>
      <p:sp>
        <p:nvSpPr>
          <p:cNvPr id="9" name="Text 7"/>
          <p:cNvSpPr/>
          <p:nvPr/>
        </p:nvSpPr>
        <p:spPr>
          <a:xfrm>
            <a:off x="978408" y="2496312"/>
            <a:ext cx="4526280" cy="347472"/>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153B5B"/>
                </a:solidFill>
                <a:latin typeface="Microsoft YaHei" pitchFamily="34" charset="0"/>
                <a:ea typeface="Microsoft YaHei" pitchFamily="34" charset="-122"/>
                <a:cs typeface="Microsoft YaHei" pitchFamily="34" charset="-120"/>
              </a:rPr>
              <a:t>把覆盖连接到故障检出</a:t>
            </a:r>
            <a:endParaRPr lang="en-US" sz="2100" dirty="0"/>
          </a:p>
        </p:txBody>
      </p:sp>
      <p:sp>
        <p:nvSpPr>
          <p:cNvPr id="10" name="Text 8"/>
          <p:cNvSpPr/>
          <p:nvPr/>
        </p:nvSpPr>
        <p:spPr>
          <a:xfrm>
            <a:off x="978408" y="2999232"/>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2F7D5A"/>
                </a:solidFill>
                <a:latin typeface="Microsoft YaHei" pitchFamily="34" charset="0"/>
                <a:ea typeface="Microsoft YaHei" pitchFamily="34" charset="-122"/>
                <a:cs typeface="Microsoft YaHei" pitchFamily="34" charset="-120"/>
              </a:rPr>
              <a:t>解决问题</a:t>
            </a:r>
            <a:endParaRPr lang="en-US" sz="1250" dirty="0"/>
          </a:p>
        </p:txBody>
      </p:sp>
      <p:sp>
        <p:nvSpPr>
          <p:cNvPr id="11" name="Text 9"/>
          <p:cNvSpPr/>
          <p:nvPr/>
        </p:nvSpPr>
        <p:spPr>
          <a:xfrm>
            <a:off x="1874520" y="2953512"/>
            <a:ext cx="3703320"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一个测试集的充分性分数，是否真的对应更强的故障发现能力？</a:t>
            </a:r>
            <a:endParaRPr lang="en-US" sz="1350" dirty="0"/>
          </a:p>
        </p:txBody>
      </p:sp>
      <p:sp>
        <p:nvSpPr>
          <p:cNvPr id="12" name="Text 10"/>
          <p:cNvSpPr/>
          <p:nvPr/>
        </p:nvSpPr>
        <p:spPr>
          <a:xfrm>
            <a:off x="978408" y="3694176"/>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2F7D5A"/>
                </a:solidFill>
                <a:latin typeface="Microsoft YaHei" pitchFamily="34" charset="0"/>
                <a:ea typeface="Microsoft YaHei" pitchFamily="34" charset="-122"/>
                <a:cs typeface="Microsoft YaHei" pitchFamily="34" charset="-120"/>
              </a:rPr>
              <a:t>核心思路</a:t>
            </a:r>
            <a:endParaRPr lang="en-US" sz="1250" dirty="0"/>
          </a:p>
        </p:txBody>
      </p:sp>
      <p:sp>
        <p:nvSpPr>
          <p:cNvPr id="13" name="Text 11"/>
          <p:cNvSpPr/>
          <p:nvPr/>
        </p:nvSpPr>
        <p:spPr>
          <a:xfrm>
            <a:off x="1874520" y="3621024"/>
            <a:ext cx="3703320" cy="475488"/>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利用已有充分性指标，为具体 DNN 建立测试集故障检出率预测模型。</a:t>
            </a:r>
            <a:endParaRPr lang="en-US" sz="1350" dirty="0"/>
          </a:p>
        </p:txBody>
      </p:sp>
      <p:sp>
        <p:nvSpPr>
          <p:cNvPr id="14" name="Text 12"/>
          <p:cNvSpPr/>
          <p:nvPr/>
        </p:nvSpPr>
        <p:spPr>
          <a:xfrm>
            <a:off x="978408" y="4443984"/>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2F7D5A"/>
                </a:solidFill>
                <a:latin typeface="Microsoft YaHei" pitchFamily="34" charset="0"/>
                <a:ea typeface="Microsoft YaHei" pitchFamily="34" charset="-122"/>
                <a:cs typeface="Microsoft YaHei" pitchFamily="34" charset="-120"/>
              </a:rPr>
              <a:t>对我启示</a:t>
            </a:r>
            <a:endParaRPr lang="en-US" sz="1250" dirty="0"/>
          </a:p>
        </p:txBody>
      </p:sp>
      <p:sp>
        <p:nvSpPr>
          <p:cNvPr id="15" name="Text 13"/>
          <p:cNvSpPr/>
          <p:nvPr/>
        </p:nvSpPr>
        <p:spPr>
          <a:xfrm>
            <a:off x="1874520" y="4370832"/>
            <a:ext cx="3703320" cy="53035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覆盖不是终点，必须再用新增错误或独立故障检出进行验证。</a:t>
            </a:r>
            <a:endParaRPr lang="en-US" sz="1350" dirty="0"/>
          </a:p>
        </p:txBody>
      </p:sp>
      <p:sp>
        <p:nvSpPr>
          <p:cNvPr id="16" name="Shape 14"/>
          <p:cNvSpPr/>
          <p:nvPr/>
        </p:nvSpPr>
        <p:spPr>
          <a:xfrm>
            <a:off x="6199632" y="1783080"/>
            <a:ext cx="5303520" cy="3547872"/>
          </a:xfrm>
          <a:prstGeom prst="roundRect">
            <a:avLst>
              <a:gd name="adj" fmla="val 2062"/>
            </a:avLst>
          </a:prstGeom>
          <a:solidFill>
            <a:srgbClr val="FFFFFF"/>
          </a:solidFill>
          <a:ln w="12700">
            <a:solidFill>
              <a:srgbClr val="D8E0E6"/>
            </a:solidFill>
            <a:prstDash val="solid"/>
          </a:ln>
        </p:spPr>
      </p:sp>
      <p:sp>
        <p:nvSpPr>
          <p:cNvPr id="17" name="Shape 15"/>
          <p:cNvSpPr/>
          <p:nvPr/>
        </p:nvSpPr>
        <p:spPr>
          <a:xfrm>
            <a:off x="6483096" y="2039112"/>
            <a:ext cx="1938528" cy="329184"/>
          </a:xfrm>
          <a:prstGeom prst="roundRect">
            <a:avLst>
              <a:gd name="adj" fmla="val 50000"/>
            </a:avLst>
          </a:prstGeom>
          <a:solidFill>
            <a:srgbClr val="FCECDD"/>
          </a:solidFill>
          <a:ln w="12700">
            <a:solidFill>
              <a:srgbClr val="FCECDD"/>
            </a:solidFill>
            <a:prstDash val="solid"/>
          </a:ln>
        </p:spPr>
      </p:sp>
      <p:sp>
        <p:nvSpPr>
          <p:cNvPr id="18" name="Text 16"/>
          <p:cNvSpPr/>
          <p:nvPr/>
        </p:nvSpPr>
        <p:spPr>
          <a:xfrm>
            <a:off x="6556248" y="2057400"/>
            <a:ext cx="1792224"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E87524"/>
                </a:solidFill>
                <a:latin typeface="Microsoft YaHei" pitchFamily="34" charset="0"/>
                <a:ea typeface="Microsoft YaHei" pitchFamily="34" charset="-122"/>
                <a:cs typeface="Microsoft YaHei" pitchFamily="34" charset="-120"/>
              </a:rPr>
              <a:t>SELECT · NeurIPS 2024</a:t>
            </a:r>
            <a:endParaRPr lang="en-US" sz="1100" dirty="0"/>
          </a:p>
        </p:txBody>
      </p:sp>
      <p:sp>
        <p:nvSpPr>
          <p:cNvPr id="19" name="Text 17"/>
          <p:cNvSpPr/>
          <p:nvPr/>
        </p:nvSpPr>
        <p:spPr>
          <a:xfrm>
            <a:off x="6483096" y="2496312"/>
            <a:ext cx="4526280" cy="347472"/>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153B5B"/>
                </a:solidFill>
                <a:latin typeface="Microsoft YaHei" pitchFamily="34" charset="0"/>
                <a:ea typeface="Microsoft YaHei" pitchFamily="34" charset="-122"/>
                <a:cs typeface="Microsoft YaHei" pitchFamily="34" charset="-120"/>
              </a:rPr>
              <a:t>统一预算下比较数据选择</a:t>
            </a:r>
            <a:endParaRPr lang="en-US" sz="2100" dirty="0"/>
          </a:p>
        </p:txBody>
      </p:sp>
      <p:sp>
        <p:nvSpPr>
          <p:cNvPr id="20" name="Text 18"/>
          <p:cNvSpPr/>
          <p:nvPr/>
        </p:nvSpPr>
        <p:spPr>
          <a:xfrm>
            <a:off x="6483096" y="2999232"/>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E87524"/>
                </a:solidFill>
                <a:latin typeface="Microsoft YaHei" pitchFamily="34" charset="0"/>
                <a:ea typeface="Microsoft YaHei" pitchFamily="34" charset="-122"/>
                <a:cs typeface="Microsoft YaHei" pitchFamily="34" charset="-120"/>
              </a:rPr>
              <a:t>研究范围</a:t>
            </a:r>
            <a:endParaRPr lang="en-US" sz="1250" dirty="0"/>
          </a:p>
        </p:txBody>
      </p:sp>
      <p:sp>
        <p:nvSpPr>
          <p:cNvPr id="21" name="Text 19"/>
          <p:cNvSpPr/>
          <p:nvPr/>
        </p:nvSpPr>
        <p:spPr>
          <a:xfrm>
            <a:off x="7379208" y="2953512"/>
            <a:ext cx="3703320"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它研究训练数据策展，而不是测试充分性；这里不能把两类任务混为一谈。</a:t>
            </a:r>
            <a:endParaRPr lang="en-US" sz="1350" dirty="0"/>
          </a:p>
        </p:txBody>
      </p:sp>
      <p:sp>
        <p:nvSpPr>
          <p:cNvPr id="22" name="Text 20"/>
          <p:cNvSpPr/>
          <p:nvPr/>
        </p:nvSpPr>
        <p:spPr>
          <a:xfrm>
            <a:off x="6483096" y="3694176"/>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E87524"/>
                </a:solidFill>
                <a:latin typeface="Microsoft YaHei" pitchFamily="34" charset="0"/>
                <a:ea typeface="Microsoft YaHei" pitchFamily="34" charset="-122"/>
                <a:cs typeface="Microsoft YaHei" pitchFamily="34" charset="-120"/>
              </a:rPr>
              <a:t>核心原则</a:t>
            </a:r>
            <a:endParaRPr lang="en-US" sz="1250" dirty="0"/>
          </a:p>
        </p:txBody>
      </p:sp>
      <p:sp>
        <p:nvSpPr>
          <p:cNvPr id="23" name="Text 21"/>
          <p:cNvSpPr/>
          <p:nvPr/>
        </p:nvSpPr>
        <p:spPr>
          <a:xfrm>
            <a:off x="7379208" y="3621024"/>
            <a:ext cx="3703320" cy="475488"/>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不同选择策略使用同一数据预算、同一任务和同一评价条件，再比较下游表现。</a:t>
            </a:r>
            <a:endParaRPr lang="en-US" sz="1350" dirty="0"/>
          </a:p>
        </p:txBody>
      </p:sp>
      <p:sp>
        <p:nvSpPr>
          <p:cNvPr id="24" name="Text 22"/>
          <p:cNvSpPr/>
          <p:nvPr/>
        </p:nvSpPr>
        <p:spPr>
          <a:xfrm>
            <a:off x="6483096" y="4443984"/>
            <a:ext cx="841248" cy="237744"/>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E87524"/>
                </a:solidFill>
                <a:latin typeface="Microsoft YaHei" pitchFamily="34" charset="0"/>
                <a:ea typeface="Microsoft YaHei" pitchFamily="34" charset="-122"/>
                <a:cs typeface="Microsoft YaHei" pitchFamily="34" charset="-120"/>
              </a:rPr>
              <a:t>对我启示</a:t>
            </a:r>
            <a:endParaRPr lang="en-US" sz="1250" dirty="0"/>
          </a:p>
        </p:txBody>
      </p:sp>
      <p:sp>
        <p:nvSpPr>
          <p:cNvPr id="25" name="Text 23"/>
          <p:cNvSpPr/>
          <p:nvPr/>
        </p:nvSpPr>
        <p:spPr>
          <a:xfrm>
            <a:off x="7379208" y="4370832"/>
            <a:ext cx="3703320" cy="53035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定向补 100 张必须与随机补 100 张公平比较，不能只报告覆盖率上升。</a:t>
            </a:r>
            <a:endParaRPr lang="en-US" sz="1350" dirty="0"/>
          </a:p>
        </p:txBody>
      </p:sp>
      <p:sp>
        <p:nvSpPr>
          <p:cNvPr id="26" name="Shape 24"/>
          <p:cNvSpPr/>
          <p:nvPr/>
        </p:nvSpPr>
        <p:spPr>
          <a:xfrm>
            <a:off x="1298448" y="5577840"/>
            <a:ext cx="9601200" cy="438912"/>
          </a:xfrm>
          <a:prstGeom prst="roundRect">
            <a:avLst>
              <a:gd name="adj" fmla="val 16667"/>
            </a:avLst>
          </a:prstGeom>
          <a:solidFill>
            <a:srgbClr val="FCECDD"/>
          </a:solidFill>
          <a:ln w="12700">
            <a:solidFill>
              <a:srgbClr val="E87524"/>
            </a:solidFill>
            <a:prstDash val="solid"/>
          </a:ln>
        </p:spPr>
      </p:sp>
      <p:sp>
        <p:nvSpPr>
          <p:cNvPr id="27" name="Text 25"/>
          <p:cNvSpPr/>
          <p:nvPr/>
        </p:nvSpPr>
        <p:spPr>
          <a:xfrm>
            <a:off x="1490472" y="5678424"/>
            <a:ext cx="9217152" cy="256032"/>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E87524"/>
                </a:solidFill>
                <a:latin typeface="Microsoft YaHei" pitchFamily="34" charset="0"/>
                <a:ea typeface="Microsoft YaHei" pitchFamily="34" charset="-122"/>
                <a:cs typeface="Microsoft YaHei" pitchFamily="34" charset="-120"/>
              </a:rPr>
              <a:t>注意：SELECT研究训练数据策展；这里借鉴的是“统一预算与基线”的评价原则。</a:t>
            </a:r>
            <a:endParaRPr lang="en-US" sz="1400" dirty="0"/>
          </a:p>
        </p:txBody>
      </p:sp>
      <p:sp>
        <p:nvSpPr>
          <p:cNvPr id="28" name="Text 26">
            <a:hlinkClick r:id="rId1" tooltip=""/>
          </p:cNvPr>
          <p:cNvSpPr/>
          <p:nvPr/>
        </p:nvSpPr>
        <p:spPr>
          <a:xfrm>
            <a:off x="585216" y="6172200"/>
            <a:ext cx="10881360" cy="182880"/>
          </a:xfrm>
          <a:prstGeom prst="rect">
            <a:avLst/>
          </a:prstGeom>
          <a:noFill/>
          <a:ln/>
        </p:spPr>
        <p:txBody>
          <a:bodyPr wrap="square" lIns="0" tIns="0" rIns="0" bIns="0" rtlCol="0" anchor="ctr">
            <a:normAutofit/>
          </a:bodyPr>
          <a:lstStyle/>
          <a:p>
            <a:pPr algn="l" indent="0" marL="0">
              <a:lnSpc>
                <a:spcPct val="100000"/>
              </a:lnSpc>
              <a:buNone/>
            </a:pPr>
            <a:r>
              <a:rPr lang="en-US" sz="850" i="1" u="sng" dirty="0">
                <a:solidFill>
                  <a:srgbClr val="6E7A84"/>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Abbasishahkoo et al., TEASMA, IEEE TSE 2024；Feuer et al., SELECT, NeurIPS 2024</a:t>
            </a:r>
            <a:endParaRPr lang="en-US" sz="850" dirty="0"/>
          </a:p>
        </p:txBody>
      </p:sp>
      <p:sp>
        <p:nvSpPr>
          <p:cNvPr id="29" name="Text 27"/>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03 · RESEARCH GAP</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文献不是“没做”，而是链路仍然断开</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充分性评价至少包含测量、规格和效用三层证据</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621792" y="2084832"/>
            <a:ext cx="2240280" cy="1097280"/>
          </a:xfrm>
          <a:prstGeom prst="roundRect">
            <a:avLst>
              <a:gd name="adj" fmla="val 6667"/>
            </a:avLst>
          </a:prstGeom>
          <a:solidFill>
            <a:srgbClr val="E7F0F7"/>
          </a:solidFill>
          <a:ln w="12700">
            <a:solidFill>
              <a:srgbClr val="2E6F9E"/>
            </a:solidFill>
            <a:prstDash val="solid"/>
          </a:ln>
        </p:spPr>
      </p:sp>
      <p:sp>
        <p:nvSpPr>
          <p:cNvPr id="7" name="Text 5"/>
          <p:cNvSpPr/>
          <p:nvPr/>
        </p:nvSpPr>
        <p:spPr>
          <a:xfrm>
            <a:off x="749808" y="2286000"/>
            <a:ext cx="1984248" cy="329184"/>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2E6F9E"/>
                </a:solidFill>
                <a:latin typeface="Microsoft YaHei" pitchFamily="34" charset="0"/>
                <a:ea typeface="Microsoft YaHei" pitchFamily="34" charset="-122"/>
                <a:cs typeface="Microsoft YaHei" pitchFamily="34" charset="-120"/>
              </a:rPr>
              <a:t>图像</a:t>
            </a:r>
            <a:endParaRPr lang="en-US" sz="1900" dirty="0"/>
          </a:p>
        </p:txBody>
      </p:sp>
      <p:sp>
        <p:nvSpPr>
          <p:cNvPr id="8" name="Text 6"/>
          <p:cNvSpPr/>
          <p:nvPr/>
        </p:nvSpPr>
        <p:spPr>
          <a:xfrm>
            <a:off x="749808" y="2743200"/>
            <a:ext cx="1984248" cy="21945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原始测试数据</a:t>
            </a:r>
            <a:endParaRPr lang="en-US" sz="1050" dirty="0"/>
          </a:p>
        </p:txBody>
      </p:sp>
      <p:sp>
        <p:nvSpPr>
          <p:cNvPr id="9" name="Shape 7"/>
          <p:cNvSpPr/>
          <p:nvPr/>
        </p:nvSpPr>
        <p:spPr>
          <a:xfrm>
            <a:off x="3474720" y="2084832"/>
            <a:ext cx="2240280" cy="1097280"/>
          </a:xfrm>
          <a:prstGeom prst="roundRect">
            <a:avLst>
              <a:gd name="adj" fmla="val 6667"/>
            </a:avLst>
          </a:prstGeom>
          <a:solidFill>
            <a:srgbClr val="E5F3F1"/>
          </a:solidFill>
          <a:ln w="12700">
            <a:solidFill>
              <a:srgbClr val="187D7B"/>
            </a:solidFill>
            <a:prstDash val="solid"/>
          </a:ln>
        </p:spPr>
      </p:sp>
      <p:sp>
        <p:nvSpPr>
          <p:cNvPr id="10" name="Text 8"/>
          <p:cNvSpPr/>
          <p:nvPr/>
        </p:nvSpPr>
        <p:spPr>
          <a:xfrm>
            <a:off x="3602736" y="2286000"/>
            <a:ext cx="1984248" cy="329184"/>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187D7B"/>
                </a:solidFill>
                <a:latin typeface="Microsoft YaHei" pitchFamily="34" charset="0"/>
                <a:ea typeface="Microsoft YaHei" pitchFamily="34" charset="-122"/>
                <a:cs typeface="Microsoft YaHei" pitchFamily="34" charset="-120"/>
              </a:rPr>
              <a:t>可解释状态</a:t>
            </a:r>
            <a:endParaRPr lang="en-US" sz="1900" dirty="0"/>
          </a:p>
        </p:txBody>
      </p:sp>
      <p:sp>
        <p:nvSpPr>
          <p:cNvPr id="11" name="Text 9"/>
          <p:cNvSpPr/>
          <p:nvPr/>
        </p:nvSpPr>
        <p:spPr>
          <a:xfrm>
            <a:off x="3602736" y="2743200"/>
            <a:ext cx="1984248" cy="21945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视角 / 遮挡 / 场景</a:t>
            </a:r>
            <a:endParaRPr lang="en-US" sz="1050" dirty="0"/>
          </a:p>
        </p:txBody>
      </p:sp>
      <p:sp>
        <p:nvSpPr>
          <p:cNvPr id="12" name="Shape 10"/>
          <p:cNvSpPr/>
          <p:nvPr/>
        </p:nvSpPr>
        <p:spPr>
          <a:xfrm>
            <a:off x="6327648" y="2084832"/>
            <a:ext cx="2240280" cy="1097280"/>
          </a:xfrm>
          <a:prstGeom prst="roundRect">
            <a:avLst>
              <a:gd name="adj" fmla="val 6667"/>
            </a:avLst>
          </a:prstGeom>
          <a:solidFill>
            <a:srgbClr val="FCECDD"/>
          </a:solidFill>
          <a:ln w="12700">
            <a:solidFill>
              <a:srgbClr val="E87524"/>
            </a:solidFill>
            <a:prstDash val="solid"/>
          </a:ln>
        </p:spPr>
      </p:sp>
      <p:sp>
        <p:nvSpPr>
          <p:cNvPr id="13" name="Text 11"/>
          <p:cNvSpPr/>
          <p:nvPr/>
        </p:nvSpPr>
        <p:spPr>
          <a:xfrm>
            <a:off x="6455664" y="2286000"/>
            <a:ext cx="1984248" cy="329184"/>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E87524"/>
                </a:solidFill>
                <a:latin typeface="Microsoft YaHei" pitchFamily="34" charset="0"/>
                <a:ea typeface="Microsoft YaHei" pitchFamily="34" charset="-122"/>
                <a:cs typeface="Microsoft YaHei" pitchFamily="34" charset="-120"/>
              </a:rPr>
              <a:t>覆盖缺口</a:t>
            </a:r>
            <a:endParaRPr lang="en-US" sz="1900" dirty="0"/>
          </a:p>
        </p:txBody>
      </p:sp>
      <p:sp>
        <p:nvSpPr>
          <p:cNvPr id="14" name="Text 12"/>
          <p:cNvSpPr/>
          <p:nvPr/>
        </p:nvSpPr>
        <p:spPr>
          <a:xfrm>
            <a:off x="6455664" y="2743200"/>
            <a:ext cx="1984248" cy="21945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缺失 / 稀疏 / 组合</a:t>
            </a:r>
            <a:endParaRPr lang="en-US" sz="1050" dirty="0"/>
          </a:p>
        </p:txBody>
      </p:sp>
      <p:sp>
        <p:nvSpPr>
          <p:cNvPr id="15" name="Shape 13"/>
          <p:cNvSpPr/>
          <p:nvPr/>
        </p:nvSpPr>
        <p:spPr>
          <a:xfrm>
            <a:off x="9180576" y="2084832"/>
            <a:ext cx="2240280" cy="1097280"/>
          </a:xfrm>
          <a:prstGeom prst="roundRect">
            <a:avLst>
              <a:gd name="adj" fmla="val 6667"/>
            </a:avLst>
          </a:prstGeom>
          <a:solidFill>
            <a:srgbClr val="E7F2EC"/>
          </a:solidFill>
          <a:ln w="12700">
            <a:solidFill>
              <a:srgbClr val="2F7D5A"/>
            </a:solidFill>
            <a:prstDash val="solid"/>
          </a:ln>
        </p:spPr>
      </p:sp>
      <p:sp>
        <p:nvSpPr>
          <p:cNvPr id="16" name="Text 14"/>
          <p:cNvSpPr/>
          <p:nvPr/>
        </p:nvSpPr>
        <p:spPr>
          <a:xfrm>
            <a:off x="9308592" y="2286000"/>
            <a:ext cx="1984248" cy="329184"/>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2F7D5A"/>
                </a:solidFill>
                <a:latin typeface="Microsoft YaHei" pitchFamily="34" charset="0"/>
                <a:ea typeface="Microsoft YaHei" pitchFamily="34" charset="-122"/>
                <a:cs typeface="Microsoft YaHei" pitchFamily="34" charset="-120"/>
              </a:rPr>
              <a:t>测试收益</a:t>
            </a:r>
            <a:endParaRPr lang="en-US" sz="1900" dirty="0"/>
          </a:p>
        </p:txBody>
      </p:sp>
      <p:sp>
        <p:nvSpPr>
          <p:cNvPr id="17" name="Text 15"/>
          <p:cNvSpPr/>
          <p:nvPr/>
        </p:nvSpPr>
        <p:spPr>
          <a:xfrm>
            <a:off x="9308592" y="2743200"/>
            <a:ext cx="1984248" cy="219456"/>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5F6B76"/>
                </a:solidFill>
                <a:latin typeface="Microsoft YaHei" pitchFamily="34" charset="0"/>
                <a:ea typeface="Microsoft YaHei" pitchFamily="34" charset="-122"/>
                <a:cs typeface="Microsoft YaHei" pitchFamily="34" charset="-120"/>
              </a:rPr>
              <a:t>新增证据 / 独立错误</a:t>
            </a:r>
            <a:endParaRPr lang="en-US" sz="1050" dirty="0"/>
          </a:p>
        </p:txBody>
      </p:sp>
      <p:sp>
        <p:nvSpPr>
          <p:cNvPr id="18" name="Shape 16"/>
          <p:cNvSpPr/>
          <p:nvPr/>
        </p:nvSpPr>
        <p:spPr>
          <a:xfrm>
            <a:off x="2551176" y="2633472"/>
            <a:ext cx="603504" cy="0"/>
          </a:xfrm>
          <a:prstGeom prst="line">
            <a:avLst/>
          </a:prstGeom>
          <a:noFill/>
          <a:ln w="19050">
            <a:solidFill>
              <a:srgbClr val="9EADB8"/>
            </a:solidFill>
            <a:prstDash val="solid"/>
            <a:headEnd type="none"/>
            <a:tailEnd type="triangle"/>
          </a:ln>
        </p:spPr>
      </p:sp>
      <p:sp>
        <p:nvSpPr>
          <p:cNvPr id="19" name="Shape 17"/>
          <p:cNvSpPr/>
          <p:nvPr/>
        </p:nvSpPr>
        <p:spPr>
          <a:xfrm>
            <a:off x="2843784" y="2450592"/>
            <a:ext cx="365760" cy="365760"/>
          </a:xfrm>
          <a:prstGeom prst="ellipse">
            <a:avLst/>
          </a:prstGeom>
          <a:solidFill>
            <a:srgbClr val="B84A3A"/>
          </a:solidFill>
          <a:ln w="19050">
            <a:solidFill>
              <a:srgbClr val="FFFFFF"/>
            </a:solidFill>
            <a:prstDash val="solid"/>
          </a:ln>
        </p:spPr>
      </p:sp>
      <p:sp>
        <p:nvSpPr>
          <p:cNvPr id="20" name="Text 18"/>
          <p:cNvSpPr/>
          <p:nvPr/>
        </p:nvSpPr>
        <p:spPr>
          <a:xfrm>
            <a:off x="2843784" y="2450592"/>
            <a:ext cx="365760" cy="329184"/>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21" name="Shape 19"/>
          <p:cNvSpPr/>
          <p:nvPr/>
        </p:nvSpPr>
        <p:spPr>
          <a:xfrm>
            <a:off x="2203704" y="3547872"/>
            <a:ext cx="1645920" cy="329184"/>
          </a:xfrm>
          <a:prstGeom prst="roundRect">
            <a:avLst>
              <a:gd name="adj" fmla="val 50000"/>
            </a:avLst>
          </a:prstGeom>
          <a:solidFill>
            <a:srgbClr val="F8E7E4"/>
          </a:solidFill>
          <a:ln w="12700">
            <a:solidFill>
              <a:srgbClr val="F8E7E4"/>
            </a:solidFill>
            <a:prstDash val="solid"/>
          </a:ln>
        </p:spPr>
      </p:sp>
      <p:sp>
        <p:nvSpPr>
          <p:cNvPr id="22" name="Text 20"/>
          <p:cNvSpPr/>
          <p:nvPr/>
        </p:nvSpPr>
        <p:spPr>
          <a:xfrm>
            <a:off x="2276856" y="3566160"/>
            <a:ext cx="1499616"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B84A3A"/>
                </a:solidFill>
                <a:latin typeface="Microsoft YaHei" pitchFamily="34" charset="0"/>
                <a:ea typeface="Microsoft YaHei" pitchFamily="34" charset="-122"/>
                <a:cs typeface="Microsoft YaHei" pitchFamily="34" charset="-120"/>
              </a:rPr>
              <a:t>断点 1</a:t>
            </a:r>
            <a:endParaRPr lang="en-US" sz="1100" dirty="0"/>
          </a:p>
        </p:txBody>
      </p:sp>
      <p:sp>
        <p:nvSpPr>
          <p:cNvPr id="23" name="Text 21"/>
          <p:cNvSpPr/>
          <p:nvPr/>
        </p:nvSpPr>
        <p:spPr>
          <a:xfrm>
            <a:off x="1956816" y="4059936"/>
            <a:ext cx="2148840" cy="41148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B84A3A"/>
                </a:solidFill>
                <a:latin typeface="Microsoft YaHei" pitchFamily="34" charset="0"/>
                <a:ea typeface="Microsoft YaHei" pitchFamily="34" charset="-122"/>
                <a:cs typeface="Microsoft YaHei" pitchFamily="34" charset="-120"/>
              </a:rPr>
              <a:t>属性测量是否可靠？</a:t>
            </a:r>
            <a:endParaRPr lang="en-US" sz="1450" dirty="0"/>
          </a:p>
        </p:txBody>
      </p:sp>
      <p:sp>
        <p:nvSpPr>
          <p:cNvPr id="24" name="Shape 22"/>
          <p:cNvSpPr/>
          <p:nvPr/>
        </p:nvSpPr>
        <p:spPr>
          <a:xfrm>
            <a:off x="5404104" y="2633472"/>
            <a:ext cx="603504" cy="0"/>
          </a:xfrm>
          <a:prstGeom prst="line">
            <a:avLst/>
          </a:prstGeom>
          <a:noFill/>
          <a:ln w="19050">
            <a:solidFill>
              <a:srgbClr val="9EADB8"/>
            </a:solidFill>
            <a:prstDash val="solid"/>
            <a:headEnd type="none"/>
            <a:tailEnd type="triangle"/>
          </a:ln>
        </p:spPr>
      </p:sp>
      <p:sp>
        <p:nvSpPr>
          <p:cNvPr id="25" name="Shape 23"/>
          <p:cNvSpPr/>
          <p:nvPr/>
        </p:nvSpPr>
        <p:spPr>
          <a:xfrm>
            <a:off x="5696712" y="2450592"/>
            <a:ext cx="365760" cy="365760"/>
          </a:xfrm>
          <a:prstGeom prst="ellipse">
            <a:avLst/>
          </a:prstGeom>
          <a:solidFill>
            <a:srgbClr val="B84A3A"/>
          </a:solidFill>
          <a:ln w="19050">
            <a:solidFill>
              <a:srgbClr val="FFFFFF"/>
            </a:solidFill>
            <a:prstDash val="solid"/>
          </a:ln>
        </p:spPr>
      </p:sp>
      <p:sp>
        <p:nvSpPr>
          <p:cNvPr id="26" name="Text 24"/>
          <p:cNvSpPr/>
          <p:nvPr/>
        </p:nvSpPr>
        <p:spPr>
          <a:xfrm>
            <a:off x="5696712" y="2450592"/>
            <a:ext cx="365760" cy="329184"/>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27" name="Shape 25"/>
          <p:cNvSpPr/>
          <p:nvPr/>
        </p:nvSpPr>
        <p:spPr>
          <a:xfrm>
            <a:off x="5056632" y="3547872"/>
            <a:ext cx="1645920" cy="329184"/>
          </a:xfrm>
          <a:prstGeom prst="roundRect">
            <a:avLst>
              <a:gd name="adj" fmla="val 50000"/>
            </a:avLst>
          </a:prstGeom>
          <a:solidFill>
            <a:srgbClr val="F8E7E4"/>
          </a:solidFill>
          <a:ln w="12700">
            <a:solidFill>
              <a:srgbClr val="F8E7E4"/>
            </a:solidFill>
            <a:prstDash val="solid"/>
          </a:ln>
        </p:spPr>
      </p:sp>
      <p:sp>
        <p:nvSpPr>
          <p:cNvPr id="28" name="Text 26"/>
          <p:cNvSpPr/>
          <p:nvPr/>
        </p:nvSpPr>
        <p:spPr>
          <a:xfrm>
            <a:off x="5129784" y="3566160"/>
            <a:ext cx="1499616"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B84A3A"/>
                </a:solidFill>
                <a:latin typeface="Microsoft YaHei" pitchFamily="34" charset="0"/>
                <a:ea typeface="Microsoft YaHei" pitchFamily="34" charset="-122"/>
                <a:cs typeface="Microsoft YaHei" pitchFamily="34" charset="-120"/>
              </a:rPr>
              <a:t>断点 2</a:t>
            </a:r>
            <a:endParaRPr lang="en-US" sz="1100" dirty="0"/>
          </a:p>
        </p:txBody>
      </p:sp>
      <p:sp>
        <p:nvSpPr>
          <p:cNvPr id="29" name="Text 27"/>
          <p:cNvSpPr/>
          <p:nvPr/>
        </p:nvSpPr>
        <p:spPr>
          <a:xfrm>
            <a:off x="4809744" y="4059936"/>
            <a:ext cx="2148840" cy="41148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B84A3A"/>
                </a:solidFill>
                <a:latin typeface="Microsoft YaHei" pitchFamily="34" charset="0"/>
                <a:ea typeface="Microsoft YaHei" pitchFamily="34" charset="-122"/>
                <a:cs typeface="Microsoft YaHei" pitchFamily="34" charset="-120"/>
              </a:rPr>
              <a:t>缺口相对什么目标？</a:t>
            </a:r>
            <a:endParaRPr lang="en-US" sz="1450" dirty="0"/>
          </a:p>
        </p:txBody>
      </p:sp>
      <p:sp>
        <p:nvSpPr>
          <p:cNvPr id="30" name="Shape 28"/>
          <p:cNvSpPr/>
          <p:nvPr/>
        </p:nvSpPr>
        <p:spPr>
          <a:xfrm>
            <a:off x="8257032" y="2633472"/>
            <a:ext cx="603504" cy="0"/>
          </a:xfrm>
          <a:prstGeom prst="line">
            <a:avLst/>
          </a:prstGeom>
          <a:noFill/>
          <a:ln w="19050">
            <a:solidFill>
              <a:srgbClr val="9EADB8"/>
            </a:solidFill>
            <a:prstDash val="solid"/>
            <a:headEnd type="none"/>
            <a:tailEnd type="triangle"/>
          </a:ln>
        </p:spPr>
      </p:sp>
      <p:sp>
        <p:nvSpPr>
          <p:cNvPr id="31" name="Shape 29"/>
          <p:cNvSpPr/>
          <p:nvPr/>
        </p:nvSpPr>
        <p:spPr>
          <a:xfrm>
            <a:off x="8549640" y="2450592"/>
            <a:ext cx="365760" cy="365760"/>
          </a:xfrm>
          <a:prstGeom prst="ellipse">
            <a:avLst/>
          </a:prstGeom>
          <a:solidFill>
            <a:srgbClr val="B84A3A"/>
          </a:solidFill>
          <a:ln w="19050">
            <a:solidFill>
              <a:srgbClr val="FFFFFF"/>
            </a:solidFill>
            <a:prstDash val="solid"/>
          </a:ln>
        </p:spPr>
      </p:sp>
      <p:sp>
        <p:nvSpPr>
          <p:cNvPr id="32" name="Text 30"/>
          <p:cNvSpPr/>
          <p:nvPr/>
        </p:nvSpPr>
        <p:spPr>
          <a:xfrm>
            <a:off x="8549640" y="2450592"/>
            <a:ext cx="365760" cy="329184"/>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33" name="Shape 31"/>
          <p:cNvSpPr/>
          <p:nvPr/>
        </p:nvSpPr>
        <p:spPr>
          <a:xfrm>
            <a:off x="7909560" y="3547872"/>
            <a:ext cx="1645920" cy="329184"/>
          </a:xfrm>
          <a:prstGeom prst="roundRect">
            <a:avLst>
              <a:gd name="adj" fmla="val 50000"/>
            </a:avLst>
          </a:prstGeom>
          <a:solidFill>
            <a:srgbClr val="F8E7E4"/>
          </a:solidFill>
          <a:ln w="12700">
            <a:solidFill>
              <a:srgbClr val="F8E7E4"/>
            </a:solidFill>
            <a:prstDash val="solid"/>
          </a:ln>
        </p:spPr>
      </p:sp>
      <p:sp>
        <p:nvSpPr>
          <p:cNvPr id="34" name="Text 32"/>
          <p:cNvSpPr/>
          <p:nvPr/>
        </p:nvSpPr>
        <p:spPr>
          <a:xfrm>
            <a:off x="7982712" y="3566160"/>
            <a:ext cx="1499616"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B84A3A"/>
                </a:solidFill>
                <a:latin typeface="Microsoft YaHei" pitchFamily="34" charset="0"/>
                <a:ea typeface="Microsoft YaHei" pitchFamily="34" charset="-122"/>
                <a:cs typeface="Microsoft YaHei" pitchFamily="34" charset="-120"/>
              </a:rPr>
              <a:t>断点 3</a:t>
            </a:r>
            <a:endParaRPr lang="en-US" sz="1100" dirty="0"/>
          </a:p>
        </p:txBody>
      </p:sp>
      <p:sp>
        <p:nvSpPr>
          <p:cNvPr id="35" name="Text 33"/>
          <p:cNvSpPr/>
          <p:nvPr/>
        </p:nvSpPr>
        <p:spPr>
          <a:xfrm>
            <a:off x="7662672" y="4059936"/>
            <a:ext cx="2148840" cy="41148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B84A3A"/>
                </a:solidFill>
                <a:latin typeface="Microsoft YaHei" pitchFamily="34" charset="0"/>
                <a:ea typeface="Microsoft YaHei" pitchFamily="34" charset="-122"/>
                <a:cs typeface="Microsoft YaHei" pitchFamily="34" charset="-120"/>
              </a:rPr>
              <a:t>补样是否真的有用？</a:t>
            </a:r>
            <a:endParaRPr lang="en-US" sz="1450" dirty="0"/>
          </a:p>
        </p:txBody>
      </p:sp>
      <p:sp>
        <p:nvSpPr>
          <p:cNvPr id="36" name="Shape 34"/>
          <p:cNvSpPr/>
          <p:nvPr/>
        </p:nvSpPr>
        <p:spPr>
          <a:xfrm>
            <a:off x="1143000" y="4919472"/>
            <a:ext cx="9902952" cy="813816"/>
          </a:xfrm>
          <a:prstGeom prst="roundRect">
            <a:avLst>
              <a:gd name="adj" fmla="val 8989"/>
            </a:avLst>
          </a:prstGeom>
          <a:solidFill>
            <a:srgbClr val="FFFFFF"/>
          </a:solidFill>
          <a:ln w="12700">
            <a:solidFill>
              <a:srgbClr val="153B5B"/>
            </a:solidFill>
            <a:prstDash val="solid"/>
          </a:ln>
        </p:spPr>
      </p:sp>
      <p:sp>
        <p:nvSpPr>
          <p:cNvPr id="37" name="Text 35"/>
          <p:cNvSpPr/>
          <p:nvPr/>
        </p:nvSpPr>
        <p:spPr>
          <a:xfrm>
            <a:off x="1408176" y="5166360"/>
            <a:ext cx="1024128" cy="301752"/>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53B5B"/>
                </a:solidFill>
                <a:latin typeface="Microsoft YaHei" pitchFamily="34" charset="0"/>
                <a:ea typeface="Microsoft YaHei" pitchFamily="34" charset="-122"/>
                <a:cs typeface="Microsoft YaHei" pitchFamily="34" charset="-120"/>
              </a:rPr>
              <a:t>研究机会</a:t>
            </a:r>
            <a:endParaRPr lang="en-US" sz="1600" dirty="0"/>
          </a:p>
        </p:txBody>
      </p:sp>
      <p:sp>
        <p:nvSpPr>
          <p:cNvPr id="38" name="Text 36"/>
          <p:cNvSpPr/>
          <p:nvPr/>
        </p:nvSpPr>
        <p:spPr>
          <a:xfrm>
            <a:off x="2468880" y="5093208"/>
            <a:ext cx="8275320" cy="448056"/>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153B5B"/>
                </a:solidFill>
                <a:latin typeface="Microsoft YaHei" pitchFamily="34" charset="0"/>
                <a:ea typeface="Microsoft YaHei" pitchFamily="34" charset="-122"/>
                <a:cs typeface="Microsoft YaHei" pitchFamily="34" charset="-120"/>
              </a:rPr>
              <a:t>把可靠属性测量、任务约束、预算化补样和独立验证组织成一个可审计闭环。</a:t>
            </a:r>
            <a:endParaRPr lang="en-US" sz="1900" dirty="0"/>
          </a:p>
        </p:txBody>
      </p:sp>
      <p:sp>
        <p:nvSpPr>
          <p:cNvPr id="39" name="Text 37"/>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04 · MY DIRECTION</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我的研究方向：从“测量表”走向“决策闭环”</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黑盒条件下，诊断视觉测试数据缺少哪些可解释证据，并指导有限预算行动</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31520" y="1755648"/>
            <a:ext cx="10725912" cy="722376"/>
          </a:xfrm>
          <a:prstGeom prst="roundRect">
            <a:avLst>
              <a:gd name="adj" fmla="val 10127"/>
            </a:avLst>
          </a:prstGeom>
          <a:solidFill>
            <a:srgbClr val="153B5B"/>
          </a:solidFill>
          <a:ln w="12700">
            <a:solidFill>
              <a:srgbClr val="153B5B"/>
            </a:solidFill>
            <a:prstDash val="solid"/>
          </a:ln>
        </p:spPr>
      </p:sp>
      <p:sp>
        <p:nvSpPr>
          <p:cNvPr id="7" name="Text 5"/>
          <p:cNvSpPr/>
          <p:nvPr/>
        </p:nvSpPr>
        <p:spPr>
          <a:xfrm>
            <a:off x="987552" y="1929384"/>
            <a:ext cx="10213848" cy="338328"/>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Microsoft YaHei" pitchFamily="34" charset="0"/>
                <a:ea typeface="Microsoft YaHei" pitchFamily="34" charset="-122"/>
                <a:cs typeface="Microsoft YaHei" pitchFamily="34" charset="-120"/>
              </a:rPr>
              <a:t>给定测试目标与候选数据，如何识别缺少证据的视觉状态，并给出可验证的复核与补样决策？</a:t>
            </a:r>
            <a:endParaRPr lang="en-US" sz="2000" dirty="0"/>
          </a:p>
        </p:txBody>
      </p:sp>
      <p:sp>
        <p:nvSpPr>
          <p:cNvPr id="8" name="Shape 6"/>
          <p:cNvSpPr/>
          <p:nvPr/>
        </p:nvSpPr>
        <p:spPr>
          <a:xfrm>
            <a:off x="749808" y="2816352"/>
            <a:ext cx="3090672" cy="2313432"/>
          </a:xfrm>
          <a:prstGeom prst="roundRect">
            <a:avLst>
              <a:gd name="adj" fmla="val 3162"/>
            </a:avLst>
          </a:prstGeom>
          <a:solidFill>
            <a:srgbClr val="FFFFFF"/>
          </a:solidFill>
          <a:ln w="12700">
            <a:solidFill>
              <a:srgbClr val="D8E0E6"/>
            </a:solidFill>
            <a:prstDash val="solid"/>
          </a:ln>
        </p:spPr>
      </p:sp>
      <p:sp>
        <p:nvSpPr>
          <p:cNvPr id="9" name="Shape 7"/>
          <p:cNvSpPr/>
          <p:nvPr/>
        </p:nvSpPr>
        <p:spPr>
          <a:xfrm>
            <a:off x="978408" y="3063240"/>
            <a:ext cx="694944" cy="329184"/>
          </a:xfrm>
          <a:prstGeom prst="roundRect">
            <a:avLst>
              <a:gd name="adj" fmla="val 50000"/>
            </a:avLst>
          </a:prstGeom>
          <a:solidFill>
            <a:srgbClr val="2E6F9E"/>
          </a:solidFill>
          <a:ln w="12700">
            <a:solidFill>
              <a:srgbClr val="2E6F9E"/>
            </a:solidFill>
            <a:prstDash val="solid"/>
          </a:ln>
        </p:spPr>
      </p:sp>
      <p:sp>
        <p:nvSpPr>
          <p:cNvPr id="10" name="Text 8"/>
          <p:cNvSpPr/>
          <p:nvPr/>
        </p:nvSpPr>
        <p:spPr>
          <a:xfrm>
            <a:off x="1051560" y="3081528"/>
            <a:ext cx="54864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Microsoft YaHei" pitchFamily="34" charset="0"/>
                <a:ea typeface="Microsoft YaHei" pitchFamily="34" charset="-122"/>
                <a:cs typeface="Microsoft YaHei" pitchFamily="34" charset="-120"/>
              </a:rPr>
              <a:t>RQ1</a:t>
            </a:r>
            <a:endParaRPr lang="en-US" sz="1100" dirty="0"/>
          </a:p>
        </p:txBody>
      </p:sp>
      <p:sp>
        <p:nvSpPr>
          <p:cNvPr id="11" name="Text 9"/>
          <p:cNvSpPr/>
          <p:nvPr/>
        </p:nvSpPr>
        <p:spPr>
          <a:xfrm>
            <a:off x="1810512" y="3054096"/>
            <a:ext cx="1645920" cy="301752"/>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2E6F9E"/>
                </a:solidFill>
                <a:latin typeface="Microsoft YaHei" pitchFamily="34" charset="0"/>
                <a:ea typeface="Microsoft YaHei" pitchFamily="34" charset="-122"/>
                <a:cs typeface="Microsoft YaHei" pitchFamily="34" charset="-120"/>
              </a:rPr>
              <a:t>可靠测量</a:t>
            </a:r>
            <a:endParaRPr lang="en-US" sz="1900" dirty="0"/>
          </a:p>
        </p:txBody>
      </p:sp>
      <p:sp>
        <p:nvSpPr>
          <p:cNvPr id="12" name="Text 10"/>
          <p:cNvSpPr/>
          <p:nvPr/>
        </p:nvSpPr>
        <p:spPr>
          <a:xfrm>
            <a:off x="978408" y="3657600"/>
            <a:ext cx="2633472" cy="65836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7212B"/>
                </a:solidFill>
                <a:latin typeface="Microsoft YaHei" pitchFamily="34" charset="0"/>
                <a:ea typeface="Microsoft YaHei" pitchFamily="34" charset="-122"/>
                <a:cs typeface="Microsoft YaHei" pitchFamily="34" charset="-120"/>
              </a:rPr>
              <a:t>如何将图片稳定转换为</a:t>
            </a:r>
            <a:endParaRPr lang="en-US" sz="1600" dirty="0"/>
          </a:p>
          <a:p>
            <a:pPr algn="ctr" indent="0" marL="0">
              <a:lnSpc>
                <a:spcPct val="100000"/>
              </a:lnSpc>
              <a:buNone/>
            </a:pPr>
            <a:r>
              <a:rPr lang="en-US" sz="1600" b="1" dirty="0">
                <a:solidFill>
                  <a:srgbClr val="17212B"/>
                </a:solidFill>
                <a:latin typeface="Microsoft YaHei" pitchFamily="34" charset="0"/>
                <a:ea typeface="Microsoft YaHei" pitchFamily="34" charset="-122"/>
                <a:cs typeface="Microsoft YaHei" pitchFamily="34" charset="-120"/>
              </a:rPr>
              <a:t>有限、可核验的视觉状态？</a:t>
            </a:r>
            <a:endParaRPr lang="en-US" sz="1600" dirty="0"/>
          </a:p>
        </p:txBody>
      </p:sp>
      <p:sp>
        <p:nvSpPr>
          <p:cNvPr id="13" name="Shape 11"/>
          <p:cNvSpPr/>
          <p:nvPr/>
        </p:nvSpPr>
        <p:spPr>
          <a:xfrm>
            <a:off x="1051560" y="4590288"/>
            <a:ext cx="2487168" cy="329184"/>
          </a:xfrm>
          <a:prstGeom prst="roundRect">
            <a:avLst>
              <a:gd name="adj" fmla="val 50000"/>
            </a:avLst>
          </a:prstGeom>
          <a:solidFill>
            <a:srgbClr val="E7F0F7"/>
          </a:solidFill>
          <a:ln w="12700">
            <a:solidFill>
              <a:srgbClr val="E7F0F7"/>
            </a:solidFill>
            <a:prstDash val="solid"/>
          </a:ln>
        </p:spPr>
      </p:sp>
      <p:sp>
        <p:nvSpPr>
          <p:cNvPr id="14" name="Text 12"/>
          <p:cNvSpPr/>
          <p:nvPr/>
        </p:nvSpPr>
        <p:spPr>
          <a:xfrm>
            <a:off x="1124712" y="4608576"/>
            <a:ext cx="2340864"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E6F9E"/>
                </a:solidFill>
                <a:latin typeface="Microsoft YaHei" pitchFamily="34" charset="0"/>
                <a:ea typeface="Microsoft YaHei" pitchFamily="34" charset="-122"/>
                <a:cs typeface="Microsoft YaHei" pitchFamily="34" charset="-120"/>
              </a:rPr>
              <a:t>schema · unknown · 人工复核</a:t>
            </a:r>
            <a:endParaRPr lang="en-US" sz="1100" dirty="0"/>
          </a:p>
        </p:txBody>
      </p:sp>
      <p:sp>
        <p:nvSpPr>
          <p:cNvPr id="15" name="Shape 13"/>
          <p:cNvSpPr/>
          <p:nvPr/>
        </p:nvSpPr>
        <p:spPr>
          <a:xfrm>
            <a:off x="4096512" y="2816352"/>
            <a:ext cx="3090672" cy="2313432"/>
          </a:xfrm>
          <a:prstGeom prst="roundRect">
            <a:avLst>
              <a:gd name="adj" fmla="val 3162"/>
            </a:avLst>
          </a:prstGeom>
          <a:solidFill>
            <a:srgbClr val="FFFFFF"/>
          </a:solidFill>
          <a:ln w="12700">
            <a:solidFill>
              <a:srgbClr val="D8E0E6"/>
            </a:solidFill>
            <a:prstDash val="solid"/>
          </a:ln>
        </p:spPr>
      </p:sp>
      <p:sp>
        <p:nvSpPr>
          <p:cNvPr id="16" name="Shape 14"/>
          <p:cNvSpPr/>
          <p:nvPr/>
        </p:nvSpPr>
        <p:spPr>
          <a:xfrm>
            <a:off x="4325112" y="3063240"/>
            <a:ext cx="694944" cy="329184"/>
          </a:xfrm>
          <a:prstGeom prst="roundRect">
            <a:avLst>
              <a:gd name="adj" fmla="val 50000"/>
            </a:avLst>
          </a:prstGeom>
          <a:solidFill>
            <a:srgbClr val="187D7B"/>
          </a:solidFill>
          <a:ln w="12700">
            <a:solidFill>
              <a:srgbClr val="187D7B"/>
            </a:solidFill>
            <a:prstDash val="solid"/>
          </a:ln>
        </p:spPr>
      </p:sp>
      <p:sp>
        <p:nvSpPr>
          <p:cNvPr id="17" name="Text 15"/>
          <p:cNvSpPr/>
          <p:nvPr/>
        </p:nvSpPr>
        <p:spPr>
          <a:xfrm>
            <a:off x="4398264" y="3081528"/>
            <a:ext cx="54864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Microsoft YaHei" pitchFamily="34" charset="0"/>
                <a:ea typeface="Microsoft YaHei" pitchFamily="34" charset="-122"/>
                <a:cs typeface="Microsoft YaHei" pitchFamily="34" charset="-120"/>
              </a:rPr>
              <a:t>RQ2</a:t>
            </a:r>
            <a:endParaRPr lang="en-US" sz="1100" dirty="0"/>
          </a:p>
        </p:txBody>
      </p:sp>
      <p:sp>
        <p:nvSpPr>
          <p:cNvPr id="18" name="Text 16"/>
          <p:cNvSpPr/>
          <p:nvPr/>
        </p:nvSpPr>
        <p:spPr>
          <a:xfrm>
            <a:off x="5157216" y="3054096"/>
            <a:ext cx="1645920" cy="301752"/>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187D7B"/>
                </a:solidFill>
                <a:latin typeface="Microsoft YaHei" pitchFamily="34" charset="0"/>
                <a:ea typeface="Microsoft YaHei" pitchFamily="34" charset="-122"/>
                <a:cs typeface="Microsoft YaHei" pitchFamily="34" charset="-120"/>
              </a:rPr>
              <a:t>缺口定义</a:t>
            </a:r>
            <a:endParaRPr lang="en-US" sz="1900" dirty="0"/>
          </a:p>
        </p:txBody>
      </p:sp>
      <p:sp>
        <p:nvSpPr>
          <p:cNvPr id="19" name="Text 17"/>
          <p:cNvSpPr/>
          <p:nvPr/>
        </p:nvSpPr>
        <p:spPr>
          <a:xfrm>
            <a:off x="4325112" y="3657600"/>
            <a:ext cx="2633472" cy="65836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7212B"/>
                </a:solidFill>
                <a:latin typeface="Microsoft YaHei" pitchFamily="34" charset="0"/>
                <a:ea typeface="Microsoft YaHei" pitchFamily="34" charset="-122"/>
                <a:cs typeface="Microsoft YaHei" pitchFamily="34" charset="-120"/>
              </a:rPr>
              <a:t>如何依据测试目标判断</a:t>
            </a:r>
            <a:endParaRPr lang="en-US" sz="1600" dirty="0"/>
          </a:p>
          <a:p>
            <a:pPr algn="ctr" indent="0" marL="0">
              <a:lnSpc>
                <a:spcPct val="100000"/>
              </a:lnSpc>
              <a:buNone/>
            </a:pPr>
            <a:r>
              <a:rPr lang="en-US" sz="1600" b="1" dirty="0">
                <a:solidFill>
                  <a:srgbClr val="17212B"/>
                </a:solidFill>
                <a:latin typeface="Microsoft YaHei" pitchFamily="34" charset="0"/>
                <a:ea typeface="Microsoft YaHei" pitchFamily="34" charset="-122"/>
                <a:cs typeface="Microsoft YaHei" pitchFamily="34" charset="-120"/>
              </a:rPr>
              <a:t>哪些状态缺失或证据不足？</a:t>
            </a:r>
            <a:endParaRPr lang="en-US" sz="1600" dirty="0"/>
          </a:p>
        </p:txBody>
      </p:sp>
      <p:sp>
        <p:nvSpPr>
          <p:cNvPr id="20" name="Shape 18"/>
          <p:cNvSpPr/>
          <p:nvPr/>
        </p:nvSpPr>
        <p:spPr>
          <a:xfrm>
            <a:off x="4398264" y="4590288"/>
            <a:ext cx="2487168" cy="329184"/>
          </a:xfrm>
          <a:prstGeom prst="roundRect">
            <a:avLst>
              <a:gd name="adj" fmla="val 50000"/>
            </a:avLst>
          </a:prstGeom>
          <a:solidFill>
            <a:srgbClr val="E5F3F1"/>
          </a:solidFill>
          <a:ln w="12700">
            <a:solidFill>
              <a:srgbClr val="E5F3F1"/>
            </a:solidFill>
            <a:prstDash val="solid"/>
          </a:ln>
        </p:spPr>
      </p:sp>
      <p:sp>
        <p:nvSpPr>
          <p:cNvPr id="21" name="Text 19"/>
          <p:cNvSpPr/>
          <p:nvPr/>
        </p:nvSpPr>
        <p:spPr>
          <a:xfrm>
            <a:off x="4471416" y="4608576"/>
            <a:ext cx="2340864"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87D7B"/>
                </a:solidFill>
                <a:latin typeface="Microsoft YaHei" pitchFamily="34" charset="0"/>
                <a:ea typeface="Microsoft YaHei" pitchFamily="34" charset="-122"/>
                <a:cs typeface="Microsoft YaHei" pitchFamily="34" charset="-120"/>
              </a:rPr>
              <a:t>需求 · 参照 · 组合约束</a:t>
            </a:r>
            <a:endParaRPr lang="en-US" sz="1100" dirty="0"/>
          </a:p>
        </p:txBody>
      </p:sp>
      <p:sp>
        <p:nvSpPr>
          <p:cNvPr id="22" name="Shape 20"/>
          <p:cNvSpPr/>
          <p:nvPr/>
        </p:nvSpPr>
        <p:spPr>
          <a:xfrm>
            <a:off x="7443216" y="2816352"/>
            <a:ext cx="3090672" cy="2313432"/>
          </a:xfrm>
          <a:prstGeom prst="roundRect">
            <a:avLst>
              <a:gd name="adj" fmla="val 3162"/>
            </a:avLst>
          </a:prstGeom>
          <a:solidFill>
            <a:srgbClr val="FFFFFF"/>
          </a:solidFill>
          <a:ln w="12700">
            <a:solidFill>
              <a:srgbClr val="D8E0E6"/>
            </a:solidFill>
            <a:prstDash val="solid"/>
          </a:ln>
        </p:spPr>
      </p:sp>
      <p:sp>
        <p:nvSpPr>
          <p:cNvPr id="23" name="Shape 21"/>
          <p:cNvSpPr/>
          <p:nvPr/>
        </p:nvSpPr>
        <p:spPr>
          <a:xfrm>
            <a:off x="7671816" y="3063240"/>
            <a:ext cx="694944" cy="329184"/>
          </a:xfrm>
          <a:prstGeom prst="roundRect">
            <a:avLst>
              <a:gd name="adj" fmla="val 50000"/>
            </a:avLst>
          </a:prstGeom>
          <a:solidFill>
            <a:srgbClr val="E87524"/>
          </a:solidFill>
          <a:ln w="12700">
            <a:solidFill>
              <a:srgbClr val="E87524"/>
            </a:solidFill>
            <a:prstDash val="solid"/>
          </a:ln>
        </p:spPr>
      </p:sp>
      <p:sp>
        <p:nvSpPr>
          <p:cNvPr id="24" name="Text 22"/>
          <p:cNvSpPr/>
          <p:nvPr/>
        </p:nvSpPr>
        <p:spPr>
          <a:xfrm>
            <a:off x="7744968" y="3081528"/>
            <a:ext cx="548640"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Microsoft YaHei" pitchFamily="34" charset="0"/>
                <a:ea typeface="Microsoft YaHei" pitchFamily="34" charset="-122"/>
                <a:cs typeface="Microsoft YaHei" pitchFamily="34" charset="-120"/>
              </a:rPr>
              <a:t>RQ3</a:t>
            </a:r>
            <a:endParaRPr lang="en-US" sz="1100" dirty="0"/>
          </a:p>
        </p:txBody>
      </p:sp>
      <p:sp>
        <p:nvSpPr>
          <p:cNvPr id="25" name="Text 23"/>
          <p:cNvSpPr/>
          <p:nvPr/>
        </p:nvSpPr>
        <p:spPr>
          <a:xfrm>
            <a:off x="8503920" y="3054096"/>
            <a:ext cx="1645920" cy="301752"/>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E87524"/>
                </a:solidFill>
                <a:latin typeface="Microsoft YaHei" pitchFamily="34" charset="0"/>
                <a:ea typeface="Microsoft YaHei" pitchFamily="34" charset="-122"/>
                <a:cs typeface="Microsoft YaHei" pitchFamily="34" charset="-120"/>
              </a:rPr>
              <a:t>行动与收益</a:t>
            </a:r>
            <a:endParaRPr lang="en-US" sz="1900" dirty="0"/>
          </a:p>
        </p:txBody>
      </p:sp>
      <p:sp>
        <p:nvSpPr>
          <p:cNvPr id="26" name="Text 24"/>
          <p:cNvSpPr/>
          <p:nvPr/>
        </p:nvSpPr>
        <p:spPr>
          <a:xfrm>
            <a:off x="7671816" y="3657600"/>
            <a:ext cx="2633472" cy="65836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7212B"/>
                </a:solidFill>
                <a:latin typeface="Microsoft YaHei" pitchFamily="34" charset="0"/>
                <a:ea typeface="Microsoft YaHei" pitchFamily="34" charset="-122"/>
                <a:cs typeface="Microsoft YaHei" pitchFamily="34" charset="-120"/>
              </a:rPr>
              <a:t>固定预算下，如何分配</a:t>
            </a:r>
            <a:endParaRPr lang="en-US" sz="1600" dirty="0"/>
          </a:p>
          <a:p>
            <a:pPr algn="ctr" indent="0" marL="0">
              <a:lnSpc>
                <a:spcPct val="100000"/>
              </a:lnSpc>
              <a:buNone/>
            </a:pPr>
            <a:r>
              <a:rPr lang="en-US" sz="1600" b="1" dirty="0">
                <a:solidFill>
                  <a:srgbClr val="17212B"/>
                </a:solidFill>
                <a:latin typeface="Microsoft YaHei" pitchFamily="34" charset="0"/>
                <a:ea typeface="Microsoft YaHei" pitchFamily="34" charset="-122"/>
                <a:cs typeface="Microsoft YaHei" pitchFamily="34" charset="-120"/>
              </a:rPr>
              <a:t>复核与补样并验证收益？</a:t>
            </a:r>
            <a:endParaRPr lang="en-US" sz="1600" dirty="0"/>
          </a:p>
        </p:txBody>
      </p:sp>
      <p:sp>
        <p:nvSpPr>
          <p:cNvPr id="27" name="Shape 25"/>
          <p:cNvSpPr/>
          <p:nvPr/>
        </p:nvSpPr>
        <p:spPr>
          <a:xfrm>
            <a:off x="7744968" y="4590288"/>
            <a:ext cx="2487168" cy="329184"/>
          </a:xfrm>
          <a:prstGeom prst="roundRect">
            <a:avLst>
              <a:gd name="adj" fmla="val 50000"/>
            </a:avLst>
          </a:prstGeom>
          <a:solidFill>
            <a:srgbClr val="FCECDD"/>
          </a:solidFill>
          <a:ln w="12700">
            <a:solidFill>
              <a:srgbClr val="FCECDD"/>
            </a:solidFill>
            <a:prstDash val="solid"/>
          </a:ln>
        </p:spPr>
      </p:sp>
      <p:sp>
        <p:nvSpPr>
          <p:cNvPr id="28" name="Text 26"/>
          <p:cNvSpPr/>
          <p:nvPr/>
        </p:nvSpPr>
        <p:spPr>
          <a:xfrm>
            <a:off x="7818120" y="4608576"/>
            <a:ext cx="2340864" cy="274320"/>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E87524"/>
                </a:solidFill>
                <a:latin typeface="Microsoft YaHei" pitchFamily="34" charset="0"/>
                <a:ea typeface="Microsoft YaHei" pitchFamily="34" charset="-122"/>
                <a:cs typeface="Microsoft YaHei" pitchFamily="34" charset="-120"/>
              </a:rPr>
              <a:t>随机基线 · 故障 · 成本</a:t>
            </a:r>
            <a:endParaRPr lang="en-US" sz="1100" dirty="0"/>
          </a:p>
        </p:txBody>
      </p:sp>
      <p:sp>
        <p:nvSpPr>
          <p:cNvPr id="29" name="Text 27"/>
          <p:cNvSpPr/>
          <p:nvPr/>
        </p:nvSpPr>
        <p:spPr>
          <a:xfrm>
            <a:off x="987552" y="5596128"/>
            <a:ext cx="10204704" cy="356616"/>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B84A3A"/>
                </a:solidFill>
                <a:latin typeface="Microsoft YaHei" pitchFamily="34" charset="0"/>
                <a:ea typeface="Microsoft YaHei" pitchFamily="34" charset="-122"/>
                <a:cs typeface="Microsoft YaHei" pitchFamily="34" charset="-120"/>
              </a:rPr>
              <a:t>当前犬类实验覆盖 RQ1、RQ2 与初步补样；RQ3 的独立效用验证尚未完成。</a:t>
            </a:r>
            <a:endParaRPr lang="en-US" sz="1800" dirty="0"/>
          </a:p>
        </p:txBody>
      </p:sp>
      <p:sp>
        <p:nvSpPr>
          <p:cNvPr id="30" name="Text 28"/>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05 · CURRENT WORK</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当前验证载体：dog_v3.1 犬类视觉状态覆盖流程</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固定目标、三视图输入、23项枚举特征、严格校验与缺口驱动选图</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pic>
        <p:nvPicPr>
          <p:cNvPr id="6" name="Image 0" descr="/home/hcf/project/QE/output/imagegen/dog_v3_1_workflow_zh_polished.png">    </p:cNvPr>
          <p:cNvPicPr>
            <a:picLocks noChangeAspect="1"/>
          </p:cNvPicPr>
          <p:nvPr/>
        </p:nvPicPr>
        <p:blipFill>
          <a:blip r:embed="rId1"/>
          <a:stretch>
            <a:fillRect/>
          </a:stretch>
        </p:blipFill>
        <p:spPr>
          <a:xfrm>
            <a:off x="594360" y="1627632"/>
            <a:ext cx="11000232" cy="3666744"/>
          </a:xfrm>
          <a:prstGeom prst="rect">
            <a:avLst/>
          </a:prstGeom>
        </p:spPr>
      </p:pic>
      <p:sp>
        <p:nvSpPr>
          <p:cNvPr id="7" name="Shape 4"/>
          <p:cNvSpPr/>
          <p:nvPr/>
        </p:nvSpPr>
        <p:spPr>
          <a:xfrm>
            <a:off x="786384" y="5522976"/>
            <a:ext cx="10616184" cy="457200"/>
          </a:xfrm>
          <a:prstGeom prst="roundRect">
            <a:avLst>
              <a:gd name="adj" fmla="val 16000"/>
            </a:avLst>
          </a:prstGeom>
          <a:solidFill>
            <a:srgbClr val="FCECDD"/>
          </a:solidFill>
          <a:ln w="12700">
            <a:solidFill>
              <a:srgbClr val="E87524"/>
            </a:solidFill>
            <a:prstDash val="solid"/>
          </a:ln>
        </p:spPr>
      </p:sp>
      <p:sp>
        <p:nvSpPr>
          <p:cNvPr id="8" name="Text 5"/>
          <p:cNvSpPr/>
          <p:nvPr/>
        </p:nvSpPr>
        <p:spPr>
          <a:xfrm>
            <a:off x="987552" y="5632704"/>
            <a:ext cx="10213848" cy="256032"/>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E87524"/>
                </a:solidFill>
                <a:latin typeface="Microsoft YaHei" pitchFamily="34" charset="0"/>
                <a:ea typeface="Microsoft YaHei" pitchFamily="34" charset="-122"/>
                <a:cs typeface="Microsoft YaHei" pitchFamily="34" charset="-120"/>
              </a:rPr>
              <a:t>为什么选 dog：COCO 有目标框、类内状态丰富；VLM只负责属性测量，不是被测识别模型。</a:t>
            </a:r>
            <a:endParaRPr lang="en-US" sz="1450" dirty="0"/>
          </a:p>
        </p:txBody>
      </p:sp>
      <p:sp>
        <p:nvSpPr>
          <p:cNvPr id="9" name="Text 6"/>
          <p:cNvSpPr/>
          <p:nvPr/>
        </p:nvSpPr>
        <p:spPr>
          <a:xfrm>
            <a:off x="585216" y="6172200"/>
            <a:ext cx="10881360" cy="182880"/>
          </a:xfrm>
          <a:prstGeom prst="rect">
            <a:avLst/>
          </a:prstGeom>
          <a:noFill/>
          <a:ln/>
        </p:spPr>
        <p:txBody>
          <a:bodyPr wrap="square" lIns="0" tIns="0" rIns="0" bIns="0" rtlCol="0" anchor="ctr">
            <a:normAutofit/>
          </a:bodyPr>
          <a:lstStyle/>
          <a:p>
            <a:pPr algn="l" indent="0" marL="0">
              <a:lnSpc>
                <a:spcPct val="100000"/>
              </a:lnSpc>
              <a:buNone/>
            </a:pPr>
            <a:r>
              <a:rPr lang="en-US" sz="850" i="1" dirty="0">
                <a:solidFill>
                  <a:srgbClr val="6E7A84"/>
                </a:solidFill>
                <a:latin typeface="Microsoft YaHei" pitchFamily="34" charset="0"/>
                <a:ea typeface="Microsoft YaHei" pitchFamily="34" charset="-122"/>
                <a:cs typeface="Microsoft YaHei" pitchFamily="34" charset="-120"/>
              </a:rPr>
              <a:t>项目流程与证据：docs/dog_v3_1_overall_workflow.md；docs/dog_v3_1_claim_evidence.md</a:t>
            </a:r>
            <a:endParaRPr lang="en-US" sz="850" dirty="0"/>
          </a:p>
        </p:txBody>
      </p:sp>
      <p:sp>
        <p:nvSpPr>
          <p:cNvPr id="10" name="Text 7"/>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05 · CURRENT WORK</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初步结果：覆盖能够被测量，也能够被定向改善</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但当前证据只支持“状态覆盖改善”，不支持“识别性能改善”</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621792" y="1700784"/>
            <a:ext cx="6565392" cy="4078224"/>
          </a:xfrm>
          <a:prstGeom prst="roundRect">
            <a:avLst>
              <a:gd name="adj" fmla="val 1794"/>
            </a:avLst>
          </a:prstGeom>
          <a:solidFill>
            <a:srgbClr val="FFFFFF"/>
          </a:solidFill>
          <a:ln w="12700">
            <a:solidFill>
              <a:srgbClr val="D8E0E6"/>
            </a:solidFill>
            <a:prstDash val="solid"/>
          </a:ln>
        </p:spPr>
      </p:sp>
      <p:pic>
        <p:nvPicPr>
          <p:cNvPr id="7" name="Image 0" descr="/home/hcf/project/QE/docs/dog_v3_1_figures/fig1_coverage_before_after.png">    </p:cNvPr>
          <p:cNvPicPr>
            <a:picLocks noChangeAspect="1"/>
          </p:cNvPicPr>
          <p:nvPr/>
        </p:nvPicPr>
        <p:blipFill>
          <a:blip r:embed="rId1"/>
          <a:stretch>
            <a:fillRect/>
          </a:stretch>
        </p:blipFill>
        <p:spPr>
          <a:xfrm>
            <a:off x="859536" y="1965960"/>
            <a:ext cx="6080760" cy="3502152"/>
          </a:xfrm>
          <a:prstGeom prst="rect">
            <a:avLst/>
          </a:prstGeom>
        </p:spPr>
      </p:pic>
      <p:sp>
        <p:nvSpPr>
          <p:cNvPr id="8" name="Shape 5"/>
          <p:cNvSpPr/>
          <p:nvPr/>
        </p:nvSpPr>
        <p:spPr>
          <a:xfrm>
            <a:off x="7461504" y="1719072"/>
            <a:ext cx="1847088" cy="1024128"/>
          </a:xfrm>
          <a:prstGeom prst="roundRect">
            <a:avLst>
              <a:gd name="adj" fmla="val 7143"/>
            </a:avLst>
          </a:prstGeom>
          <a:solidFill>
            <a:srgbClr val="FFFFFF"/>
          </a:solidFill>
          <a:ln w="12700">
            <a:solidFill>
              <a:srgbClr val="D8E0E6"/>
            </a:solidFill>
            <a:prstDash val="solid"/>
          </a:ln>
        </p:spPr>
      </p:sp>
      <p:sp>
        <p:nvSpPr>
          <p:cNvPr id="9" name="Shape 6"/>
          <p:cNvSpPr/>
          <p:nvPr/>
        </p:nvSpPr>
        <p:spPr>
          <a:xfrm>
            <a:off x="7461504" y="1719072"/>
            <a:ext cx="73152" cy="1024128"/>
          </a:xfrm>
          <a:prstGeom prst="rect">
            <a:avLst/>
          </a:prstGeom>
          <a:solidFill>
            <a:srgbClr val="2E6F9E"/>
          </a:solidFill>
          <a:ln w="12700">
            <a:solidFill>
              <a:srgbClr val="2E6F9E"/>
            </a:solidFill>
            <a:prstDash val="solid"/>
          </a:ln>
        </p:spPr>
      </p:sp>
      <p:sp>
        <p:nvSpPr>
          <p:cNvPr id="10" name="Text 7"/>
          <p:cNvSpPr/>
          <p:nvPr/>
        </p:nvSpPr>
        <p:spPr>
          <a:xfrm>
            <a:off x="7680960" y="1837944"/>
            <a:ext cx="1517904" cy="393192"/>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2E6F9E"/>
                </a:solidFill>
                <a:latin typeface="Aptos" pitchFamily="34" charset="0"/>
                <a:ea typeface="Aptos" pitchFamily="34" charset="-122"/>
                <a:cs typeface="Aptos" pitchFamily="34" charset="-120"/>
              </a:rPr>
              <a:t>900 / 900</a:t>
            </a:r>
            <a:endParaRPr lang="en-US" sz="2500" dirty="0"/>
          </a:p>
        </p:txBody>
      </p:sp>
      <p:sp>
        <p:nvSpPr>
          <p:cNvPr id="11" name="Text 8"/>
          <p:cNvSpPr/>
          <p:nvPr/>
        </p:nvSpPr>
        <p:spPr>
          <a:xfrm>
            <a:off x="7680960" y="2240280"/>
            <a:ext cx="1517904" cy="22860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7212B"/>
                </a:solidFill>
                <a:latin typeface="Microsoft YaHei" pitchFamily="34" charset="0"/>
                <a:ea typeface="Microsoft YaHei" pitchFamily="34" charset="-122"/>
                <a:cs typeface="Microsoft YaHei" pitchFamily="34" charset="-120"/>
              </a:rPr>
              <a:t>严格特征响应通过校验</a:t>
            </a:r>
            <a:endParaRPr lang="en-US" sz="1250" dirty="0"/>
          </a:p>
        </p:txBody>
      </p:sp>
      <p:sp>
        <p:nvSpPr>
          <p:cNvPr id="12" name="Text 9"/>
          <p:cNvSpPr/>
          <p:nvPr/>
        </p:nvSpPr>
        <p:spPr>
          <a:xfrm>
            <a:off x="7680960" y="2487168"/>
            <a:ext cx="1517904" cy="155448"/>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F6B76"/>
                </a:solidFill>
                <a:latin typeface="Microsoft YaHei" pitchFamily="34" charset="0"/>
                <a:ea typeface="Microsoft YaHei" pitchFamily="34" charset="-122"/>
                <a:cs typeface="Microsoft YaHei" pitchFamily="34" charset="-120"/>
              </a:rPr>
              <a:t>500初始 + 400候选</a:t>
            </a:r>
            <a:endParaRPr lang="en-US" sz="950" dirty="0"/>
          </a:p>
        </p:txBody>
      </p:sp>
      <p:sp>
        <p:nvSpPr>
          <p:cNvPr id="13" name="Shape 10"/>
          <p:cNvSpPr/>
          <p:nvPr/>
        </p:nvSpPr>
        <p:spPr>
          <a:xfrm>
            <a:off x="9528048" y="1719072"/>
            <a:ext cx="1847088" cy="1024128"/>
          </a:xfrm>
          <a:prstGeom prst="roundRect">
            <a:avLst>
              <a:gd name="adj" fmla="val 7143"/>
            </a:avLst>
          </a:prstGeom>
          <a:solidFill>
            <a:srgbClr val="FFFFFF"/>
          </a:solidFill>
          <a:ln w="12700">
            <a:solidFill>
              <a:srgbClr val="D8E0E6"/>
            </a:solidFill>
            <a:prstDash val="solid"/>
          </a:ln>
        </p:spPr>
      </p:sp>
      <p:sp>
        <p:nvSpPr>
          <p:cNvPr id="14" name="Shape 11"/>
          <p:cNvSpPr/>
          <p:nvPr/>
        </p:nvSpPr>
        <p:spPr>
          <a:xfrm>
            <a:off x="9528048" y="1719072"/>
            <a:ext cx="73152" cy="1024128"/>
          </a:xfrm>
          <a:prstGeom prst="rect">
            <a:avLst/>
          </a:prstGeom>
          <a:solidFill>
            <a:srgbClr val="187D7B"/>
          </a:solidFill>
          <a:ln w="12700">
            <a:solidFill>
              <a:srgbClr val="187D7B"/>
            </a:solidFill>
            <a:prstDash val="solid"/>
          </a:ln>
        </p:spPr>
      </p:sp>
      <p:sp>
        <p:nvSpPr>
          <p:cNvPr id="15" name="Text 12"/>
          <p:cNvSpPr/>
          <p:nvPr/>
        </p:nvSpPr>
        <p:spPr>
          <a:xfrm>
            <a:off x="9747504" y="1837944"/>
            <a:ext cx="1517904" cy="393192"/>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187D7B"/>
                </a:solidFill>
                <a:latin typeface="Aptos" pitchFamily="34" charset="0"/>
                <a:ea typeface="Aptos" pitchFamily="34" charset="-122"/>
                <a:cs typeface="Aptos" pitchFamily="34" charset="-120"/>
              </a:rPr>
              <a:t>596</a:t>
            </a:r>
            <a:endParaRPr lang="en-US" sz="2500" dirty="0"/>
          </a:p>
        </p:txBody>
      </p:sp>
      <p:sp>
        <p:nvSpPr>
          <p:cNvPr id="16" name="Text 13"/>
          <p:cNvSpPr/>
          <p:nvPr/>
        </p:nvSpPr>
        <p:spPr>
          <a:xfrm>
            <a:off x="9747504" y="2240280"/>
            <a:ext cx="1517904" cy="22860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7212B"/>
                </a:solidFill>
                <a:latin typeface="Microsoft YaHei" pitchFamily="34" charset="0"/>
                <a:ea typeface="Microsoft YaHei" pitchFamily="34" charset="-122"/>
                <a:cs typeface="Microsoft YaHei" pitchFamily="34" charset="-120"/>
              </a:rPr>
              <a:t>最终清洁图片</a:t>
            </a:r>
            <a:endParaRPr lang="en-US" sz="1250" dirty="0"/>
          </a:p>
        </p:txBody>
      </p:sp>
      <p:sp>
        <p:nvSpPr>
          <p:cNvPr id="17" name="Text 14"/>
          <p:cNvSpPr/>
          <p:nvPr/>
        </p:nvSpPr>
        <p:spPr>
          <a:xfrm>
            <a:off x="9747504" y="2487168"/>
            <a:ext cx="1517904" cy="155448"/>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F6B76"/>
                </a:solidFill>
                <a:latin typeface="Microsoft YaHei" pitchFamily="34" charset="0"/>
                <a:ea typeface="Microsoft YaHei" pitchFamily="34" charset="-122"/>
                <a:cs typeface="Microsoft YaHei" pitchFamily="34" charset="-120"/>
              </a:rPr>
              <a:t>600合并 - 4非真实犬</a:t>
            </a:r>
            <a:endParaRPr lang="en-US" sz="950" dirty="0"/>
          </a:p>
        </p:txBody>
      </p:sp>
      <p:sp>
        <p:nvSpPr>
          <p:cNvPr id="18" name="Shape 15"/>
          <p:cNvSpPr/>
          <p:nvPr/>
        </p:nvSpPr>
        <p:spPr>
          <a:xfrm>
            <a:off x="7461504" y="2971800"/>
            <a:ext cx="3913632" cy="1024128"/>
          </a:xfrm>
          <a:prstGeom prst="roundRect">
            <a:avLst>
              <a:gd name="adj" fmla="val 7143"/>
            </a:avLst>
          </a:prstGeom>
          <a:solidFill>
            <a:srgbClr val="FFFFFF"/>
          </a:solidFill>
          <a:ln w="12700">
            <a:solidFill>
              <a:srgbClr val="D8E0E6"/>
            </a:solidFill>
            <a:prstDash val="solid"/>
          </a:ln>
        </p:spPr>
      </p:sp>
      <p:sp>
        <p:nvSpPr>
          <p:cNvPr id="19" name="Shape 16"/>
          <p:cNvSpPr/>
          <p:nvPr/>
        </p:nvSpPr>
        <p:spPr>
          <a:xfrm>
            <a:off x="7461504" y="2971800"/>
            <a:ext cx="73152" cy="1024128"/>
          </a:xfrm>
          <a:prstGeom prst="rect">
            <a:avLst/>
          </a:prstGeom>
          <a:solidFill>
            <a:srgbClr val="E87524"/>
          </a:solidFill>
          <a:ln w="12700">
            <a:solidFill>
              <a:srgbClr val="E87524"/>
            </a:solidFill>
            <a:prstDash val="solid"/>
          </a:ln>
        </p:spPr>
      </p:sp>
      <p:sp>
        <p:nvSpPr>
          <p:cNvPr id="20" name="Text 17"/>
          <p:cNvSpPr/>
          <p:nvPr/>
        </p:nvSpPr>
        <p:spPr>
          <a:xfrm>
            <a:off x="7680960" y="3090672"/>
            <a:ext cx="3584448" cy="393192"/>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E87524"/>
                </a:solidFill>
                <a:latin typeface="Aptos" pitchFamily="34" charset="0"/>
                <a:ea typeface="Aptos" pitchFamily="34" charset="-122"/>
                <a:cs typeface="Aptos" pitchFamily="34" charset="-120"/>
              </a:rPr>
              <a:t>78.64% → 84.17%</a:t>
            </a:r>
            <a:endParaRPr lang="en-US" sz="2500" dirty="0"/>
          </a:p>
        </p:txBody>
      </p:sp>
      <p:sp>
        <p:nvSpPr>
          <p:cNvPr id="21" name="Text 18"/>
          <p:cNvSpPr/>
          <p:nvPr/>
        </p:nvSpPr>
        <p:spPr>
          <a:xfrm>
            <a:off x="7680960" y="3493008"/>
            <a:ext cx="3584448" cy="22860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7212B"/>
                </a:solidFill>
                <a:latin typeface="Microsoft YaHei" pitchFamily="34" charset="0"/>
                <a:ea typeface="Microsoft YaHei" pitchFamily="34" charset="-122"/>
                <a:cs typeface="Microsoft YaHei" pitchFamily="34" charset="-120"/>
              </a:rPr>
              <a:t>状态覆盖指数</a:t>
            </a:r>
            <a:endParaRPr lang="en-US" sz="1250" dirty="0"/>
          </a:p>
        </p:txBody>
      </p:sp>
      <p:sp>
        <p:nvSpPr>
          <p:cNvPr id="22" name="Text 19"/>
          <p:cNvSpPr/>
          <p:nvPr/>
        </p:nvSpPr>
        <p:spPr>
          <a:xfrm>
            <a:off x="7680960" y="3739896"/>
            <a:ext cx="3584448" cy="155448"/>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F6B76"/>
                </a:solidFill>
                <a:latin typeface="Microsoft YaHei" pitchFamily="34" charset="0"/>
                <a:ea typeface="Microsoft YaHei" pitchFamily="34" charset="-122"/>
                <a:cs typeface="Microsoft YaHei" pitchFamily="34" charset="-120"/>
              </a:rPr>
              <a:t>提升5.53个百分点</a:t>
            </a:r>
            <a:endParaRPr lang="en-US" sz="950" dirty="0"/>
          </a:p>
        </p:txBody>
      </p:sp>
      <p:sp>
        <p:nvSpPr>
          <p:cNvPr id="23" name="Shape 20"/>
          <p:cNvSpPr/>
          <p:nvPr/>
        </p:nvSpPr>
        <p:spPr>
          <a:xfrm>
            <a:off x="7461504" y="4224528"/>
            <a:ext cx="3913632" cy="1024128"/>
          </a:xfrm>
          <a:prstGeom prst="roundRect">
            <a:avLst>
              <a:gd name="adj" fmla="val 7143"/>
            </a:avLst>
          </a:prstGeom>
          <a:solidFill>
            <a:srgbClr val="FFFFFF"/>
          </a:solidFill>
          <a:ln w="12700">
            <a:solidFill>
              <a:srgbClr val="D8E0E6"/>
            </a:solidFill>
            <a:prstDash val="solid"/>
          </a:ln>
        </p:spPr>
      </p:sp>
      <p:sp>
        <p:nvSpPr>
          <p:cNvPr id="24" name="Shape 21"/>
          <p:cNvSpPr/>
          <p:nvPr/>
        </p:nvSpPr>
        <p:spPr>
          <a:xfrm>
            <a:off x="7461504" y="4224528"/>
            <a:ext cx="73152" cy="1024128"/>
          </a:xfrm>
          <a:prstGeom prst="rect">
            <a:avLst/>
          </a:prstGeom>
          <a:solidFill>
            <a:srgbClr val="2F7D5A"/>
          </a:solidFill>
          <a:ln w="12700">
            <a:solidFill>
              <a:srgbClr val="2F7D5A"/>
            </a:solidFill>
            <a:prstDash val="solid"/>
          </a:ln>
        </p:spPr>
      </p:sp>
      <p:sp>
        <p:nvSpPr>
          <p:cNvPr id="25" name="Text 22"/>
          <p:cNvSpPr/>
          <p:nvPr/>
        </p:nvSpPr>
        <p:spPr>
          <a:xfrm>
            <a:off x="7680960" y="4343400"/>
            <a:ext cx="3584448" cy="393192"/>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2F7D5A"/>
                </a:solidFill>
                <a:latin typeface="Aptos" pitchFamily="34" charset="0"/>
                <a:ea typeface="Aptos" pitchFamily="34" charset="-122"/>
                <a:cs typeface="Aptos" pitchFamily="34" charset="-120"/>
              </a:rPr>
              <a:t>45 → 33</a:t>
            </a:r>
            <a:endParaRPr lang="en-US" sz="2500" dirty="0"/>
          </a:p>
        </p:txBody>
      </p:sp>
      <p:sp>
        <p:nvSpPr>
          <p:cNvPr id="26" name="Text 23"/>
          <p:cNvSpPr/>
          <p:nvPr/>
        </p:nvSpPr>
        <p:spPr>
          <a:xfrm>
            <a:off x="7680960" y="4745736"/>
            <a:ext cx="3584448" cy="22860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7212B"/>
                </a:solidFill>
                <a:latin typeface="Microsoft YaHei" pitchFamily="34" charset="0"/>
                <a:ea typeface="Microsoft YaHei" pitchFamily="34" charset="-122"/>
                <a:cs typeface="Microsoft YaHei" pitchFamily="34" charset="-120"/>
              </a:rPr>
              <a:t>最终低频状态数量</a:t>
            </a:r>
            <a:endParaRPr lang="en-US" sz="1250" dirty="0"/>
          </a:p>
        </p:txBody>
      </p:sp>
      <p:sp>
        <p:nvSpPr>
          <p:cNvPr id="27" name="Text 24"/>
          <p:cNvSpPr/>
          <p:nvPr/>
        </p:nvSpPr>
        <p:spPr>
          <a:xfrm>
            <a:off x="7680960" y="4992624"/>
            <a:ext cx="3584448" cy="155448"/>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F6B76"/>
                </a:solidFill>
                <a:latin typeface="Microsoft YaHei" pitchFamily="34" charset="0"/>
                <a:ea typeface="Microsoft YaHei" pitchFamily="34" charset="-122"/>
                <a:cs typeface="Microsoft YaHei" pitchFamily="34" charset="-120"/>
              </a:rPr>
              <a:t>清洁596张口径</a:t>
            </a:r>
            <a:endParaRPr lang="en-US" sz="950" dirty="0"/>
          </a:p>
        </p:txBody>
      </p:sp>
      <p:sp>
        <p:nvSpPr>
          <p:cNvPr id="28" name="Shape 25"/>
          <p:cNvSpPr/>
          <p:nvPr/>
        </p:nvSpPr>
        <p:spPr>
          <a:xfrm>
            <a:off x="804672" y="5760720"/>
            <a:ext cx="3401568" cy="502920"/>
          </a:xfrm>
          <a:prstGeom prst="roundRect">
            <a:avLst>
              <a:gd name="adj" fmla="val 14545"/>
            </a:avLst>
          </a:prstGeom>
          <a:solidFill>
            <a:srgbClr val="E7F2EC"/>
          </a:solidFill>
          <a:ln w="12700">
            <a:solidFill>
              <a:srgbClr val="2F7D5A"/>
            </a:solidFill>
            <a:prstDash val="solid"/>
          </a:ln>
        </p:spPr>
      </p:sp>
      <p:sp>
        <p:nvSpPr>
          <p:cNvPr id="29" name="Text 26"/>
          <p:cNvSpPr/>
          <p:nvPr/>
        </p:nvSpPr>
        <p:spPr>
          <a:xfrm>
            <a:off x="932688" y="5870448"/>
            <a:ext cx="3145536" cy="256032"/>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2F7D5A"/>
                </a:solidFill>
                <a:latin typeface="Microsoft YaHei" pitchFamily="34" charset="0"/>
                <a:ea typeface="Microsoft YaHei" pitchFamily="34" charset="-122"/>
                <a:cs typeface="Microsoft YaHei" pitchFamily="34" charset="-120"/>
              </a:rPr>
              <a:t>观察｜覆盖 +5.53 pp，低频状态 45 → 33</a:t>
            </a:r>
            <a:endParaRPr lang="en-US" sz="1150" dirty="0"/>
          </a:p>
        </p:txBody>
      </p:sp>
      <p:sp>
        <p:nvSpPr>
          <p:cNvPr id="30" name="Shape 27"/>
          <p:cNvSpPr/>
          <p:nvPr/>
        </p:nvSpPr>
        <p:spPr>
          <a:xfrm>
            <a:off x="4389120" y="5760720"/>
            <a:ext cx="3401568" cy="502920"/>
          </a:xfrm>
          <a:prstGeom prst="roundRect">
            <a:avLst>
              <a:gd name="adj" fmla="val 14545"/>
            </a:avLst>
          </a:prstGeom>
          <a:solidFill>
            <a:srgbClr val="FCECDD"/>
          </a:solidFill>
          <a:ln w="12700">
            <a:solidFill>
              <a:srgbClr val="E87524"/>
            </a:solidFill>
            <a:prstDash val="solid"/>
          </a:ln>
        </p:spPr>
      </p:sp>
      <p:sp>
        <p:nvSpPr>
          <p:cNvPr id="31" name="Text 28"/>
          <p:cNvSpPr/>
          <p:nvPr/>
        </p:nvSpPr>
        <p:spPr>
          <a:xfrm>
            <a:off x="4517136" y="5870448"/>
            <a:ext cx="3145536" cy="256032"/>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E87524"/>
                </a:solidFill>
                <a:latin typeface="Microsoft YaHei" pitchFamily="34" charset="0"/>
                <a:ea typeface="Microsoft YaHei" pitchFamily="34" charset="-122"/>
                <a:cs typeface="Microsoft YaHei" pitchFamily="34" charset="-120"/>
              </a:rPr>
              <a:t>解释｜当前协议下，状态缺口得到改善</a:t>
            </a:r>
            <a:endParaRPr lang="en-US" sz="1150" dirty="0"/>
          </a:p>
        </p:txBody>
      </p:sp>
      <p:sp>
        <p:nvSpPr>
          <p:cNvPr id="32" name="Shape 29"/>
          <p:cNvSpPr/>
          <p:nvPr/>
        </p:nvSpPr>
        <p:spPr>
          <a:xfrm>
            <a:off x="7973568" y="5760720"/>
            <a:ext cx="3401568" cy="502920"/>
          </a:xfrm>
          <a:prstGeom prst="roundRect">
            <a:avLst>
              <a:gd name="adj" fmla="val 14545"/>
            </a:avLst>
          </a:prstGeom>
          <a:solidFill>
            <a:srgbClr val="F8E7E4"/>
          </a:solidFill>
          <a:ln w="12700">
            <a:solidFill>
              <a:srgbClr val="B84A3A"/>
            </a:solidFill>
            <a:prstDash val="solid"/>
          </a:ln>
        </p:spPr>
      </p:sp>
      <p:sp>
        <p:nvSpPr>
          <p:cNvPr id="33" name="Text 30"/>
          <p:cNvSpPr/>
          <p:nvPr/>
        </p:nvSpPr>
        <p:spPr>
          <a:xfrm>
            <a:off x="8101584" y="5870448"/>
            <a:ext cx="3145536" cy="256032"/>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B84A3A"/>
                </a:solidFill>
                <a:latin typeface="Microsoft YaHei" pitchFamily="34" charset="0"/>
                <a:ea typeface="Microsoft YaHei" pitchFamily="34" charset="-122"/>
                <a:cs typeface="Microsoft YaHei" pitchFamily="34" charset="-120"/>
              </a:rPr>
              <a:t>边界｜不是识别性能；尚无随机基线</a:t>
            </a:r>
            <a:endParaRPr lang="en-US" sz="1150" dirty="0"/>
          </a:p>
        </p:txBody>
      </p:sp>
      <p:sp>
        <p:nvSpPr>
          <p:cNvPr id="34" name="Text 31"/>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06 · RESEARCH METHOD</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第一阶段验证主线：D0 → dog 训练补样 → D1</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检验覆盖诊断的训练数据效用；测试集故障检出能力需要另行验证</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13232" y="1764792"/>
            <a:ext cx="2359152" cy="2761488"/>
          </a:xfrm>
          <a:prstGeom prst="roundRect">
            <a:avLst>
              <a:gd name="adj" fmla="val 3101"/>
            </a:avLst>
          </a:prstGeom>
          <a:solidFill>
            <a:srgbClr val="FFFFFF"/>
          </a:solidFill>
          <a:ln w="12700">
            <a:solidFill>
              <a:srgbClr val="D8E0E6"/>
            </a:solidFill>
            <a:prstDash val="solid"/>
          </a:ln>
        </p:spPr>
      </p:sp>
      <p:sp>
        <p:nvSpPr>
          <p:cNvPr id="7" name="Shape 5"/>
          <p:cNvSpPr/>
          <p:nvPr/>
        </p:nvSpPr>
        <p:spPr>
          <a:xfrm>
            <a:off x="713232" y="1764792"/>
            <a:ext cx="2359152" cy="91440"/>
          </a:xfrm>
          <a:prstGeom prst="rect">
            <a:avLst/>
          </a:prstGeom>
          <a:solidFill>
            <a:srgbClr val="2E6F9E"/>
          </a:solidFill>
          <a:ln w="12700">
            <a:solidFill>
              <a:srgbClr val="2E6F9E"/>
            </a:solidFill>
            <a:prstDash val="solid"/>
          </a:ln>
        </p:spPr>
      </p:sp>
      <p:sp>
        <p:nvSpPr>
          <p:cNvPr id="8" name="Shape 6"/>
          <p:cNvSpPr/>
          <p:nvPr/>
        </p:nvSpPr>
        <p:spPr>
          <a:xfrm>
            <a:off x="914400" y="2011680"/>
            <a:ext cx="347472" cy="347472"/>
          </a:xfrm>
          <a:prstGeom prst="ellipse">
            <a:avLst/>
          </a:prstGeom>
          <a:solidFill>
            <a:srgbClr val="2E6F9E"/>
          </a:solidFill>
          <a:ln w="12700">
            <a:solidFill>
              <a:srgbClr val="2E6F9E"/>
            </a:solidFill>
            <a:prstDash val="solid"/>
          </a:ln>
        </p:spPr>
      </p:sp>
      <p:sp>
        <p:nvSpPr>
          <p:cNvPr id="9" name="Text 7"/>
          <p:cNvSpPr/>
          <p:nvPr/>
        </p:nvSpPr>
        <p:spPr>
          <a:xfrm>
            <a:off x="914400" y="202082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Text 8"/>
          <p:cNvSpPr/>
          <p:nvPr/>
        </p:nvSpPr>
        <p:spPr>
          <a:xfrm>
            <a:off x="1353312" y="1993392"/>
            <a:ext cx="1490472" cy="411480"/>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2E6F9E"/>
                </a:solidFill>
                <a:latin typeface="Microsoft YaHei" pitchFamily="34" charset="0"/>
                <a:ea typeface="Microsoft YaHei" pitchFamily="34" charset="-122"/>
                <a:cs typeface="Microsoft YaHei" pitchFamily="34" charset="-120"/>
              </a:rPr>
              <a:t>固定总集 D0</a:t>
            </a:r>
            <a:endParaRPr lang="en-US" sz="1700" dirty="0"/>
          </a:p>
        </p:txBody>
      </p:sp>
      <p:sp>
        <p:nvSpPr>
          <p:cNvPr id="11" name="Shape 9"/>
          <p:cNvSpPr/>
          <p:nvPr/>
        </p:nvSpPr>
        <p:spPr>
          <a:xfrm>
            <a:off x="896112" y="2670048"/>
            <a:ext cx="1993392" cy="786384"/>
          </a:xfrm>
          <a:prstGeom prst="roundRect">
            <a:avLst>
              <a:gd name="adj" fmla="val 9302"/>
            </a:avLst>
          </a:prstGeom>
          <a:solidFill>
            <a:srgbClr val="E7F0F7"/>
          </a:solidFill>
          <a:ln w="12700">
            <a:solidFill>
              <a:srgbClr val="E7F0F7"/>
            </a:solidFill>
            <a:prstDash val="solid"/>
          </a:ln>
        </p:spPr>
      </p:sp>
      <p:sp>
        <p:nvSpPr>
          <p:cNvPr id="12" name="Text 10"/>
          <p:cNvSpPr/>
          <p:nvPr/>
        </p:nvSpPr>
        <p:spPr>
          <a:xfrm>
            <a:off x="987552" y="2834640"/>
            <a:ext cx="1810512" cy="47548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按类别整理，固定</a:t>
            </a:r>
            <a:endParaRPr lang="en-US" sz="1400" dirty="0"/>
          </a:p>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训练 / 验证 / 测试划分</a:t>
            </a:r>
            <a:endParaRPr lang="en-US" sz="1400" dirty="0"/>
          </a:p>
        </p:txBody>
      </p:sp>
      <p:sp>
        <p:nvSpPr>
          <p:cNvPr id="13" name="Text 11"/>
          <p:cNvSpPr/>
          <p:nvPr/>
        </p:nvSpPr>
        <p:spPr>
          <a:xfrm>
            <a:off x="914400" y="3767328"/>
            <a:ext cx="1956816" cy="530352"/>
          </a:xfrm>
          <a:prstGeom prst="rect">
            <a:avLst/>
          </a:prstGeom>
          <a:noFill/>
          <a:ln/>
        </p:spPr>
        <p:txBody>
          <a:bodyPr wrap="square" lIns="0" tIns="0" rIns="0" bIns="0" rtlCol="0" anchor="ctr">
            <a:normAutofit/>
          </a:bodyPr>
          <a:lstStyle/>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计划：统一模型得到</a:t>
            </a:r>
            <a:endParaRPr lang="en-US" sz="1150" dirty="0"/>
          </a:p>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基线指标 M_before</a:t>
            </a:r>
            <a:endParaRPr lang="en-US" sz="1150" dirty="0"/>
          </a:p>
        </p:txBody>
      </p:sp>
      <p:sp>
        <p:nvSpPr>
          <p:cNvPr id="14" name="Shape 12"/>
          <p:cNvSpPr/>
          <p:nvPr/>
        </p:nvSpPr>
        <p:spPr>
          <a:xfrm>
            <a:off x="3145536" y="3145536"/>
            <a:ext cx="265176" cy="0"/>
          </a:xfrm>
          <a:prstGeom prst="line">
            <a:avLst/>
          </a:prstGeom>
          <a:noFill/>
          <a:ln w="22860">
            <a:solidFill>
              <a:srgbClr val="9DAEB9"/>
            </a:solidFill>
            <a:prstDash val="solid"/>
            <a:headEnd type="none"/>
            <a:tailEnd type="triangle"/>
          </a:ln>
        </p:spPr>
      </p:sp>
      <p:sp>
        <p:nvSpPr>
          <p:cNvPr id="15" name="Shape 13"/>
          <p:cNvSpPr/>
          <p:nvPr/>
        </p:nvSpPr>
        <p:spPr>
          <a:xfrm>
            <a:off x="3474720" y="1764792"/>
            <a:ext cx="2359152" cy="2761488"/>
          </a:xfrm>
          <a:prstGeom prst="roundRect">
            <a:avLst>
              <a:gd name="adj" fmla="val 3101"/>
            </a:avLst>
          </a:prstGeom>
          <a:solidFill>
            <a:srgbClr val="FFFFFF"/>
          </a:solidFill>
          <a:ln w="12700">
            <a:solidFill>
              <a:srgbClr val="D8E0E6"/>
            </a:solidFill>
            <a:prstDash val="solid"/>
          </a:ln>
        </p:spPr>
      </p:sp>
      <p:sp>
        <p:nvSpPr>
          <p:cNvPr id="16" name="Shape 14"/>
          <p:cNvSpPr/>
          <p:nvPr/>
        </p:nvSpPr>
        <p:spPr>
          <a:xfrm>
            <a:off x="3474720" y="1764792"/>
            <a:ext cx="2359152" cy="91440"/>
          </a:xfrm>
          <a:prstGeom prst="rect">
            <a:avLst/>
          </a:prstGeom>
          <a:solidFill>
            <a:srgbClr val="187D7B"/>
          </a:solidFill>
          <a:ln w="12700">
            <a:solidFill>
              <a:srgbClr val="187D7B"/>
            </a:solidFill>
            <a:prstDash val="solid"/>
          </a:ln>
        </p:spPr>
      </p:sp>
      <p:sp>
        <p:nvSpPr>
          <p:cNvPr id="17" name="Shape 15"/>
          <p:cNvSpPr/>
          <p:nvPr/>
        </p:nvSpPr>
        <p:spPr>
          <a:xfrm>
            <a:off x="3675888" y="2011680"/>
            <a:ext cx="347472" cy="347472"/>
          </a:xfrm>
          <a:prstGeom prst="ellipse">
            <a:avLst/>
          </a:prstGeom>
          <a:solidFill>
            <a:srgbClr val="187D7B"/>
          </a:solidFill>
          <a:ln w="12700">
            <a:solidFill>
              <a:srgbClr val="187D7B"/>
            </a:solidFill>
            <a:prstDash val="solid"/>
          </a:ln>
        </p:spPr>
      </p:sp>
      <p:sp>
        <p:nvSpPr>
          <p:cNvPr id="18" name="Text 16"/>
          <p:cNvSpPr/>
          <p:nvPr/>
        </p:nvSpPr>
        <p:spPr>
          <a:xfrm>
            <a:off x="3675888" y="202082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9" name="Text 17"/>
          <p:cNvSpPr/>
          <p:nvPr/>
        </p:nvSpPr>
        <p:spPr>
          <a:xfrm>
            <a:off x="4114800" y="1993392"/>
            <a:ext cx="1490472" cy="411480"/>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187D7B"/>
                </a:solidFill>
                <a:latin typeface="Microsoft YaHei" pitchFamily="34" charset="0"/>
                <a:ea typeface="Microsoft YaHei" pitchFamily="34" charset="-122"/>
                <a:cs typeface="Microsoft YaHei" pitchFamily="34" charset="-120"/>
              </a:rPr>
              <a:t>分析 dog 训练子集</a:t>
            </a:r>
            <a:endParaRPr lang="en-US" sz="1700" dirty="0"/>
          </a:p>
        </p:txBody>
      </p:sp>
      <p:sp>
        <p:nvSpPr>
          <p:cNvPr id="20" name="Shape 18"/>
          <p:cNvSpPr/>
          <p:nvPr/>
        </p:nvSpPr>
        <p:spPr>
          <a:xfrm>
            <a:off x="3657600" y="2670048"/>
            <a:ext cx="1993392" cy="786384"/>
          </a:xfrm>
          <a:prstGeom prst="roundRect">
            <a:avLst>
              <a:gd name="adj" fmla="val 9302"/>
            </a:avLst>
          </a:prstGeom>
          <a:solidFill>
            <a:srgbClr val="E5F3F1"/>
          </a:solidFill>
          <a:ln w="12700">
            <a:solidFill>
              <a:srgbClr val="E5F3F1"/>
            </a:solidFill>
            <a:prstDash val="solid"/>
          </a:ln>
        </p:spPr>
      </p:sp>
      <p:sp>
        <p:nvSpPr>
          <p:cNvPr id="21" name="Text 19"/>
          <p:cNvSpPr/>
          <p:nvPr/>
        </p:nvSpPr>
        <p:spPr>
          <a:xfrm>
            <a:off x="3749040" y="2834640"/>
            <a:ext cx="1810512" cy="47548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固定 COCO 目标</a:t>
            </a:r>
            <a:endParaRPr lang="en-US" sz="1400" dirty="0"/>
          </a:p>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输出23项视觉特征</a:t>
            </a:r>
            <a:endParaRPr lang="en-US" sz="1400" dirty="0"/>
          </a:p>
        </p:txBody>
      </p:sp>
      <p:sp>
        <p:nvSpPr>
          <p:cNvPr id="22" name="Text 20"/>
          <p:cNvSpPr/>
          <p:nvPr/>
        </p:nvSpPr>
        <p:spPr>
          <a:xfrm>
            <a:off x="3675888" y="3767328"/>
            <a:ext cx="1956816" cy="530352"/>
          </a:xfrm>
          <a:prstGeom prst="rect">
            <a:avLst/>
          </a:prstGeom>
          <a:noFill/>
          <a:ln/>
        </p:spPr>
        <p:txBody>
          <a:bodyPr wrap="square" lIns="0" tIns="0" rIns="0" bIns="0" rtlCol="0" anchor="ctr">
            <a:normAutofit/>
          </a:bodyPr>
          <a:lstStyle/>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当前已测：补图前覆盖率</a:t>
            </a:r>
            <a:endParaRPr lang="en-US" sz="1150" dirty="0"/>
          </a:p>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C_before = 78.64%</a:t>
            </a:r>
            <a:endParaRPr lang="en-US" sz="1150" dirty="0"/>
          </a:p>
        </p:txBody>
      </p:sp>
      <p:sp>
        <p:nvSpPr>
          <p:cNvPr id="23" name="Shape 21"/>
          <p:cNvSpPr/>
          <p:nvPr/>
        </p:nvSpPr>
        <p:spPr>
          <a:xfrm>
            <a:off x="5907024" y="3145536"/>
            <a:ext cx="265176" cy="0"/>
          </a:xfrm>
          <a:prstGeom prst="line">
            <a:avLst/>
          </a:prstGeom>
          <a:noFill/>
          <a:ln w="22860">
            <a:solidFill>
              <a:srgbClr val="9DAEB9"/>
            </a:solidFill>
            <a:prstDash val="solid"/>
            <a:headEnd type="none"/>
            <a:tailEnd type="triangle"/>
          </a:ln>
        </p:spPr>
      </p:sp>
      <p:sp>
        <p:nvSpPr>
          <p:cNvPr id="24" name="Shape 22"/>
          <p:cNvSpPr/>
          <p:nvPr/>
        </p:nvSpPr>
        <p:spPr>
          <a:xfrm>
            <a:off x="6236208" y="1764792"/>
            <a:ext cx="2359152" cy="2761488"/>
          </a:xfrm>
          <a:prstGeom prst="roundRect">
            <a:avLst>
              <a:gd name="adj" fmla="val 3101"/>
            </a:avLst>
          </a:prstGeom>
          <a:solidFill>
            <a:srgbClr val="FFFFFF"/>
          </a:solidFill>
          <a:ln w="12700">
            <a:solidFill>
              <a:srgbClr val="D8E0E6"/>
            </a:solidFill>
            <a:prstDash val="solid"/>
          </a:ln>
        </p:spPr>
      </p:sp>
      <p:sp>
        <p:nvSpPr>
          <p:cNvPr id="25" name="Shape 23"/>
          <p:cNvSpPr/>
          <p:nvPr/>
        </p:nvSpPr>
        <p:spPr>
          <a:xfrm>
            <a:off x="6236208" y="1764792"/>
            <a:ext cx="2359152" cy="91440"/>
          </a:xfrm>
          <a:prstGeom prst="rect">
            <a:avLst/>
          </a:prstGeom>
          <a:solidFill>
            <a:srgbClr val="E87524"/>
          </a:solidFill>
          <a:ln w="12700">
            <a:solidFill>
              <a:srgbClr val="E87524"/>
            </a:solidFill>
            <a:prstDash val="solid"/>
          </a:ln>
        </p:spPr>
      </p:sp>
      <p:sp>
        <p:nvSpPr>
          <p:cNvPr id="26" name="Shape 24"/>
          <p:cNvSpPr/>
          <p:nvPr/>
        </p:nvSpPr>
        <p:spPr>
          <a:xfrm>
            <a:off x="6437376" y="2011680"/>
            <a:ext cx="347472" cy="347472"/>
          </a:xfrm>
          <a:prstGeom prst="ellipse">
            <a:avLst/>
          </a:prstGeom>
          <a:solidFill>
            <a:srgbClr val="E87524"/>
          </a:solidFill>
          <a:ln w="12700">
            <a:solidFill>
              <a:srgbClr val="E87524"/>
            </a:solidFill>
            <a:prstDash val="solid"/>
          </a:ln>
        </p:spPr>
      </p:sp>
      <p:sp>
        <p:nvSpPr>
          <p:cNvPr id="27" name="Text 25"/>
          <p:cNvSpPr/>
          <p:nvPr/>
        </p:nvSpPr>
        <p:spPr>
          <a:xfrm>
            <a:off x="6437376" y="202082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8" name="Text 26"/>
          <p:cNvSpPr/>
          <p:nvPr/>
        </p:nvSpPr>
        <p:spPr>
          <a:xfrm>
            <a:off x="6876288" y="1993392"/>
            <a:ext cx="1490472" cy="411480"/>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E87524"/>
                </a:solidFill>
                <a:latin typeface="Microsoft YaHei" pitchFamily="34" charset="0"/>
                <a:ea typeface="Microsoft YaHei" pitchFamily="34" charset="-122"/>
                <a:cs typeface="Microsoft YaHei" pitchFamily="34" charset="-120"/>
              </a:rPr>
              <a:t>得到 Ddog+</a:t>
            </a:r>
            <a:endParaRPr lang="en-US" sz="1700" dirty="0"/>
          </a:p>
        </p:txBody>
      </p:sp>
      <p:sp>
        <p:nvSpPr>
          <p:cNvPr id="29" name="Shape 27"/>
          <p:cNvSpPr/>
          <p:nvPr/>
        </p:nvSpPr>
        <p:spPr>
          <a:xfrm>
            <a:off x="6419088" y="2670048"/>
            <a:ext cx="1993392" cy="786384"/>
          </a:xfrm>
          <a:prstGeom prst="roundRect">
            <a:avLst>
              <a:gd name="adj" fmla="val 9302"/>
            </a:avLst>
          </a:prstGeom>
          <a:solidFill>
            <a:srgbClr val="FCECDD"/>
          </a:solidFill>
          <a:ln w="12700">
            <a:solidFill>
              <a:srgbClr val="FCECDD"/>
            </a:solidFill>
            <a:prstDash val="solid"/>
          </a:ln>
        </p:spPr>
      </p:sp>
      <p:sp>
        <p:nvSpPr>
          <p:cNvPr id="30" name="Text 28"/>
          <p:cNvSpPr/>
          <p:nvPr/>
        </p:nvSpPr>
        <p:spPr>
          <a:xfrm>
            <a:off x="6510528" y="2834640"/>
            <a:ext cx="1810512" cy="47548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只在训练候选中</a:t>
            </a:r>
            <a:endParaRPr lang="en-US" sz="1400" dirty="0"/>
          </a:p>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选择补充图片</a:t>
            </a:r>
            <a:endParaRPr lang="en-US" sz="1400" dirty="0"/>
          </a:p>
        </p:txBody>
      </p:sp>
      <p:sp>
        <p:nvSpPr>
          <p:cNvPr id="31" name="Text 29"/>
          <p:cNvSpPr/>
          <p:nvPr/>
        </p:nvSpPr>
        <p:spPr>
          <a:xfrm>
            <a:off x="6437376" y="3767328"/>
            <a:ext cx="1956816" cy="530352"/>
          </a:xfrm>
          <a:prstGeom prst="rect">
            <a:avLst/>
          </a:prstGeom>
          <a:noFill/>
          <a:ln/>
        </p:spPr>
        <p:txBody>
          <a:bodyPr wrap="square" lIns="0" tIns="0" rIns="0" bIns="0" rtlCol="0" anchor="ctr">
            <a:normAutofit/>
          </a:bodyPr>
          <a:lstStyle/>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合并 dog 子集后已测</a:t>
            </a:r>
            <a:endParaRPr lang="en-US" sz="1150" dirty="0"/>
          </a:p>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C_after = 84.17%</a:t>
            </a:r>
            <a:endParaRPr lang="en-US" sz="1150" dirty="0"/>
          </a:p>
        </p:txBody>
      </p:sp>
      <p:sp>
        <p:nvSpPr>
          <p:cNvPr id="32" name="Shape 30"/>
          <p:cNvSpPr/>
          <p:nvPr/>
        </p:nvSpPr>
        <p:spPr>
          <a:xfrm>
            <a:off x="8668512" y="3145536"/>
            <a:ext cx="265176" cy="0"/>
          </a:xfrm>
          <a:prstGeom prst="line">
            <a:avLst/>
          </a:prstGeom>
          <a:noFill/>
          <a:ln w="22860">
            <a:solidFill>
              <a:srgbClr val="9DAEB9"/>
            </a:solidFill>
            <a:prstDash val="solid"/>
            <a:headEnd type="none"/>
            <a:tailEnd type="triangle"/>
          </a:ln>
        </p:spPr>
      </p:sp>
      <p:sp>
        <p:nvSpPr>
          <p:cNvPr id="33" name="Shape 31"/>
          <p:cNvSpPr/>
          <p:nvPr/>
        </p:nvSpPr>
        <p:spPr>
          <a:xfrm>
            <a:off x="8997696" y="1764792"/>
            <a:ext cx="2359152" cy="2761488"/>
          </a:xfrm>
          <a:prstGeom prst="roundRect">
            <a:avLst>
              <a:gd name="adj" fmla="val 3101"/>
            </a:avLst>
          </a:prstGeom>
          <a:solidFill>
            <a:srgbClr val="FFFFFF"/>
          </a:solidFill>
          <a:ln w="12700">
            <a:solidFill>
              <a:srgbClr val="D8E0E6"/>
            </a:solidFill>
            <a:prstDash val="solid"/>
          </a:ln>
        </p:spPr>
      </p:sp>
      <p:sp>
        <p:nvSpPr>
          <p:cNvPr id="34" name="Shape 32"/>
          <p:cNvSpPr/>
          <p:nvPr/>
        </p:nvSpPr>
        <p:spPr>
          <a:xfrm>
            <a:off x="8997696" y="1764792"/>
            <a:ext cx="2359152" cy="91440"/>
          </a:xfrm>
          <a:prstGeom prst="rect">
            <a:avLst/>
          </a:prstGeom>
          <a:solidFill>
            <a:srgbClr val="2F7D5A"/>
          </a:solidFill>
          <a:ln w="12700">
            <a:solidFill>
              <a:srgbClr val="2F7D5A"/>
            </a:solidFill>
            <a:prstDash val="solid"/>
          </a:ln>
        </p:spPr>
      </p:sp>
      <p:sp>
        <p:nvSpPr>
          <p:cNvPr id="35" name="Shape 33"/>
          <p:cNvSpPr/>
          <p:nvPr/>
        </p:nvSpPr>
        <p:spPr>
          <a:xfrm>
            <a:off x="9198864" y="2011680"/>
            <a:ext cx="347472" cy="347472"/>
          </a:xfrm>
          <a:prstGeom prst="ellipse">
            <a:avLst/>
          </a:prstGeom>
          <a:solidFill>
            <a:srgbClr val="2F7D5A"/>
          </a:solidFill>
          <a:ln w="12700">
            <a:solidFill>
              <a:srgbClr val="2F7D5A"/>
            </a:solidFill>
            <a:prstDash val="solid"/>
          </a:ln>
        </p:spPr>
      </p:sp>
      <p:sp>
        <p:nvSpPr>
          <p:cNvPr id="36" name="Text 34"/>
          <p:cNvSpPr/>
          <p:nvPr/>
        </p:nvSpPr>
        <p:spPr>
          <a:xfrm>
            <a:off x="9198864" y="202082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7" name="Text 35"/>
          <p:cNvSpPr/>
          <p:nvPr/>
        </p:nvSpPr>
        <p:spPr>
          <a:xfrm>
            <a:off x="9637776" y="1993392"/>
            <a:ext cx="1490472" cy="411480"/>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2F7D5A"/>
                </a:solidFill>
                <a:latin typeface="Microsoft YaHei" pitchFamily="34" charset="0"/>
                <a:ea typeface="Microsoft YaHei" pitchFamily="34" charset="-122"/>
                <a:cs typeface="Microsoft YaHei" pitchFamily="34" charset="-120"/>
              </a:rPr>
              <a:t>计划构建 D1</a:t>
            </a:r>
            <a:endParaRPr lang="en-US" sz="1700" dirty="0"/>
          </a:p>
        </p:txBody>
      </p:sp>
      <p:sp>
        <p:nvSpPr>
          <p:cNvPr id="38" name="Shape 36"/>
          <p:cNvSpPr/>
          <p:nvPr/>
        </p:nvSpPr>
        <p:spPr>
          <a:xfrm>
            <a:off x="9180576" y="2670048"/>
            <a:ext cx="1993392" cy="786384"/>
          </a:xfrm>
          <a:prstGeom prst="roundRect">
            <a:avLst>
              <a:gd name="adj" fmla="val 9302"/>
            </a:avLst>
          </a:prstGeom>
          <a:solidFill>
            <a:srgbClr val="E7F2EC"/>
          </a:solidFill>
          <a:ln w="12700">
            <a:solidFill>
              <a:srgbClr val="E7F2EC"/>
            </a:solidFill>
            <a:prstDash val="solid"/>
          </a:ln>
        </p:spPr>
      </p:sp>
      <p:sp>
        <p:nvSpPr>
          <p:cNvPr id="39" name="Text 37"/>
          <p:cNvSpPr/>
          <p:nvPr/>
        </p:nvSpPr>
        <p:spPr>
          <a:xfrm>
            <a:off x="9272016" y="2834640"/>
            <a:ext cx="1810512" cy="47548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Ddog+ 合并进 D0_train</a:t>
            </a:r>
            <a:endParaRPr lang="en-US" sz="1400" dirty="0"/>
          </a:p>
          <a:p>
            <a:pPr algn="ctr" indent="0" marL="0">
              <a:lnSpc>
                <a:spcPct val="100000"/>
              </a:lnSpc>
              <a:buNone/>
            </a:pPr>
            <a:r>
              <a:rPr lang="en-US" sz="1400" b="1" dirty="0">
                <a:solidFill>
                  <a:srgbClr val="17212B"/>
                </a:solidFill>
                <a:latin typeface="Microsoft YaHei" pitchFamily="34" charset="0"/>
                <a:ea typeface="Microsoft YaHei" pitchFamily="34" charset="-122"/>
                <a:cs typeface="Microsoft YaHei" pitchFamily="34" charset="-120"/>
              </a:rPr>
              <a:t>保持相同实验配置</a:t>
            </a:r>
            <a:endParaRPr lang="en-US" sz="1400" dirty="0"/>
          </a:p>
        </p:txBody>
      </p:sp>
      <p:sp>
        <p:nvSpPr>
          <p:cNvPr id="40" name="Text 38"/>
          <p:cNvSpPr/>
          <p:nvPr/>
        </p:nvSpPr>
        <p:spPr>
          <a:xfrm>
            <a:off x="9198864" y="3767328"/>
            <a:ext cx="1956816" cy="530352"/>
          </a:xfrm>
          <a:prstGeom prst="rect">
            <a:avLst/>
          </a:prstGeom>
          <a:noFill/>
          <a:ln/>
        </p:spPr>
        <p:txBody>
          <a:bodyPr wrap="square" lIns="0" tIns="0" rIns="0" bIns="0" rtlCol="0" anchor="ctr">
            <a:normAutofit/>
          </a:bodyPr>
          <a:lstStyle/>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重训得到 M_after；</a:t>
            </a:r>
            <a:endParaRPr lang="en-US" sz="1150" dirty="0"/>
          </a:p>
          <a:p>
            <a:pPr algn="ctr" indent="0" marL="0">
              <a:lnSpc>
                <a:spcPct val="100000"/>
              </a:lnSpc>
              <a:buNone/>
            </a:pPr>
            <a:r>
              <a:rPr lang="en-US" sz="1150" dirty="0">
                <a:solidFill>
                  <a:srgbClr val="5F6B76"/>
                </a:solidFill>
                <a:latin typeface="Microsoft YaHei" pitchFamily="34" charset="0"/>
                <a:ea typeface="Microsoft YaHei" pitchFamily="34" charset="-122"/>
                <a:cs typeface="Microsoft YaHei" pitchFamily="34" charset="-120"/>
              </a:rPr>
              <a:t>固定 D_test 比较</a:t>
            </a:r>
            <a:endParaRPr lang="en-US" sz="1150" dirty="0"/>
          </a:p>
        </p:txBody>
      </p:sp>
      <p:sp>
        <p:nvSpPr>
          <p:cNvPr id="41" name="Shape 39"/>
          <p:cNvSpPr/>
          <p:nvPr/>
        </p:nvSpPr>
        <p:spPr>
          <a:xfrm>
            <a:off x="713232" y="4919472"/>
            <a:ext cx="10643616" cy="713232"/>
          </a:xfrm>
          <a:prstGeom prst="roundRect">
            <a:avLst>
              <a:gd name="adj" fmla="val 10256"/>
            </a:avLst>
          </a:prstGeom>
          <a:solidFill>
            <a:srgbClr val="153B5B"/>
          </a:solidFill>
          <a:ln w="12700">
            <a:solidFill>
              <a:srgbClr val="153B5B"/>
            </a:solidFill>
            <a:prstDash val="solid"/>
          </a:ln>
        </p:spPr>
      </p:sp>
      <p:sp>
        <p:nvSpPr>
          <p:cNvPr id="42" name="Text 40"/>
          <p:cNvSpPr/>
          <p:nvPr/>
        </p:nvSpPr>
        <p:spPr>
          <a:xfrm>
            <a:off x="969264" y="5074920"/>
            <a:ext cx="1874520" cy="22860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8ED1CC"/>
                </a:solidFill>
                <a:latin typeface="Microsoft YaHei" pitchFamily="34" charset="0"/>
                <a:ea typeface="Microsoft YaHei" pitchFamily="34" charset="-122"/>
                <a:cs typeface="Microsoft YaHei" pitchFamily="34" charset="-120"/>
              </a:rPr>
              <a:t>两条结果线分别报告</a:t>
            </a:r>
            <a:endParaRPr lang="en-US" sz="1400" dirty="0"/>
          </a:p>
        </p:txBody>
      </p:sp>
      <p:sp>
        <p:nvSpPr>
          <p:cNvPr id="43" name="Text 41"/>
          <p:cNvSpPr/>
          <p:nvPr/>
        </p:nvSpPr>
        <p:spPr>
          <a:xfrm>
            <a:off x="2926080" y="5038344"/>
            <a:ext cx="3794760" cy="301752"/>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Aptos" pitchFamily="34" charset="0"/>
                <a:ea typeface="Aptos" pitchFamily="34" charset="-122"/>
                <a:cs typeface="Aptos" pitchFamily="34" charset="-120"/>
              </a:rPr>
              <a:t>覆盖变化：ΔC = C_after − C_before</a:t>
            </a:r>
            <a:endParaRPr lang="en-US" sz="1800" dirty="0"/>
          </a:p>
        </p:txBody>
      </p:sp>
      <p:sp>
        <p:nvSpPr>
          <p:cNvPr id="44" name="Text 42"/>
          <p:cNvSpPr/>
          <p:nvPr/>
        </p:nvSpPr>
        <p:spPr>
          <a:xfrm>
            <a:off x="6903720" y="5038344"/>
            <a:ext cx="3886200" cy="301752"/>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Aptos" pitchFamily="34" charset="0"/>
                <a:ea typeface="Aptos" pitchFamily="34" charset="-122"/>
                <a:cs typeface="Aptos" pitchFamily="34" charset="-120"/>
              </a:rPr>
              <a:t>模型变化：ΔM = M_after − M_before</a:t>
            </a:r>
            <a:endParaRPr lang="en-US" sz="1800" dirty="0"/>
          </a:p>
        </p:txBody>
      </p:sp>
      <p:sp>
        <p:nvSpPr>
          <p:cNvPr id="45" name="Text 43"/>
          <p:cNvSpPr/>
          <p:nvPr/>
        </p:nvSpPr>
        <p:spPr>
          <a:xfrm>
            <a:off x="969264" y="5888736"/>
            <a:ext cx="10186416" cy="274320"/>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B84A3A"/>
                </a:solidFill>
                <a:latin typeface="Microsoft YaHei" pitchFamily="34" charset="0"/>
                <a:ea typeface="Microsoft YaHei" pitchFamily="34" charset="-122"/>
                <a:cs typeface="Microsoft YaHei" pitchFamily="34" charset="-120"/>
              </a:rPr>
              <a:t>当前仅完成 dog 覆盖对比；D0 / D1 模型训练待完成，且不能替代固定模型下的测试故障检出验证。</a:t>
            </a:r>
            <a:endParaRPr lang="en-US" sz="1400" dirty="0"/>
          </a:p>
        </p:txBody>
      </p:sp>
      <p:sp>
        <p:nvSpPr>
          <p:cNvPr id="46" name="Text 44"/>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06 · ANALYSIS</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真正要分析的是：覆盖变化能否解释模型变化？</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ΔC 是过程结果，ΔM 才能回答补图是否改善了任务表现；两者必须联合解释</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694944" y="1737360"/>
            <a:ext cx="3657600" cy="4069080"/>
          </a:xfrm>
          <a:prstGeom prst="roundRect">
            <a:avLst>
              <a:gd name="adj" fmla="val 2000"/>
            </a:avLst>
          </a:prstGeom>
          <a:solidFill>
            <a:srgbClr val="FFFFFF"/>
          </a:solidFill>
          <a:ln w="12700">
            <a:solidFill>
              <a:srgbClr val="D8E0E6"/>
            </a:solidFill>
            <a:prstDash val="solid"/>
          </a:ln>
        </p:spPr>
      </p:sp>
      <p:sp>
        <p:nvSpPr>
          <p:cNvPr id="7" name="Text 5"/>
          <p:cNvSpPr/>
          <p:nvPr/>
        </p:nvSpPr>
        <p:spPr>
          <a:xfrm>
            <a:off x="969264" y="1993392"/>
            <a:ext cx="1097280" cy="274320"/>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87D7B"/>
                </a:solidFill>
                <a:latin typeface="Microsoft YaHei" pitchFamily="34" charset="0"/>
                <a:ea typeface="Microsoft YaHei" pitchFamily="34" charset="-122"/>
                <a:cs typeface="Microsoft YaHei" pitchFamily="34" charset="-120"/>
              </a:rPr>
              <a:t>当前已知</a:t>
            </a:r>
            <a:endParaRPr lang="en-US" sz="1500" dirty="0"/>
          </a:p>
        </p:txBody>
      </p:sp>
      <p:sp>
        <p:nvSpPr>
          <p:cNvPr id="8" name="Shape 6"/>
          <p:cNvSpPr/>
          <p:nvPr/>
        </p:nvSpPr>
        <p:spPr>
          <a:xfrm>
            <a:off x="950976" y="2487168"/>
            <a:ext cx="3127248" cy="1024128"/>
          </a:xfrm>
          <a:prstGeom prst="roundRect">
            <a:avLst>
              <a:gd name="adj" fmla="val 7143"/>
            </a:avLst>
          </a:prstGeom>
          <a:solidFill>
            <a:srgbClr val="FFFFFF"/>
          </a:solidFill>
          <a:ln w="12700">
            <a:solidFill>
              <a:srgbClr val="D8E0E6"/>
            </a:solidFill>
            <a:prstDash val="solid"/>
          </a:ln>
        </p:spPr>
      </p:sp>
      <p:sp>
        <p:nvSpPr>
          <p:cNvPr id="9" name="Shape 7"/>
          <p:cNvSpPr/>
          <p:nvPr/>
        </p:nvSpPr>
        <p:spPr>
          <a:xfrm>
            <a:off x="950976" y="2487168"/>
            <a:ext cx="73152" cy="1024128"/>
          </a:xfrm>
          <a:prstGeom prst="rect">
            <a:avLst/>
          </a:prstGeom>
          <a:solidFill>
            <a:srgbClr val="E87524"/>
          </a:solidFill>
          <a:ln w="12700">
            <a:solidFill>
              <a:srgbClr val="E87524"/>
            </a:solidFill>
            <a:prstDash val="solid"/>
          </a:ln>
        </p:spPr>
      </p:sp>
      <p:sp>
        <p:nvSpPr>
          <p:cNvPr id="10" name="Text 8"/>
          <p:cNvSpPr/>
          <p:nvPr/>
        </p:nvSpPr>
        <p:spPr>
          <a:xfrm>
            <a:off x="1170432" y="2606040"/>
            <a:ext cx="2798064" cy="393192"/>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E87524"/>
                </a:solidFill>
                <a:latin typeface="Aptos" pitchFamily="34" charset="0"/>
                <a:ea typeface="Aptos" pitchFamily="34" charset="-122"/>
                <a:cs typeface="Aptos" pitchFamily="34" charset="-120"/>
              </a:rPr>
              <a:t>+5.53 pp</a:t>
            </a:r>
            <a:endParaRPr lang="en-US" sz="2500" dirty="0"/>
          </a:p>
        </p:txBody>
      </p:sp>
      <p:sp>
        <p:nvSpPr>
          <p:cNvPr id="11" name="Text 9"/>
          <p:cNvSpPr/>
          <p:nvPr/>
        </p:nvSpPr>
        <p:spPr>
          <a:xfrm>
            <a:off x="1170432" y="3008376"/>
            <a:ext cx="2798064" cy="22860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7212B"/>
                </a:solidFill>
                <a:latin typeface="Microsoft YaHei" pitchFamily="34" charset="0"/>
                <a:ea typeface="Microsoft YaHei" pitchFamily="34" charset="-122"/>
                <a:cs typeface="Microsoft YaHei" pitchFamily="34" charset="-120"/>
              </a:rPr>
              <a:t>覆盖指数变化 ΔC</a:t>
            </a:r>
            <a:endParaRPr lang="en-US" sz="1250" dirty="0"/>
          </a:p>
        </p:txBody>
      </p:sp>
      <p:sp>
        <p:nvSpPr>
          <p:cNvPr id="12" name="Text 10"/>
          <p:cNvSpPr/>
          <p:nvPr/>
        </p:nvSpPr>
        <p:spPr>
          <a:xfrm>
            <a:off x="1170432" y="3255264"/>
            <a:ext cx="2798064" cy="155448"/>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F6B76"/>
                </a:solidFill>
                <a:latin typeface="Microsoft YaHei" pitchFamily="34" charset="0"/>
                <a:ea typeface="Microsoft YaHei" pitchFamily="34" charset="-122"/>
                <a:cs typeface="Microsoft YaHei" pitchFamily="34" charset="-120"/>
              </a:rPr>
              <a:t>78.64% → 84.17%</a:t>
            </a:r>
            <a:endParaRPr lang="en-US" sz="950" dirty="0"/>
          </a:p>
        </p:txBody>
      </p:sp>
      <p:sp>
        <p:nvSpPr>
          <p:cNvPr id="13" name="Shape 11"/>
          <p:cNvSpPr/>
          <p:nvPr/>
        </p:nvSpPr>
        <p:spPr>
          <a:xfrm>
            <a:off x="950976" y="3730752"/>
            <a:ext cx="3127248" cy="1024128"/>
          </a:xfrm>
          <a:prstGeom prst="roundRect">
            <a:avLst>
              <a:gd name="adj" fmla="val 7143"/>
            </a:avLst>
          </a:prstGeom>
          <a:solidFill>
            <a:srgbClr val="FFFFFF"/>
          </a:solidFill>
          <a:ln w="12700">
            <a:solidFill>
              <a:srgbClr val="D8E0E6"/>
            </a:solidFill>
            <a:prstDash val="solid"/>
          </a:ln>
        </p:spPr>
      </p:sp>
      <p:sp>
        <p:nvSpPr>
          <p:cNvPr id="14" name="Shape 12"/>
          <p:cNvSpPr/>
          <p:nvPr/>
        </p:nvSpPr>
        <p:spPr>
          <a:xfrm>
            <a:off x="950976" y="3730752"/>
            <a:ext cx="73152" cy="1024128"/>
          </a:xfrm>
          <a:prstGeom prst="rect">
            <a:avLst/>
          </a:prstGeom>
          <a:solidFill>
            <a:srgbClr val="B84A3A"/>
          </a:solidFill>
          <a:ln w="12700">
            <a:solidFill>
              <a:srgbClr val="B84A3A"/>
            </a:solidFill>
            <a:prstDash val="solid"/>
          </a:ln>
        </p:spPr>
      </p:sp>
      <p:sp>
        <p:nvSpPr>
          <p:cNvPr id="15" name="Text 13"/>
          <p:cNvSpPr/>
          <p:nvPr/>
        </p:nvSpPr>
        <p:spPr>
          <a:xfrm>
            <a:off x="1170432" y="3849624"/>
            <a:ext cx="2798064" cy="393192"/>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B84A3A"/>
                </a:solidFill>
                <a:latin typeface="Aptos" pitchFamily="34" charset="0"/>
                <a:ea typeface="Aptos" pitchFamily="34" charset="-122"/>
                <a:cs typeface="Aptos" pitchFamily="34" charset="-120"/>
              </a:rPr>
              <a:t>待测</a:t>
            </a:r>
            <a:endParaRPr lang="en-US" sz="2500" dirty="0"/>
          </a:p>
        </p:txBody>
      </p:sp>
      <p:sp>
        <p:nvSpPr>
          <p:cNvPr id="16" name="Text 14"/>
          <p:cNvSpPr/>
          <p:nvPr/>
        </p:nvSpPr>
        <p:spPr>
          <a:xfrm>
            <a:off x="1170432" y="4251960"/>
            <a:ext cx="2798064" cy="22860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7212B"/>
                </a:solidFill>
                <a:latin typeface="Microsoft YaHei" pitchFamily="34" charset="0"/>
                <a:ea typeface="Microsoft YaHei" pitchFamily="34" charset="-122"/>
                <a:cs typeface="Microsoft YaHei" pitchFamily="34" charset="-120"/>
              </a:rPr>
              <a:t>模型性能变化 ΔM</a:t>
            </a:r>
            <a:endParaRPr lang="en-US" sz="1250" dirty="0"/>
          </a:p>
        </p:txBody>
      </p:sp>
      <p:sp>
        <p:nvSpPr>
          <p:cNvPr id="17" name="Text 15"/>
          <p:cNvSpPr/>
          <p:nvPr/>
        </p:nvSpPr>
        <p:spPr>
          <a:xfrm>
            <a:off x="1170432" y="4498848"/>
            <a:ext cx="2798064" cy="155448"/>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F6B76"/>
                </a:solidFill>
                <a:latin typeface="Microsoft YaHei" pitchFamily="34" charset="0"/>
                <a:ea typeface="Microsoft YaHei" pitchFamily="34" charset="-122"/>
                <a:cs typeface="Microsoft YaHei" pitchFamily="34" charset="-120"/>
              </a:rPr>
              <a:t>同一固定测试集</a:t>
            </a:r>
            <a:endParaRPr lang="en-US" sz="950" dirty="0"/>
          </a:p>
        </p:txBody>
      </p:sp>
      <p:sp>
        <p:nvSpPr>
          <p:cNvPr id="18" name="Text 16"/>
          <p:cNvSpPr/>
          <p:nvPr/>
        </p:nvSpPr>
        <p:spPr>
          <a:xfrm>
            <a:off x="950976" y="5047488"/>
            <a:ext cx="3063240" cy="502920"/>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153B5B"/>
                </a:solidFill>
                <a:latin typeface="Microsoft YaHei" pitchFamily="34" charset="0"/>
                <a:ea typeface="Microsoft YaHei" pitchFamily="34" charset="-122"/>
                <a:cs typeface="Microsoft YaHei" pitchFamily="34" charset="-120"/>
              </a:rPr>
              <a:t>因此当前只能说：</a:t>
            </a:r>
            <a:endParaRPr lang="en-US" sz="1500" dirty="0"/>
          </a:p>
          <a:p>
            <a:pPr algn="ctr" indent="0" marL="0">
              <a:lnSpc>
                <a:spcPct val="100000"/>
              </a:lnSpc>
              <a:buNone/>
            </a:pPr>
            <a:r>
              <a:rPr lang="en-US" sz="1500" b="1" dirty="0">
                <a:solidFill>
                  <a:srgbClr val="153B5B"/>
                </a:solidFill>
                <a:latin typeface="Microsoft YaHei" pitchFamily="34" charset="0"/>
                <a:ea typeface="Microsoft YaHei" pitchFamily="34" charset="-122"/>
                <a:cs typeface="Microsoft YaHei" pitchFamily="34" charset="-120"/>
              </a:rPr>
              <a:t>缺口驱动补图改善了定义下的状态覆盖。</a:t>
            </a:r>
            <a:endParaRPr lang="en-US" sz="1500" dirty="0"/>
          </a:p>
        </p:txBody>
      </p:sp>
      <p:sp>
        <p:nvSpPr>
          <p:cNvPr id="19" name="Shape 17"/>
          <p:cNvSpPr/>
          <p:nvPr/>
        </p:nvSpPr>
        <p:spPr>
          <a:xfrm>
            <a:off x="4645152" y="1737360"/>
            <a:ext cx="6858000" cy="4069080"/>
          </a:xfrm>
          <a:prstGeom prst="roundRect">
            <a:avLst>
              <a:gd name="adj" fmla="val 1798"/>
            </a:avLst>
          </a:prstGeom>
          <a:solidFill>
            <a:srgbClr val="FFFFFF"/>
          </a:solidFill>
          <a:ln w="12700">
            <a:solidFill>
              <a:srgbClr val="D8E0E6"/>
            </a:solidFill>
            <a:prstDash val="solid"/>
          </a:ln>
        </p:spPr>
      </p:sp>
      <p:sp>
        <p:nvSpPr>
          <p:cNvPr id="20" name="Text 18"/>
          <p:cNvSpPr/>
          <p:nvPr/>
        </p:nvSpPr>
        <p:spPr>
          <a:xfrm>
            <a:off x="4937760" y="1993392"/>
            <a:ext cx="2148840" cy="274320"/>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53B5B"/>
                </a:solidFill>
                <a:latin typeface="Microsoft YaHei" pitchFamily="34" charset="0"/>
                <a:ea typeface="Microsoft YaHei" pitchFamily="34" charset="-122"/>
                <a:cs typeface="Microsoft YaHei" pitchFamily="34" charset="-120"/>
              </a:rPr>
              <a:t>ΔC / ΔM 联合判读</a:t>
            </a:r>
            <a:endParaRPr lang="en-US" sz="1500" dirty="0"/>
          </a:p>
        </p:txBody>
      </p:sp>
      <p:sp>
        <p:nvSpPr>
          <p:cNvPr id="21" name="Shape 19"/>
          <p:cNvSpPr/>
          <p:nvPr/>
        </p:nvSpPr>
        <p:spPr>
          <a:xfrm>
            <a:off x="4937760" y="2487168"/>
            <a:ext cx="960120" cy="475488"/>
          </a:xfrm>
          <a:prstGeom prst="roundRect">
            <a:avLst>
              <a:gd name="adj" fmla="val 15385"/>
            </a:avLst>
          </a:prstGeom>
          <a:solidFill>
            <a:srgbClr val="E7F2EC"/>
          </a:solidFill>
          <a:ln w="12700">
            <a:solidFill>
              <a:srgbClr val="2F7D5A"/>
            </a:solidFill>
            <a:prstDash val="solid"/>
          </a:ln>
        </p:spPr>
      </p:sp>
      <p:sp>
        <p:nvSpPr>
          <p:cNvPr id="22" name="Text 20"/>
          <p:cNvSpPr/>
          <p:nvPr/>
        </p:nvSpPr>
        <p:spPr>
          <a:xfrm>
            <a:off x="5010912" y="26060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2F7D5A"/>
                </a:solidFill>
                <a:latin typeface="Aptos" pitchFamily="34" charset="0"/>
                <a:ea typeface="Aptos" pitchFamily="34" charset="-122"/>
                <a:cs typeface="Aptos" pitchFamily="34" charset="-120"/>
              </a:rPr>
              <a:t>ΔC ↑</a:t>
            </a:r>
            <a:endParaRPr lang="en-US" sz="1400" dirty="0"/>
          </a:p>
        </p:txBody>
      </p:sp>
      <p:sp>
        <p:nvSpPr>
          <p:cNvPr id="23" name="Shape 21"/>
          <p:cNvSpPr/>
          <p:nvPr/>
        </p:nvSpPr>
        <p:spPr>
          <a:xfrm>
            <a:off x="5989320" y="2487168"/>
            <a:ext cx="960120" cy="475488"/>
          </a:xfrm>
          <a:prstGeom prst="roundRect">
            <a:avLst>
              <a:gd name="adj" fmla="val 15385"/>
            </a:avLst>
          </a:prstGeom>
          <a:solidFill>
            <a:srgbClr val="E7F2EC"/>
          </a:solidFill>
          <a:ln w="12700">
            <a:solidFill>
              <a:srgbClr val="2F7D5A"/>
            </a:solidFill>
            <a:prstDash val="solid"/>
          </a:ln>
        </p:spPr>
      </p:sp>
      <p:sp>
        <p:nvSpPr>
          <p:cNvPr id="24" name="Text 22"/>
          <p:cNvSpPr/>
          <p:nvPr/>
        </p:nvSpPr>
        <p:spPr>
          <a:xfrm>
            <a:off x="6062472" y="26060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2F7D5A"/>
                </a:solidFill>
                <a:latin typeface="Aptos" pitchFamily="34" charset="0"/>
                <a:ea typeface="Aptos" pitchFamily="34" charset="-122"/>
                <a:cs typeface="Aptos" pitchFamily="34" charset="-120"/>
              </a:rPr>
              <a:t>ΔM ↑</a:t>
            </a:r>
            <a:endParaRPr lang="en-US" sz="1400" dirty="0"/>
          </a:p>
        </p:txBody>
      </p:sp>
      <p:sp>
        <p:nvSpPr>
          <p:cNvPr id="25" name="Text 23"/>
          <p:cNvSpPr/>
          <p:nvPr/>
        </p:nvSpPr>
        <p:spPr>
          <a:xfrm>
            <a:off x="7205472" y="2587752"/>
            <a:ext cx="3858768" cy="25603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支持“补充状态”可能带来任务收益</a:t>
            </a:r>
            <a:endParaRPr lang="en-US" sz="1350" dirty="0"/>
          </a:p>
        </p:txBody>
      </p:sp>
      <p:sp>
        <p:nvSpPr>
          <p:cNvPr id="26" name="Shape 24"/>
          <p:cNvSpPr/>
          <p:nvPr/>
        </p:nvSpPr>
        <p:spPr>
          <a:xfrm>
            <a:off x="4937760" y="3172968"/>
            <a:ext cx="960120" cy="475488"/>
          </a:xfrm>
          <a:prstGeom prst="roundRect">
            <a:avLst>
              <a:gd name="adj" fmla="val 15385"/>
            </a:avLst>
          </a:prstGeom>
          <a:solidFill>
            <a:srgbClr val="FCECDD"/>
          </a:solidFill>
          <a:ln w="12700">
            <a:solidFill>
              <a:srgbClr val="E87524"/>
            </a:solidFill>
            <a:prstDash val="solid"/>
          </a:ln>
        </p:spPr>
      </p:sp>
      <p:sp>
        <p:nvSpPr>
          <p:cNvPr id="27" name="Text 25"/>
          <p:cNvSpPr/>
          <p:nvPr/>
        </p:nvSpPr>
        <p:spPr>
          <a:xfrm>
            <a:off x="5010912" y="32918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E87524"/>
                </a:solidFill>
                <a:latin typeface="Aptos" pitchFamily="34" charset="0"/>
                <a:ea typeface="Aptos" pitchFamily="34" charset="-122"/>
                <a:cs typeface="Aptos" pitchFamily="34" charset="-120"/>
              </a:rPr>
              <a:t>ΔC ↑</a:t>
            </a:r>
            <a:endParaRPr lang="en-US" sz="1400" dirty="0"/>
          </a:p>
        </p:txBody>
      </p:sp>
      <p:sp>
        <p:nvSpPr>
          <p:cNvPr id="28" name="Shape 26"/>
          <p:cNvSpPr/>
          <p:nvPr/>
        </p:nvSpPr>
        <p:spPr>
          <a:xfrm>
            <a:off x="5989320" y="3172968"/>
            <a:ext cx="960120" cy="475488"/>
          </a:xfrm>
          <a:prstGeom prst="roundRect">
            <a:avLst>
              <a:gd name="adj" fmla="val 15385"/>
            </a:avLst>
          </a:prstGeom>
          <a:solidFill>
            <a:srgbClr val="FCECDD"/>
          </a:solidFill>
          <a:ln w="12700">
            <a:solidFill>
              <a:srgbClr val="E87524"/>
            </a:solidFill>
            <a:prstDash val="solid"/>
          </a:ln>
        </p:spPr>
      </p:sp>
      <p:sp>
        <p:nvSpPr>
          <p:cNvPr id="29" name="Text 27"/>
          <p:cNvSpPr/>
          <p:nvPr/>
        </p:nvSpPr>
        <p:spPr>
          <a:xfrm>
            <a:off x="6062472" y="32918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E87524"/>
                </a:solidFill>
                <a:latin typeface="Aptos" pitchFamily="34" charset="0"/>
                <a:ea typeface="Aptos" pitchFamily="34" charset="-122"/>
                <a:cs typeface="Aptos" pitchFamily="34" charset="-120"/>
              </a:rPr>
              <a:t>ΔM ≈ 0</a:t>
            </a:r>
            <a:endParaRPr lang="en-US" sz="1400" dirty="0"/>
          </a:p>
        </p:txBody>
      </p:sp>
      <p:sp>
        <p:nvSpPr>
          <p:cNvPr id="30" name="Text 28"/>
          <p:cNvSpPr/>
          <p:nvPr/>
        </p:nvSpPr>
        <p:spPr>
          <a:xfrm>
            <a:off x="7205472" y="3273552"/>
            <a:ext cx="3858768" cy="25603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覆盖指标变好，但新增状态未转化为模型收益</a:t>
            </a:r>
            <a:endParaRPr lang="en-US" sz="1350" dirty="0"/>
          </a:p>
        </p:txBody>
      </p:sp>
      <p:sp>
        <p:nvSpPr>
          <p:cNvPr id="31" name="Shape 29"/>
          <p:cNvSpPr/>
          <p:nvPr/>
        </p:nvSpPr>
        <p:spPr>
          <a:xfrm>
            <a:off x="4937760" y="3858768"/>
            <a:ext cx="960120" cy="475488"/>
          </a:xfrm>
          <a:prstGeom prst="roundRect">
            <a:avLst>
              <a:gd name="adj" fmla="val 15385"/>
            </a:avLst>
          </a:prstGeom>
          <a:solidFill>
            <a:srgbClr val="E7F0F7"/>
          </a:solidFill>
          <a:ln w="12700">
            <a:solidFill>
              <a:srgbClr val="2E6F9E"/>
            </a:solidFill>
            <a:prstDash val="solid"/>
          </a:ln>
        </p:spPr>
      </p:sp>
      <p:sp>
        <p:nvSpPr>
          <p:cNvPr id="32" name="Text 30"/>
          <p:cNvSpPr/>
          <p:nvPr/>
        </p:nvSpPr>
        <p:spPr>
          <a:xfrm>
            <a:off x="5010912" y="39776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2E6F9E"/>
                </a:solidFill>
                <a:latin typeface="Aptos" pitchFamily="34" charset="0"/>
                <a:ea typeface="Aptos" pitchFamily="34" charset="-122"/>
                <a:cs typeface="Aptos" pitchFamily="34" charset="-120"/>
              </a:rPr>
              <a:t>ΔC ≈ 0</a:t>
            </a:r>
            <a:endParaRPr lang="en-US" sz="1400" dirty="0"/>
          </a:p>
        </p:txBody>
      </p:sp>
      <p:sp>
        <p:nvSpPr>
          <p:cNvPr id="33" name="Shape 31"/>
          <p:cNvSpPr/>
          <p:nvPr/>
        </p:nvSpPr>
        <p:spPr>
          <a:xfrm>
            <a:off x="5989320" y="3858768"/>
            <a:ext cx="960120" cy="475488"/>
          </a:xfrm>
          <a:prstGeom prst="roundRect">
            <a:avLst>
              <a:gd name="adj" fmla="val 15385"/>
            </a:avLst>
          </a:prstGeom>
          <a:solidFill>
            <a:srgbClr val="E7F0F7"/>
          </a:solidFill>
          <a:ln w="12700">
            <a:solidFill>
              <a:srgbClr val="2E6F9E"/>
            </a:solidFill>
            <a:prstDash val="solid"/>
          </a:ln>
        </p:spPr>
      </p:sp>
      <p:sp>
        <p:nvSpPr>
          <p:cNvPr id="34" name="Text 32"/>
          <p:cNvSpPr/>
          <p:nvPr/>
        </p:nvSpPr>
        <p:spPr>
          <a:xfrm>
            <a:off x="6062472" y="39776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2E6F9E"/>
                </a:solidFill>
                <a:latin typeface="Aptos" pitchFamily="34" charset="0"/>
                <a:ea typeface="Aptos" pitchFamily="34" charset="-122"/>
                <a:cs typeface="Aptos" pitchFamily="34" charset="-120"/>
              </a:rPr>
              <a:t>ΔM ↑</a:t>
            </a:r>
            <a:endParaRPr lang="en-US" sz="1400" dirty="0"/>
          </a:p>
        </p:txBody>
      </p:sp>
      <p:sp>
        <p:nvSpPr>
          <p:cNvPr id="35" name="Text 33"/>
          <p:cNvSpPr/>
          <p:nvPr/>
        </p:nvSpPr>
        <p:spPr>
          <a:xfrm>
            <a:off x="7205472" y="3959352"/>
            <a:ext cx="3858768" cy="25603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性能变化可能来自训练随机性或其他数据因素</a:t>
            </a:r>
            <a:endParaRPr lang="en-US" sz="1350" dirty="0"/>
          </a:p>
        </p:txBody>
      </p:sp>
      <p:sp>
        <p:nvSpPr>
          <p:cNvPr id="36" name="Shape 34"/>
          <p:cNvSpPr/>
          <p:nvPr/>
        </p:nvSpPr>
        <p:spPr>
          <a:xfrm>
            <a:off x="4937760" y="4544568"/>
            <a:ext cx="960120" cy="475488"/>
          </a:xfrm>
          <a:prstGeom prst="roundRect">
            <a:avLst>
              <a:gd name="adj" fmla="val 15385"/>
            </a:avLst>
          </a:prstGeom>
          <a:solidFill>
            <a:srgbClr val="F8E7E4"/>
          </a:solidFill>
          <a:ln w="12700">
            <a:solidFill>
              <a:srgbClr val="B84A3A"/>
            </a:solidFill>
            <a:prstDash val="solid"/>
          </a:ln>
        </p:spPr>
      </p:sp>
      <p:sp>
        <p:nvSpPr>
          <p:cNvPr id="37" name="Text 35"/>
          <p:cNvSpPr/>
          <p:nvPr/>
        </p:nvSpPr>
        <p:spPr>
          <a:xfrm>
            <a:off x="5010912" y="46634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B84A3A"/>
                </a:solidFill>
                <a:latin typeface="Aptos" pitchFamily="34" charset="0"/>
                <a:ea typeface="Aptos" pitchFamily="34" charset="-122"/>
                <a:cs typeface="Aptos" pitchFamily="34" charset="-120"/>
              </a:rPr>
              <a:t>ΔC ↓</a:t>
            </a:r>
            <a:endParaRPr lang="en-US" sz="1400" dirty="0"/>
          </a:p>
        </p:txBody>
      </p:sp>
      <p:sp>
        <p:nvSpPr>
          <p:cNvPr id="38" name="Shape 36"/>
          <p:cNvSpPr/>
          <p:nvPr/>
        </p:nvSpPr>
        <p:spPr>
          <a:xfrm>
            <a:off x="5989320" y="4544568"/>
            <a:ext cx="960120" cy="475488"/>
          </a:xfrm>
          <a:prstGeom prst="roundRect">
            <a:avLst>
              <a:gd name="adj" fmla="val 15385"/>
            </a:avLst>
          </a:prstGeom>
          <a:solidFill>
            <a:srgbClr val="F8E7E4"/>
          </a:solidFill>
          <a:ln w="12700">
            <a:solidFill>
              <a:srgbClr val="B84A3A"/>
            </a:solidFill>
            <a:prstDash val="solid"/>
          </a:ln>
        </p:spPr>
      </p:sp>
      <p:sp>
        <p:nvSpPr>
          <p:cNvPr id="39" name="Text 37"/>
          <p:cNvSpPr/>
          <p:nvPr/>
        </p:nvSpPr>
        <p:spPr>
          <a:xfrm>
            <a:off x="6062472" y="4663440"/>
            <a:ext cx="813816"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B84A3A"/>
                </a:solidFill>
                <a:latin typeface="Aptos" pitchFamily="34" charset="0"/>
                <a:ea typeface="Aptos" pitchFamily="34" charset="-122"/>
                <a:cs typeface="Aptos" pitchFamily="34" charset="-120"/>
              </a:rPr>
              <a:t>ΔM ↓</a:t>
            </a:r>
            <a:endParaRPr lang="en-US" sz="1400" dirty="0"/>
          </a:p>
        </p:txBody>
      </p:sp>
      <p:sp>
        <p:nvSpPr>
          <p:cNvPr id="40" name="Text 38"/>
          <p:cNvSpPr/>
          <p:nvPr/>
        </p:nvSpPr>
        <p:spPr>
          <a:xfrm>
            <a:off x="7205472" y="4645152"/>
            <a:ext cx="3858768" cy="256032"/>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17212B"/>
                </a:solidFill>
                <a:latin typeface="Microsoft YaHei" pitchFamily="34" charset="0"/>
                <a:ea typeface="Microsoft YaHei" pitchFamily="34" charset="-122"/>
                <a:cs typeface="Microsoft YaHei" pitchFamily="34" charset="-120"/>
              </a:rPr>
              <a:t>检查清洁、标签、重复与数据分布变化</a:t>
            </a:r>
            <a:endParaRPr lang="en-US" sz="1350" dirty="0"/>
          </a:p>
        </p:txBody>
      </p:sp>
      <p:sp>
        <p:nvSpPr>
          <p:cNvPr id="41" name="Shape 39"/>
          <p:cNvSpPr/>
          <p:nvPr/>
        </p:nvSpPr>
        <p:spPr>
          <a:xfrm>
            <a:off x="4937760" y="5330952"/>
            <a:ext cx="5989320" cy="292608"/>
          </a:xfrm>
          <a:prstGeom prst="roundRect">
            <a:avLst>
              <a:gd name="adj" fmla="val 25000"/>
            </a:avLst>
          </a:prstGeom>
          <a:solidFill>
            <a:srgbClr val="153B5B"/>
          </a:solidFill>
          <a:ln w="12700">
            <a:solidFill>
              <a:srgbClr val="153B5B"/>
            </a:solidFill>
            <a:prstDash val="solid"/>
          </a:ln>
        </p:spPr>
      </p:sp>
      <p:sp>
        <p:nvSpPr>
          <p:cNvPr id="42" name="Text 40"/>
          <p:cNvSpPr/>
          <p:nvPr/>
        </p:nvSpPr>
        <p:spPr>
          <a:xfrm>
            <a:off x="5102352" y="5367528"/>
            <a:ext cx="5650992" cy="201168"/>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FFFFFF"/>
                </a:solidFill>
                <a:latin typeface="Microsoft YaHei" pitchFamily="34" charset="0"/>
                <a:ea typeface="Microsoft YaHei" pitchFamily="34" charset="-122"/>
                <a:cs typeface="Microsoft YaHei" pitchFamily="34" charset="-120"/>
              </a:rPr>
              <a:t>需要控制：模型、训练轮数、随机种子、总预算、固定测试集、去重规则</a:t>
            </a:r>
            <a:endParaRPr lang="en-US" sz="1150" dirty="0"/>
          </a:p>
        </p:txBody>
      </p:sp>
      <p:sp>
        <p:nvSpPr>
          <p:cNvPr id="43" name="Text 41"/>
          <p:cNvSpPr/>
          <p:nvPr/>
        </p:nvSpPr>
        <p:spPr>
          <a:xfrm>
            <a:off x="932688" y="6016752"/>
            <a:ext cx="10332720" cy="256032"/>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B84A3A"/>
                </a:solidFill>
                <a:latin typeface="Microsoft YaHei" pitchFamily="34" charset="0"/>
                <a:ea typeface="Microsoft YaHei" pitchFamily="34" charset="-122"/>
                <a:cs typeface="Microsoft YaHei" pitchFamily="34" charset="-120"/>
              </a:rPr>
              <a:t>分析结论的强弱取决于：ΔM 是否显著、是否跨模型复现、是否优于等预算基线。</a:t>
            </a:r>
            <a:endParaRPr lang="en-US" sz="1450" dirty="0"/>
          </a:p>
        </p:txBody>
      </p:sp>
      <p:sp>
        <p:nvSpPr>
          <p:cNvPr id="44" name="Text 42"/>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07 · NEXT STEPS</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下一步：让覆盖诊断经得起独立检验</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从可运行流程，推进到可比较、可迁移的研究证据</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13232" y="1828800"/>
            <a:ext cx="2331720" cy="2212848"/>
          </a:xfrm>
          <a:prstGeom prst="roundRect">
            <a:avLst>
              <a:gd name="adj" fmla="val 3306"/>
            </a:avLst>
          </a:prstGeom>
          <a:solidFill>
            <a:srgbClr val="FFFFFF"/>
          </a:solidFill>
          <a:ln w="12700">
            <a:solidFill>
              <a:srgbClr val="D8E0E6"/>
            </a:solidFill>
            <a:prstDash val="solid"/>
          </a:ln>
        </p:spPr>
      </p:sp>
      <p:sp>
        <p:nvSpPr>
          <p:cNvPr id="7" name="Shape 5"/>
          <p:cNvSpPr/>
          <p:nvPr/>
        </p:nvSpPr>
        <p:spPr>
          <a:xfrm>
            <a:off x="914400" y="2057400"/>
            <a:ext cx="347472" cy="347472"/>
          </a:xfrm>
          <a:prstGeom prst="ellipse">
            <a:avLst/>
          </a:prstGeom>
          <a:solidFill>
            <a:srgbClr val="2E6F9E"/>
          </a:solidFill>
          <a:ln w="12700">
            <a:solidFill>
              <a:srgbClr val="2E6F9E"/>
            </a:solidFill>
            <a:prstDash val="solid"/>
          </a:ln>
        </p:spPr>
      </p:sp>
      <p:sp>
        <p:nvSpPr>
          <p:cNvPr id="8" name="Text 6"/>
          <p:cNvSpPr/>
          <p:nvPr/>
        </p:nvSpPr>
        <p:spPr>
          <a:xfrm>
            <a:off x="914400" y="206654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9" name="Text 7"/>
          <p:cNvSpPr/>
          <p:nvPr/>
        </p:nvSpPr>
        <p:spPr>
          <a:xfrm>
            <a:off x="1399032" y="2057400"/>
            <a:ext cx="1353312" cy="320040"/>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2E6F9E"/>
                </a:solidFill>
                <a:latin typeface="Microsoft YaHei" pitchFamily="34" charset="0"/>
                <a:ea typeface="Microsoft YaHei" pitchFamily="34" charset="-122"/>
                <a:cs typeface="Microsoft YaHei" pitchFamily="34" charset="-120"/>
              </a:rPr>
              <a:t>标签有效性</a:t>
            </a:r>
            <a:endParaRPr lang="en-US" sz="1800" dirty="0"/>
          </a:p>
        </p:txBody>
      </p:sp>
      <p:sp>
        <p:nvSpPr>
          <p:cNvPr id="10" name="Shape 8"/>
          <p:cNvSpPr/>
          <p:nvPr/>
        </p:nvSpPr>
        <p:spPr>
          <a:xfrm>
            <a:off x="914400" y="2660904"/>
            <a:ext cx="1920240" cy="905256"/>
          </a:xfrm>
          <a:prstGeom prst="roundRect">
            <a:avLst>
              <a:gd name="adj" fmla="val 8081"/>
            </a:avLst>
          </a:prstGeom>
          <a:solidFill>
            <a:srgbClr val="E7F0F7"/>
          </a:solidFill>
          <a:ln w="12700">
            <a:solidFill>
              <a:srgbClr val="E7F0F7"/>
            </a:solidFill>
            <a:prstDash val="solid"/>
          </a:ln>
        </p:spPr>
      </p:sp>
      <p:sp>
        <p:nvSpPr>
          <p:cNvPr id="11" name="Text 9"/>
          <p:cNvSpPr/>
          <p:nvPr/>
        </p:nvSpPr>
        <p:spPr>
          <a:xfrm>
            <a:off x="1014984" y="2816352"/>
            <a:ext cx="1719072" cy="576072"/>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2E6F9E"/>
                </a:solidFill>
                <a:latin typeface="Microsoft YaHei" pitchFamily="34" charset="0"/>
                <a:ea typeface="Microsoft YaHei" pitchFamily="34" charset="-122"/>
                <a:cs typeface="Microsoft YaHei" pitchFamily="34" charset="-120"/>
              </a:rPr>
              <a:t>双人独立标注</a:t>
            </a:r>
            <a:endParaRPr lang="en-US" sz="1450" dirty="0"/>
          </a:p>
          <a:p>
            <a:pPr algn="ctr" indent="0" marL="0">
              <a:lnSpc>
                <a:spcPct val="100000"/>
              </a:lnSpc>
              <a:buNone/>
            </a:pPr>
            <a:r>
              <a:rPr lang="en-US" sz="1450" b="1" dirty="0">
                <a:solidFill>
                  <a:srgbClr val="2E6F9E"/>
                </a:solidFill>
                <a:latin typeface="Microsoft YaHei" pitchFamily="34" charset="0"/>
                <a:ea typeface="Microsoft YaHei" pitchFamily="34" charset="-122"/>
                <a:cs typeface="Microsoft YaHei" pitchFamily="34" charset="-120"/>
              </a:rPr>
              <a:t>一致性与混淆分析</a:t>
            </a:r>
            <a:endParaRPr lang="en-US" sz="1450" dirty="0"/>
          </a:p>
        </p:txBody>
      </p:sp>
      <p:sp>
        <p:nvSpPr>
          <p:cNvPr id="12" name="Shape 10"/>
          <p:cNvSpPr/>
          <p:nvPr/>
        </p:nvSpPr>
        <p:spPr>
          <a:xfrm>
            <a:off x="3072384" y="2935224"/>
            <a:ext cx="347472" cy="0"/>
          </a:xfrm>
          <a:prstGeom prst="line">
            <a:avLst/>
          </a:prstGeom>
          <a:noFill/>
          <a:ln w="19050">
            <a:solidFill>
              <a:srgbClr val="A6B4BE"/>
            </a:solidFill>
            <a:prstDash val="solid"/>
            <a:headEnd type="none"/>
            <a:tailEnd type="triangle"/>
          </a:ln>
        </p:spPr>
      </p:sp>
      <p:sp>
        <p:nvSpPr>
          <p:cNvPr id="13" name="Shape 11"/>
          <p:cNvSpPr/>
          <p:nvPr/>
        </p:nvSpPr>
        <p:spPr>
          <a:xfrm>
            <a:off x="3456432" y="1828800"/>
            <a:ext cx="2331720" cy="2212848"/>
          </a:xfrm>
          <a:prstGeom prst="roundRect">
            <a:avLst>
              <a:gd name="adj" fmla="val 3306"/>
            </a:avLst>
          </a:prstGeom>
          <a:solidFill>
            <a:srgbClr val="FFFFFF"/>
          </a:solidFill>
          <a:ln w="12700">
            <a:solidFill>
              <a:srgbClr val="D8E0E6"/>
            </a:solidFill>
            <a:prstDash val="solid"/>
          </a:ln>
        </p:spPr>
      </p:sp>
      <p:sp>
        <p:nvSpPr>
          <p:cNvPr id="14" name="Shape 12"/>
          <p:cNvSpPr/>
          <p:nvPr/>
        </p:nvSpPr>
        <p:spPr>
          <a:xfrm>
            <a:off x="3657600" y="2057400"/>
            <a:ext cx="347472" cy="347472"/>
          </a:xfrm>
          <a:prstGeom prst="ellipse">
            <a:avLst/>
          </a:prstGeom>
          <a:solidFill>
            <a:srgbClr val="187D7B"/>
          </a:solidFill>
          <a:ln w="12700">
            <a:solidFill>
              <a:srgbClr val="187D7B"/>
            </a:solidFill>
            <a:prstDash val="solid"/>
          </a:ln>
        </p:spPr>
      </p:sp>
      <p:sp>
        <p:nvSpPr>
          <p:cNvPr id="15" name="Text 13"/>
          <p:cNvSpPr/>
          <p:nvPr/>
        </p:nvSpPr>
        <p:spPr>
          <a:xfrm>
            <a:off x="3657600" y="206654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p:nvPr/>
        </p:nvSpPr>
        <p:spPr>
          <a:xfrm>
            <a:off x="4142232" y="2057400"/>
            <a:ext cx="1353312" cy="320040"/>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187D7B"/>
                </a:solidFill>
                <a:latin typeface="Microsoft YaHei" pitchFamily="34" charset="0"/>
                <a:ea typeface="Microsoft YaHei" pitchFamily="34" charset="-122"/>
                <a:cs typeface="Microsoft YaHei" pitchFamily="34" charset="-120"/>
              </a:rPr>
              <a:t>公平基线</a:t>
            </a:r>
            <a:endParaRPr lang="en-US" sz="1800" dirty="0"/>
          </a:p>
        </p:txBody>
      </p:sp>
      <p:sp>
        <p:nvSpPr>
          <p:cNvPr id="17" name="Shape 15"/>
          <p:cNvSpPr/>
          <p:nvPr/>
        </p:nvSpPr>
        <p:spPr>
          <a:xfrm>
            <a:off x="3657600" y="2660904"/>
            <a:ext cx="1920240" cy="905256"/>
          </a:xfrm>
          <a:prstGeom prst="roundRect">
            <a:avLst>
              <a:gd name="adj" fmla="val 8081"/>
            </a:avLst>
          </a:prstGeom>
          <a:solidFill>
            <a:srgbClr val="E5F3F1"/>
          </a:solidFill>
          <a:ln w="12700">
            <a:solidFill>
              <a:srgbClr val="E5F3F1"/>
            </a:solidFill>
            <a:prstDash val="solid"/>
          </a:ln>
        </p:spPr>
      </p:sp>
      <p:sp>
        <p:nvSpPr>
          <p:cNvPr id="18" name="Text 16"/>
          <p:cNvSpPr/>
          <p:nvPr/>
        </p:nvSpPr>
        <p:spPr>
          <a:xfrm>
            <a:off x="3758184" y="2816352"/>
            <a:ext cx="1719072" cy="576072"/>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187D7B"/>
                </a:solidFill>
                <a:latin typeface="Microsoft YaHei" pitchFamily="34" charset="0"/>
                <a:ea typeface="Microsoft YaHei" pitchFamily="34" charset="-122"/>
                <a:cs typeface="Microsoft YaHei" pitchFamily="34" charset="-120"/>
              </a:rPr>
              <a:t>随机 / 分层随机</a:t>
            </a:r>
            <a:endParaRPr lang="en-US" sz="1450" dirty="0"/>
          </a:p>
          <a:p>
            <a:pPr algn="ctr" indent="0" marL="0">
              <a:lnSpc>
                <a:spcPct val="100000"/>
              </a:lnSpc>
              <a:buNone/>
            </a:pPr>
            <a:r>
              <a:rPr lang="en-US" sz="1450" b="1" dirty="0">
                <a:solidFill>
                  <a:srgbClr val="187D7B"/>
                </a:solidFill>
                <a:latin typeface="Microsoft YaHei" pitchFamily="34" charset="0"/>
                <a:ea typeface="Microsoft YaHei" pitchFamily="34" charset="-122"/>
                <a:cs typeface="Microsoft YaHei" pitchFamily="34" charset="-120"/>
              </a:rPr>
              <a:t>Core-set / 简单贪心</a:t>
            </a:r>
            <a:endParaRPr lang="en-US" sz="1450" dirty="0"/>
          </a:p>
        </p:txBody>
      </p:sp>
      <p:sp>
        <p:nvSpPr>
          <p:cNvPr id="19" name="Shape 17"/>
          <p:cNvSpPr/>
          <p:nvPr/>
        </p:nvSpPr>
        <p:spPr>
          <a:xfrm>
            <a:off x="5815584" y="2935224"/>
            <a:ext cx="347472" cy="0"/>
          </a:xfrm>
          <a:prstGeom prst="line">
            <a:avLst/>
          </a:prstGeom>
          <a:noFill/>
          <a:ln w="19050">
            <a:solidFill>
              <a:srgbClr val="A6B4BE"/>
            </a:solidFill>
            <a:prstDash val="solid"/>
            <a:headEnd type="none"/>
            <a:tailEnd type="triangle"/>
          </a:ln>
        </p:spPr>
      </p:sp>
      <p:sp>
        <p:nvSpPr>
          <p:cNvPr id="20" name="Shape 18"/>
          <p:cNvSpPr/>
          <p:nvPr/>
        </p:nvSpPr>
        <p:spPr>
          <a:xfrm>
            <a:off x="6199632" y="1828800"/>
            <a:ext cx="2331720" cy="2212848"/>
          </a:xfrm>
          <a:prstGeom prst="roundRect">
            <a:avLst>
              <a:gd name="adj" fmla="val 3306"/>
            </a:avLst>
          </a:prstGeom>
          <a:solidFill>
            <a:srgbClr val="FFFFFF"/>
          </a:solidFill>
          <a:ln w="12700">
            <a:solidFill>
              <a:srgbClr val="D8E0E6"/>
            </a:solidFill>
            <a:prstDash val="solid"/>
          </a:ln>
        </p:spPr>
      </p:sp>
      <p:sp>
        <p:nvSpPr>
          <p:cNvPr id="21" name="Shape 19"/>
          <p:cNvSpPr/>
          <p:nvPr/>
        </p:nvSpPr>
        <p:spPr>
          <a:xfrm>
            <a:off x="6400800" y="2057400"/>
            <a:ext cx="347472" cy="347472"/>
          </a:xfrm>
          <a:prstGeom prst="ellipse">
            <a:avLst/>
          </a:prstGeom>
          <a:solidFill>
            <a:srgbClr val="E87524"/>
          </a:solidFill>
          <a:ln w="12700">
            <a:solidFill>
              <a:srgbClr val="E87524"/>
            </a:solidFill>
            <a:prstDash val="solid"/>
          </a:ln>
        </p:spPr>
      </p:sp>
      <p:sp>
        <p:nvSpPr>
          <p:cNvPr id="22" name="Text 20"/>
          <p:cNvSpPr/>
          <p:nvPr/>
        </p:nvSpPr>
        <p:spPr>
          <a:xfrm>
            <a:off x="6400800" y="206654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3" name="Text 21"/>
          <p:cNvSpPr/>
          <p:nvPr/>
        </p:nvSpPr>
        <p:spPr>
          <a:xfrm>
            <a:off x="6885432" y="2057400"/>
            <a:ext cx="1353312" cy="320040"/>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E87524"/>
                </a:solidFill>
                <a:latin typeface="Microsoft YaHei" pitchFamily="34" charset="0"/>
                <a:ea typeface="Microsoft YaHei" pitchFamily="34" charset="-122"/>
                <a:cs typeface="Microsoft YaHei" pitchFamily="34" charset="-120"/>
              </a:rPr>
              <a:t>独立效用</a:t>
            </a:r>
            <a:endParaRPr lang="en-US" sz="1800" dirty="0"/>
          </a:p>
        </p:txBody>
      </p:sp>
      <p:sp>
        <p:nvSpPr>
          <p:cNvPr id="24" name="Shape 22"/>
          <p:cNvSpPr/>
          <p:nvPr/>
        </p:nvSpPr>
        <p:spPr>
          <a:xfrm>
            <a:off x="6400800" y="2660904"/>
            <a:ext cx="1920240" cy="905256"/>
          </a:xfrm>
          <a:prstGeom prst="roundRect">
            <a:avLst>
              <a:gd name="adj" fmla="val 8081"/>
            </a:avLst>
          </a:prstGeom>
          <a:solidFill>
            <a:srgbClr val="FCECDD"/>
          </a:solidFill>
          <a:ln w="12700">
            <a:solidFill>
              <a:srgbClr val="FCECDD"/>
            </a:solidFill>
            <a:prstDash val="solid"/>
          </a:ln>
        </p:spPr>
      </p:sp>
      <p:sp>
        <p:nvSpPr>
          <p:cNvPr id="25" name="Text 23"/>
          <p:cNvSpPr/>
          <p:nvPr/>
        </p:nvSpPr>
        <p:spPr>
          <a:xfrm>
            <a:off x="6501384" y="2816352"/>
            <a:ext cx="1719072" cy="576072"/>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E87524"/>
                </a:solidFill>
                <a:latin typeface="Microsoft YaHei" pitchFamily="34" charset="0"/>
                <a:ea typeface="Microsoft YaHei" pitchFamily="34" charset="-122"/>
                <a:cs typeface="Microsoft YaHei" pitchFamily="34" charset="-120"/>
              </a:rPr>
              <a:t>受控删减与恢复</a:t>
            </a:r>
            <a:endParaRPr lang="en-US" sz="1450" dirty="0"/>
          </a:p>
          <a:p>
            <a:pPr algn="ctr" indent="0" marL="0">
              <a:lnSpc>
                <a:spcPct val="100000"/>
              </a:lnSpc>
              <a:buNone/>
            </a:pPr>
            <a:r>
              <a:rPr lang="en-US" sz="1450" b="1" dirty="0">
                <a:solidFill>
                  <a:srgbClr val="E87524"/>
                </a:solidFill>
                <a:latin typeface="Microsoft YaHei" pitchFamily="34" charset="0"/>
                <a:ea typeface="Microsoft YaHei" pitchFamily="34" charset="-122"/>
                <a:cs typeface="Microsoft YaHei" pitchFamily="34" charset="-120"/>
              </a:rPr>
              <a:t>新故障 / 成本 / 区间</a:t>
            </a:r>
            <a:endParaRPr lang="en-US" sz="1450" dirty="0"/>
          </a:p>
        </p:txBody>
      </p:sp>
      <p:sp>
        <p:nvSpPr>
          <p:cNvPr id="26" name="Shape 24"/>
          <p:cNvSpPr/>
          <p:nvPr/>
        </p:nvSpPr>
        <p:spPr>
          <a:xfrm>
            <a:off x="8558784" y="2935224"/>
            <a:ext cx="347472" cy="0"/>
          </a:xfrm>
          <a:prstGeom prst="line">
            <a:avLst/>
          </a:prstGeom>
          <a:noFill/>
          <a:ln w="19050">
            <a:solidFill>
              <a:srgbClr val="A6B4BE"/>
            </a:solidFill>
            <a:prstDash val="solid"/>
            <a:headEnd type="none"/>
            <a:tailEnd type="triangle"/>
          </a:ln>
        </p:spPr>
      </p:sp>
      <p:sp>
        <p:nvSpPr>
          <p:cNvPr id="27" name="Shape 25"/>
          <p:cNvSpPr/>
          <p:nvPr/>
        </p:nvSpPr>
        <p:spPr>
          <a:xfrm>
            <a:off x="8942832" y="1828800"/>
            <a:ext cx="2331720" cy="2212848"/>
          </a:xfrm>
          <a:prstGeom prst="roundRect">
            <a:avLst>
              <a:gd name="adj" fmla="val 3306"/>
            </a:avLst>
          </a:prstGeom>
          <a:solidFill>
            <a:srgbClr val="FFFFFF"/>
          </a:solidFill>
          <a:ln w="12700">
            <a:solidFill>
              <a:srgbClr val="D8E0E6"/>
            </a:solidFill>
            <a:prstDash val="solid"/>
          </a:ln>
        </p:spPr>
      </p:sp>
      <p:sp>
        <p:nvSpPr>
          <p:cNvPr id="28" name="Shape 26"/>
          <p:cNvSpPr/>
          <p:nvPr/>
        </p:nvSpPr>
        <p:spPr>
          <a:xfrm>
            <a:off x="9144000" y="2057400"/>
            <a:ext cx="347472" cy="347472"/>
          </a:xfrm>
          <a:prstGeom prst="ellipse">
            <a:avLst/>
          </a:prstGeom>
          <a:solidFill>
            <a:srgbClr val="2F7D5A"/>
          </a:solidFill>
          <a:ln w="12700">
            <a:solidFill>
              <a:srgbClr val="2F7D5A"/>
            </a:solidFill>
            <a:prstDash val="solid"/>
          </a:ln>
        </p:spPr>
      </p:sp>
      <p:sp>
        <p:nvSpPr>
          <p:cNvPr id="29" name="Text 27"/>
          <p:cNvSpPr/>
          <p:nvPr/>
        </p:nvSpPr>
        <p:spPr>
          <a:xfrm>
            <a:off x="9144000" y="2066544"/>
            <a:ext cx="347472" cy="310896"/>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0" name="Text 28"/>
          <p:cNvSpPr/>
          <p:nvPr/>
        </p:nvSpPr>
        <p:spPr>
          <a:xfrm>
            <a:off x="9628632" y="2057400"/>
            <a:ext cx="1353312" cy="320040"/>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2F7D5A"/>
                </a:solidFill>
                <a:latin typeface="Microsoft YaHei" pitchFamily="34" charset="0"/>
                <a:ea typeface="Microsoft YaHei" pitchFamily="34" charset="-122"/>
                <a:cs typeface="Microsoft YaHei" pitchFamily="34" charset="-120"/>
              </a:rPr>
              <a:t>跨类迁移</a:t>
            </a:r>
            <a:endParaRPr lang="en-US" sz="1800" dirty="0"/>
          </a:p>
        </p:txBody>
      </p:sp>
      <p:sp>
        <p:nvSpPr>
          <p:cNvPr id="31" name="Shape 29"/>
          <p:cNvSpPr/>
          <p:nvPr/>
        </p:nvSpPr>
        <p:spPr>
          <a:xfrm>
            <a:off x="9144000" y="2660904"/>
            <a:ext cx="1920240" cy="905256"/>
          </a:xfrm>
          <a:prstGeom prst="roundRect">
            <a:avLst>
              <a:gd name="adj" fmla="val 8081"/>
            </a:avLst>
          </a:prstGeom>
          <a:solidFill>
            <a:srgbClr val="E7F2EC"/>
          </a:solidFill>
          <a:ln w="12700">
            <a:solidFill>
              <a:srgbClr val="E7F2EC"/>
            </a:solidFill>
            <a:prstDash val="solid"/>
          </a:ln>
        </p:spPr>
      </p:sp>
      <p:sp>
        <p:nvSpPr>
          <p:cNvPr id="32" name="Text 30"/>
          <p:cNvSpPr/>
          <p:nvPr/>
        </p:nvSpPr>
        <p:spPr>
          <a:xfrm>
            <a:off x="9244584" y="2816352"/>
            <a:ext cx="1719072" cy="576072"/>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2F7D5A"/>
                </a:solidFill>
                <a:latin typeface="Microsoft YaHei" pitchFamily="34" charset="0"/>
                <a:ea typeface="Microsoft YaHei" pitchFamily="34" charset="-122"/>
                <a:cs typeface="Microsoft YaHei" pitchFamily="34" charset="-120"/>
              </a:rPr>
              <a:t>dog → person / 新类别</a:t>
            </a:r>
            <a:endParaRPr lang="en-US" sz="1450" dirty="0"/>
          </a:p>
          <a:p>
            <a:pPr algn="ctr" indent="0" marL="0">
              <a:lnSpc>
                <a:spcPct val="100000"/>
              </a:lnSpc>
              <a:buNone/>
            </a:pPr>
            <a:r>
              <a:rPr lang="en-US" sz="1450" b="1" dirty="0">
                <a:solidFill>
                  <a:srgbClr val="2F7D5A"/>
                </a:solidFill>
                <a:latin typeface="Microsoft YaHei" pitchFamily="34" charset="0"/>
                <a:ea typeface="Microsoft YaHei" pitchFamily="34" charset="-122"/>
                <a:cs typeface="Microsoft YaHei" pitchFamily="34" charset="-120"/>
              </a:rPr>
              <a:t>开发与验证分离</a:t>
            </a:r>
            <a:endParaRPr lang="en-US" sz="1450" dirty="0"/>
          </a:p>
        </p:txBody>
      </p:sp>
      <p:sp>
        <p:nvSpPr>
          <p:cNvPr id="33" name="Shape 31"/>
          <p:cNvSpPr/>
          <p:nvPr/>
        </p:nvSpPr>
        <p:spPr>
          <a:xfrm>
            <a:off x="822960" y="4489704"/>
            <a:ext cx="10543032" cy="1069848"/>
          </a:xfrm>
          <a:prstGeom prst="roundRect">
            <a:avLst>
              <a:gd name="adj" fmla="val 6838"/>
            </a:avLst>
          </a:prstGeom>
          <a:solidFill>
            <a:srgbClr val="153B5B"/>
          </a:solidFill>
          <a:ln w="12700">
            <a:solidFill>
              <a:srgbClr val="153B5B"/>
            </a:solidFill>
            <a:prstDash val="solid"/>
          </a:ln>
        </p:spPr>
      </p:sp>
      <p:sp>
        <p:nvSpPr>
          <p:cNvPr id="34" name="Text 32"/>
          <p:cNvSpPr/>
          <p:nvPr/>
        </p:nvSpPr>
        <p:spPr>
          <a:xfrm>
            <a:off x="1115568" y="4700016"/>
            <a:ext cx="196596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8ED1CC"/>
                </a:solidFill>
                <a:latin typeface="Aptos" pitchFamily="34" charset="0"/>
                <a:ea typeface="Aptos" pitchFamily="34" charset="-122"/>
                <a:cs typeface="Aptos" pitchFamily="34" charset="-120"/>
              </a:rPr>
              <a:t>Take-home message</a:t>
            </a:r>
            <a:endParaRPr lang="en-US" sz="1200" dirty="0"/>
          </a:p>
        </p:txBody>
      </p:sp>
      <p:sp>
        <p:nvSpPr>
          <p:cNvPr id="35" name="Text 33"/>
          <p:cNvSpPr/>
          <p:nvPr/>
        </p:nvSpPr>
        <p:spPr>
          <a:xfrm>
            <a:off x="2953512" y="4663440"/>
            <a:ext cx="8065008" cy="347472"/>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Microsoft YaHei" pitchFamily="34" charset="0"/>
                <a:ea typeface="Microsoft YaHei" pitchFamily="34" charset="-122"/>
                <a:cs typeface="Microsoft YaHei" pitchFamily="34" charset="-120"/>
              </a:rPr>
              <a:t>覆盖不是模型安全的替代品；它的价值在于指出“哪些测试证据还没有”。</a:t>
            </a:r>
            <a:endParaRPr lang="en-US" sz="2000" dirty="0"/>
          </a:p>
        </p:txBody>
      </p:sp>
      <p:sp>
        <p:nvSpPr>
          <p:cNvPr id="36" name="Text 34"/>
          <p:cNvSpPr/>
          <p:nvPr/>
        </p:nvSpPr>
        <p:spPr>
          <a:xfrm>
            <a:off x="1261872" y="5870448"/>
            <a:ext cx="9674352" cy="356616"/>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B84A3A"/>
                </a:solidFill>
                <a:latin typeface="Microsoft YaHei" pitchFamily="34" charset="0"/>
                <a:ea typeface="Microsoft YaHei" pitchFamily="34" charset="-122"/>
                <a:cs typeface="Microsoft YaHei" pitchFamily="34" charset="-120"/>
              </a:rPr>
              <a:t>当前已完成可审计的犬类试验链路，下一阶段的关键是独立验证，而不是继续堆叠特征数量。</a:t>
            </a:r>
            <a:endParaRPr lang="en-US" sz="1650" dirty="0"/>
          </a:p>
        </p:txBody>
      </p:sp>
      <p:sp>
        <p:nvSpPr>
          <p:cNvPr id="37" name="Text 35"/>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BACKUP A</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最近邻工作与本项目的技术边界</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这些工作必须知道，但不需要在主讲部分逐篇展开</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13232" y="1719072"/>
            <a:ext cx="2240280" cy="475488"/>
          </a:xfrm>
          <a:prstGeom prst="rect">
            <a:avLst/>
          </a:prstGeom>
          <a:solidFill>
            <a:srgbClr val="153B5B"/>
          </a:solidFill>
          <a:ln w="12700">
            <a:solidFill>
              <a:srgbClr val="153B5B"/>
            </a:solidFill>
            <a:prstDash val="solid"/>
          </a:ln>
        </p:spPr>
      </p:sp>
      <p:sp>
        <p:nvSpPr>
          <p:cNvPr id="7" name="Text 5"/>
          <p:cNvSpPr/>
          <p:nvPr/>
        </p:nvSpPr>
        <p:spPr>
          <a:xfrm>
            <a:off x="822960" y="1837944"/>
            <a:ext cx="2020824" cy="24688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Microsoft YaHei" pitchFamily="34" charset="0"/>
                <a:ea typeface="Microsoft YaHei" pitchFamily="34" charset="-122"/>
                <a:cs typeface="Microsoft YaHei" pitchFamily="34" charset="-120"/>
              </a:rPr>
              <a:t>工作</a:t>
            </a:r>
            <a:endParaRPr lang="en-US" sz="1400" dirty="0"/>
          </a:p>
        </p:txBody>
      </p:sp>
      <p:sp>
        <p:nvSpPr>
          <p:cNvPr id="8" name="Shape 6"/>
          <p:cNvSpPr/>
          <p:nvPr/>
        </p:nvSpPr>
        <p:spPr>
          <a:xfrm>
            <a:off x="3154680" y="1719072"/>
            <a:ext cx="3986784" cy="475488"/>
          </a:xfrm>
          <a:prstGeom prst="rect">
            <a:avLst/>
          </a:prstGeom>
          <a:solidFill>
            <a:srgbClr val="153B5B"/>
          </a:solidFill>
          <a:ln w="12700">
            <a:solidFill>
              <a:srgbClr val="153B5B"/>
            </a:solidFill>
            <a:prstDash val="solid"/>
          </a:ln>
        </p:spPr>
      </p:sp>
      <p:sp>
        <p:nvSpPr>
          <p:cNvPr id="9" name="Text 7"/>
          <p:cNvSpPr/>
          <p:nvPr/>
        </p:nvSpPr>
        <p:spPr>
          <a:xfrm>
            <a:off x="3264408" y="1837944"/>
            <a:ext cx="3767328" cy="24688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FFFFFF"/>
                </a:solidFill>
                <a:latin typeface="Microsoft YaHei" pitchFamily="34" charset="0"/>
                <a:ea typeface="Microsoft YaHei" pitchFamily="34" charset="-122"/>
                <a:cs typeface="Microsoft YaHei" pitchFamily="34" charset="-120"/>
              </a:rPr>
              <a:t>它已经解决什么</a:t>
            </a:r>
            <a:endParaRPr lang="en-US" sz="1400" dirty="0"/>
          </a:p>
        </p:txBody>
      </p:sp>
      <p:sp>
        <p:nvSpPr>
          <p:cNvPr id="10" name="Shape 8"/>
          <p:cNvSpPr/>
          <p:nvPr/>
        </p:nvSpPr>
        <p:spPr>
          <a:xfrm>
            <a:off x="7342632" y="1719072"/>
            <a:ext cx="4114800" cy="475488"/>
          </a:xfrm>
          <a:prstGeom prst="rect">
            <a:avLst/>
          </a:prstGeom>
          <a:solidFill>
            <a:srgbClr val="153B5B"/>
          </a:solidFill>
          <a:ln w="12700">
            <a:solidFill>
              <a:srgbClr val="153B5B"/>
            </a:solidFill>
            <a:prstDash val="solid"/>
          </a:ln>
        </p:spPr>
      </p:sp>
      <p:sp>
        <p:nvSpPr>
          <p:cNvPr id="11" name="Text 9"/>
          <p:cNvSpPr/>
          <p:nvPr/>
        </p:nvSpPr>
        <p:spPr>
          <a:xfrm>
            <a:off x="7452360" y="1837944"/>
            <a:ext cx="3895344" cy="24688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FFFFFF"/>
                </a:solidFill>
                <a:latin typeface="Microsoft YaHei" pitchFamily="34" charset="0"/>
                <a:ea typeface="Microsoft YaHei" pitchFamily="34" charset="-122"/>
                <a:cs typeface="Microsoft YaHei" pitchFamily="34" charset="-120"/>
              </a:rPr>
              <a:t>与当前研究的边界</a:t>
            </a:r>
            <a:endParaRPr lang="en-US" sz="1400" dirty="0"/>
          </a:p>
        </p:txBody>
      </p:sp>
      <p:sp>
        <p:nvSpPr>
          <p:cNvPr id="12" name="Shape 10"/>
          <p:cNvSpPr/>
          <p:nvPr/>
        </p:nvSpPr>
        <p:spPr>
          <a:xfrm>
            <a:off x="713232" y="2212848"/>
            <a:ext cx="2240280" cy="557784"/>
          </a:xfrm>
          <a:prstGeom prst="rect">
            <a:avLst/>
          </a:prstGeom>
          <a:solidFill>
            <a:srgbClr val="FFFFFF"/>
          </a:solidFill>
          <a:ln w="12700">
            <a:solidFill>
              <a:srgbClr val="D8E0E6"/>
            </a:solidFill>
            <a:prstDash val="solid"/>
          </a:ln>
        </p:spPr>
      </p:sp>
      <p:sp>
        <p:nvSpPr>
          <p:cNvPr id="13" name="Text 11"/>
          <p:cNvSpPr/>
          <p:nvPr/>
        </p:nvSpPr>
        <p:spPr>
          <a:xfrm>
            <a:off x="841248" y="2295144"/>
            <a:ext cx="1984248" cy="36576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53B5B"/>
                </a:solidFill>
                <a:latin typeface="Aptos" pitchFamily="34" charset="0"/>
                <a:ea typeface="Aptos" pitchFamily="34" charset="-122"/>
                <a:cs typeface="Aptos" pitchFamily="34" charset="-120"/>
              </a:rPr>
              <a:t>Visual Genome</a:t>
            </a:r>
            <a:endParaRPr lang="en-US" sz="1250" dirty="0"/>
          </a:p>
        </p:txBody>
      </p:sp>
      <p:sp>
        <p:nvSpPr>
          <p:cNvPr id="14" name="Shape 12"/>
          <p:cNvSpPr/>
          <p:nvPr/>
        </p:nvSpPr>
        <p:spPr>
          <a:xfrm>
            <a:off x="3154680" y="2212848"/>
            <a:ext cx="3986784" cy="557784"/>
          </a:xfrm>
          <a:prstGeom prst="rect">
            <a:avLst/>
          </a:prstGeom>
          <a:solidFill>
            <a:srgbClr val="FFFFFF"/>
          </a:solidFill>
          <a:ln w="12700">
            <a:solidFill>
              <a:srgbClr val="D8E0E6"/>
            </a:solidFill>
            <a:prstDash val="solid"/>
          </a:ln>
        </p:spPr>
      </p:sp>
      <p:sp>
        <p:nvSpPr>
          <p:cNvPr id="15" name="Text 13"/>
          <p:cNvSpPr/>
          <p:nvPr/>
        </p:nvSpPr>
        <p:spPr>
          <a:xfrm>
            <a:off x="3282696" y="2295144"/>
            <a:ext cx="3730752"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对象、属性、关系的结构化标注</a:t>
            </a:r>
            <a:endParaRPr lang="en-US" sz="1200" dirty="0"/>
          </a:p>
        </p:txBody>
      </p:sp>
      <p:sp>
        <p:nvSpPr>
          <p:cNvPr id="16" name="Shape 14"/>
          <p:cNvSpPr/>
          <p:nvPr/>
        </p:nvSpPr>
        <p:spPr>
          <a:xfrm>
            <a:off x="7342632" y="2212848"/>
            <a:ext cx="4114800" cy="557784"/>
          </a:xfrm>
          <a:prstGeom prst="rect">
            <a:avLst/>
          </a:prstGeom>
          <a:solidFill>
            <a:srgbClr val="FFFFFF"/>
          </a:solidFill>
          <a:ln w="12700">
            <a:solidFill>
              <a:srgbClr val="D8E0E6"/>
            </a:solidFill>
            <a:prstDash val="solid"/>
          </a:ln>
        </p:spPr>
      </p:sp>
      <p:sp>
        <p:nvSpPr>
          <p:cNvPr id="17" name="Text 15"/>
          <p:cNvSpPr/>
          <p:nvPr/>
        </p:nvSpPr>
        <p:spPr>
          <a:xfrm>
            <a:off x="7470648" y="2295144"/>
            <a:ext cx="3858768"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不是测试充分性指标</a:t>
            </a:r>
            <a:endParaRPr lang="en-US" sz="1200" dirty="0"/>
          </a:p>
        </p:txBody>
      </p:sp>
      <p:sp>
        <p:nvSpPr>
          <p:cNvPr id="18" name="Shape 16"/>
          <p:cNvSpPr/>
          <p:nvPr/>
        </p:nvSpPr>
        <p:spPr>
          <a:xfrm>
            <a:off x="713232" y="2788920"/>
            <a:ext cx="2240280" cy="557784"/>
          </a:xfrm>
          <a:prstGeom prst="rect">
            <a:avLst/>
          </a:prstGeom>
          <a:solidFill>
            <a:srgbClr val="F0F4F7"/>
          </a:solidFill>
          <a:ln w="12700">
            <a:solidFill>
              <a:srgbClr val="D8E0E6"/>
            </a:solidFill>
            <a:prstDash val="solid"/>
          </a:ln>
        </p:spPr>
      </p:sp>
      <p:sp>
        <p:nvSpPr>
          <p:cNvPr id="19" name="Text 17"/>
          <p:cNvSpPr/>
          <p:nvPr/>
        </p:nvSpPr>
        <p:spPr>
          <a:xfrm>
            <a:off x="841248" y="2871216"/>
            <a:ext cx="1984248" cy="36576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53B5B"/>
                </a:solidFill>
                <a:latin typeface="Aptos" pitchFamily="34" charset="0"/>
                <a:ea typeface="Aptos" pitchFamily="34" charset="-122"/>
                <a:cs typeface="Aptos" pitchFamily="34" charset="-120"/>
              </a:rPr>
              <a:t>S3C</a:t>
            </a:r>
            <a:endParaRPr lang="en-US" sz="1250" dirty="0"/>
          </a:p>
        </p:txBody>
      </p:sp>
      <p:sp>
        <p:nvSpPr>
          <p:cNvPr id="20" name="Shape 18"/>
          <p:cNvSpPr/>
          <p:nvPr/>
        </p:nvSpPr>
        <p:spPr>
          <a:xfrm>
            <a:off x="3154680" y="2788920"/>
            <a:ext cx="3986784" cy="557784"/>
          </a:xfrm>
          <a:prstGeom prst="rect">
            <a:avLst/>
          </a:prstGeom>
          <a:solidFill>
            <a:srgbClr val="F0F4F7"/>
          </a:solidFill>
          <a:ln w="12700">
            <a:solidFill>
              <a:srgbClr val="D8E0E6"/>
            </a:solidFill>
            <a:prstDash val="solid"/>
          </a:ln>
        </p:spPr>
      </p:sp>
      <p:sp>
        <p:nvSpPr>
          <p:cNvPr id="21" name="Text 19"/>
          <p:cNvSpPr/>
          <p:nvPr/>
        </p:nvSpPr>
        <p:spPr>
          <a:xfrm>
            <a:off x="3282696" y="2871216"/>
            <a:ext cx="3730752"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空间语义场景覆盖</a:t>
            </a:r>
            <a:endParaRPr lang="en-US" sz="1200" dirty="0"/>
          </a:p>
        </p:txBody>
      </p:sp>
      <p:sp>
        <p:nvSpPr>
          <p:cNvPr id="22" name="Shape 20"/>
          <p:cNvSpPr/>
          <p:nvPr/>
        </p:nvSpPr>
        <p:spPr>
          <a:xfrm>
            <a:off x="7342632" y="2788920"/>
            <a:ext cx="4114800" cy="557784"/>
          </a:xfrm>
          <a:prstGeom prst="rect">
            <a:avLst/>
          </a:prstGeom>
          <a:solidFill>
            <a:srgbClr val="F0F4F7"/>
          </a:solidFill>
          <a:ln w="12700">
            <a:solidFill>
              <a:srgbClr val="D8E0E6"/>
            </a:solidFill>
            <a:prstDash val="solid"/>
          </a:ln>
        </p:spPr>
      </p:sp>
      <p:sp>
        <p:nvSpPr>
          <p:cNvPr id="23" name="Text 21"/>
          <p:cNvSpPr/>
          <p:nvPr/>
        </p:nvSpPr>
        <p:spPr>
          <a:xfrm>
            <a:off x="7470648" y="2871216"/>
            <a:ext cx="3858768"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面向自动驾驶关系场景</a:t>
            </a:r>
            <a:endParaRPr lang="en-US" sz="1200" dirty="0"/>
          </a:p>
        </p:txBody>
      </p:sp>
      <p:sp>
        <p:nvSpPr>
          <p:cNvPr id="24" name="Shape 22"/>
          <p:cNvSpPr/>
          <p:nvPr/>
        </p:nvSpPr>
        <p:spPr>
          <a:xfrm>
            <a:off x="713232" y="3364992"/>
            <a:ext cx="2240280" cy="557784"/>
          </a:xfrm>
          <a:prstGeom prst="rect">
            <a:avLst/>
          </a:prstGeom>
          <a:solidFill>
            <a:srgbClr val="FFFFFF"/>
          </a:solidFill>
          <a:ln w="12700">
            <a:solidFill>
              <a:srgbClr val="D8E0E6"/>
            </a:solidFill>
            <a:prstDash val="solid"/>
          </a:ln>
        </p:spPr>
      </p:sp>
      <p:sp>
        <p:nvSpPr>
          <p:cNvPr id="25" name="Text 23"/>
          <p:cNvSpPr/>
          <p:nvPr/>
        </p:nvSpPr>
        <p:spPr>
          <a:xfrm>
            <a:off x="841248" y="3447288"/>
            <a:ext cx="1984248" cy="36576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53B5B"/>
                </a:solidFill>
                <a:latin typeface="Aptos" pitchFamily="34" charset="0"/>
                <a:ea typeface="Aptos" pitchFamily="34" charset="-122"/>
                <a:cs typeface="Aptos" pitchFamily="34" charset="-120"/>
              </a:rPr>
              <a:t>RBT4DNN</a:t>
            </a:r>
            <a:endParaRPr lang="en-US" sz="1250" dirty="0"/>
          </a:p>
        </p:txBody>
      </p:sp>
      <p:sp>
        <p:nvSpPr>
          <p:cNvPr id="26" name="Shape 24"/>
          <p:cNvSpPr/>
          <p:nvPr/>
        </p:nvSpPr>
        <p:spPr>
          <a:xfrm>
            <a:off x="3154680" y="3364992"/>
            <a:ext cx="3986784" cy="557784"/>
          </a:xfrm>
          <a:prstGeom prst="rect">
            <a:avLst/>
          </a:prstGeom>
          <a:solidFill>
            <a:srgbClr val="FFFFFF"/>
          </a:solidFill>
          <a:ln w="12700">
            <a:solidFill>
              <a:srgbClr val="D8E0E6"/>
            </a:solidFill>
            <a:prstDash val="solid"/>
          </a:ln>
        </p:spPr>
      </p:sp>
      <p:sp>
        <p:nvSpPr>
          <p:cNvPr id="27" name="Text 25"/>
          <p:cNvSpPr/>
          <p:nvPr/>
        </p:nvSpPr>
        <p:spPr>
          <a:xfrm>
            <a:off x="3282696" y="3447288"/>
            <a:ext cx="3730752"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自然语言需求驱动测试</a:t>
            </a:r>
            <a:endParaRPr lang="en-US" sz="1200" dirty="0"/>
          </a:p>
        </p:txBody>
      </p:sp>
      <p:sp>
        <p:nvSpPr>
          <p:cNvPr id="28" name="Shape 26"/>
          <p:cNvSpPr/>
          <p:nvPr/>
        </p:nvSpPr>
        <p:spPr>
          <a:xfrm>
            <a:off x="7342632" y="3364992"/>
            <a:ext cx="4114800" cy="557784"/>
          </a:xfrm>
          <a:prstGeom prst="rect">
            <a:avLst/>
          </a:prstGeom>
          <a:solidFill>
            <a:srgbClr val="FFFFFF"/>
          </a:solidFill>
          <a:ln w="12700">
            <a:solidFill>
              <a:srgbClr val="D8E0E6"/>
            </a:solidFill>
            <a:prstDash val="solid"/>
          </a:ln>
        </p:spPr>
      </p:sp>
      <p:sp>
        <p:nvSpPr>
          <p:cNvPr id="29" name="Text 27"/>
          <p:cNvSpPr/>
          <p:nvPr/>
        </p:nvSpPr>
        <p:spPr>
          <a:xfrm>
            <a:off x="7470648" y="3447288"/>
            <a:ext cx="3858768"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需求到生成与后置条件检查</a:t>
            </a:r>
            <a:endParaRPr lang="en-US" sz="1200" dirty="0"/>
          </a:p>
        </p:txBody>
      </p:sp>
      <p:sp>
        <p:nvSpPr>
          <p:cNvPr id="30" name="Shape 28"/>
          <p:cNvSpPr/>
          <p:nvPr/>
        </p:nvSpPr>
        <p:spPr>
          <a:xfrm>
            <a:off x="713232" y="3941064"/>
            <a:ext cx="2240280" cy="557784"/>
          </a:xfrm>
          <a:prstGeom prst="rect">
            <a:avLst/>
          </a:prstGeom>
          <a:solidFill>
            <a:srgbClr val="F0F4F7"/>
          </a:solidFill>
          <a:ln w="12700">
            <a:solidFill>
              <a:srgbClr val="D8E0E6"/>
            </a:solidFill>
            <a:prstDash val="solid"/>
          </a:ln>
        </p:spPr>
      </p:sp>
      <p:sp>
        <p:nvSpPr>
          <p:cNvPr id="31" name="Text 29"/>
          <p:cNvSpPr/>
          <p:nvPr/>
        </p:nvSpPr>
        <p:spPr>
          <a:xfrm>
            <a:off x="841248" y="4023360"/>
            <a:ext cx="1984248" cy="36576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53B5B"/>
                </a:solidFill>
                <a:latin typeface="Aptos" pitchFamily="34" charset="0"/>
                <a:ea typeface="Aptos" pitchFamily="34" charset="-122"/>
                <a:cs typeface="Aptos" pitchFamily="34" charset="-120"/>
              </a:rPr>
              <a:t>HiBug2</a:t>
            </a:r>
            <a:endParaRPr lang="en-US" sz="1250" dirty="0"/>
          </a:p>
        </p:txBody>
      </p:sp>
      <p:sp>
        <p:nvSpPr>
          <p:cNvPr id="32" name="Shape 30"/>
          <p:cNvSpPr/>
          <p:nvPr/>
        </p:nvSpPr>
        <p:spPr>
          <a:xfrm>
            <a:off x="3154680" y="3941064"/>
            <a:ext cx="3986784" cy="557784"/>
          </a:xfrm>
          <a:prstGeom prst="rect">
            <a:avLst/>
          </a:prstGeom>
          <a:solidFill>
            <a:srgbClr val="F0F4F7"/>
          </a:solidFill>
          <a:ln w="12700">
            <a:solidFill>
              <a:srgbClr val="D8E0E6"/>
            </a:solidFill>
            <a:prstDash val="solid"/>
          </a:ln>
        </p:spPr>
      </p:sp>
      <p:sp>
        <p:nvSpPr>
          <p:cNvPr id="33" name="Text 31"/>
          <p:cNvSpPr/>
          <p:nvPr/>
        </p:nvSpPr>
        <p:spPr>
          <a:xfrm>
            <a:off x="3282696" y="4023360"/>
            <a:ext cx="3730752"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任务属性与可解释错误切片</a:t>
            </a:r>
            <a:endParaRPr lang="en-US" sz="1200" dirty="0"/>
          </a:p>
        </p:txBody>
      </p:sp>
      <p:sp>
        <p:nvSpPr>
          <p:cNvPr id="34" name="Shape 32"/>
          <p:cNvSpPr/>
          <p:nvPr/>
        </p:nvSpPr>
        <p:spPr>
          <a:xfrm>
            <a:off x="7342632" y="3941064"/>
            <a:ext cx="4114800" cy="557784"/>
          </a:xfrm>
          <a:prstGeom prst="rect">
            <a:avLst/>
          </a:prstGeom>
          <a:solidFill>
            <a:srgbClr val="F0F4F7"/>
          </a:solidFill>
          <a:ln w="12700">
            <a:solidFill>
              <a:srgbClr val="D8E0E6"/>
            </a:solidFill>
            <a:prstDash val="solid"/>
          </a:ln>
        </p:spPr>
      </p:sp>
      <p:sp>
        <p:nvSpPr>
          <p:cNvPr id="35" name="Text 33"/>
          <p:cNvSpPr/>
          <p:nvPr/>
        </p:nvSpPr>
        <p:spPr>
          <a:xfrm>
            <a:off x="7470648" y="4023360"/>
            <a:ext cx="3858768"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依赖模型错误信号，目标是调试</a:t>
            </a:r>
            <a:endParaRPr lang="en-US" sz="1200" dirty="0"/>
          </a:p>
        </p:txBody>
      </p:sp>
      <p:sp>
        <p:nvSpPr>
          <p:cNvPr id="36" name="Shape 34"/>
          <p:cNvSpPr/>
          <p:nvPr/>
        </p:nvSpPr>
        <p:spPr>
          <a:xfrm>
            <a:off x="713232" y="4517136"/>
            <a:ext cx="2240280" cy="557784"/>
          </a:xfrm>
          <a:prstGeom prst="rect">
            <a:avLst/>
          </a:prstGeom>
          <a:solidFill>
            <a:srgbClr val="FFFFFF"/>
          </a:solidFill>
          <a:ln w="12700">
            <a:solidFill>
              <a:srgbClr val="D8E0E6"/>
            </a:solidFill>
            <a:prstDash val="solid"/>
          </a:ln>
        </p:spPr>
      </p:sp>
      <p:sp>
        <p:nvSpPr>
          <p:cNvPr id="37" name="Text 35"/>
          <p:cNvSpPr/>
          <p:nvPr/>
        </p:nvSpPr>
        <p:spPr>
          <a:xfrm>
            <a:off x="841248" y="4599432"/>
            <a:ext cx="1984248" cy="36576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53B5B"/>
                </a:solidFill>
                <a:latin typeface="Aptos" pitchFamily="34" charset="0"/>
                <a:ea typeface="Aptos" pitchFamily="34" charset="-122"/>
                <a:cs typeface="Aptos" pitchFamily="34" charset="-120"/>
              </a:rPr>
              <a:t>TALISMAN</a:t>
            </a:r>
            <a:endParaRPr lang="en-US" sz="1250" dirty="0"/>
          </a:p>
        </p:txBody>
      </p:sp>
      <p:sp>
        <p:nvSpPr>
          <p:cNvPr id="38" name="Shape 36"/>
          <p:cNvSpPr/>
          <p:nvPr/>
        </p:nvSpPr>
        <p:spPr>
          <a:xfrm>
            <a:off x="3154680" y="4517136"/>
            <a:ext cx="3986784" cy="557784"/>
          </a:xfrm>
          <a:prstGeom prst="rect">
            <a:avLst/>
          </a:prstGeom>
          <a:solidFill>
            <a:srgbClr val="FFFFFF"/>
          </a:solidFill>
          <a:ln w="12700">
            <a:solidFill>
              <a:srgbClr val="D8E0E6"/>
            </a:solidFill>
            <a:prstDash val="solid"/>
          </a:ln>
        </p:spPr>
      </p:sp>
      <p:sp>
        <p:nvSpPr>
          <p:cNvPr id="39" name="Text 37"/>
          <p:cNvSpPr/>
          <p:nvPr/>
        </p:nvSpPr>
        <p:spPr>
          <a:xfrm>
            <a:off x="3282696" y="4599432"/>
            <a:ext cx="3730752"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稀有类别/切片的目标化采样</a:t>
            </a:r>
            <a:endParaRPr lang="en-US" sz="1200" dirty="0"/>
          </a:p>
        </p:txBody>
      </p:sp>
      <p:sp>
        <p:nvSpPr>
          <p:cNvPr id="40" name="Shape 38"/>
          <p:cNvSpPr/>
          <p:nvPr/>
        </p:nvSpPr>
        <p:spPr>
          <a:xfrm>
            <a:off x="7342632" y="4517136"/>
            <a:ext cx="4114800" cy="557784"/>
          </a:xfrm>
          <a:prstGeom prst="rect">
            <a:avLst/>
          </a:prstGeom>
          <a:solidFill>
            <a:srgbClr val="FFFFFF"/>
          </a:solidFill>
          <a:ln w="12700">
            <a:solidFill>
              <a:srgbClr val="D8E0E6"/>
            </a:solidFill>
            <a:prstDash val="solid"/>
          </a:ln>
        </p:spPr>
      </p:sp>
      <p:sp>
        <p:nvSpPr>
          <p:cNvPr id="41" name="Text 39"/>
          <p:cNvSpPr/>
          <p:nvPr/>
        </p:nvSpPr>
        <p:spPr>
          <a:xfrm>
            <a:off x="7470648" y="4599432"/>
            <a:ext cx="3858768"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主动学习与检测数据获取</a:t>
            </a:r>
            <a:endParaRPr lang="en-US" sz="1200" dirty="0"/>
          </a:p>
        </p:txBody>
      </p:sp>
      <p:sp>
        <p:nvSpPr>
          <p:cNvPr id="42" name="Shape 40"/>
          <p:cNvSpPr/>
          <p:nvPr/>
        </p:nvSpPr>
        <p:spPr>
          <a:xfrm>
            <a:off x="713232" y="5093208"/>
            <a:ext cx="2240280" cy="557784"/>
          </a:xfrm>
          <a:prstGeom prst="rect">
            <a:avLst/>
          </a:prstGeom>
          <a:solidFill>
            <a:srgbClr val="F0F4F7"/>
          </a:solidFill>
          <a:ln w="12700">
            <a:solidFill>
              <a:srgbClr val="D8E0E6"/>
            </a:solidFill>
            <a:prstDash val="solid"/>
          </a:ln>
        </p:spPr>
      </p:sp>
      <p:sp>
        <p:nvSpPr>
          <p:cNvPr id="43" name="Text 41"/>
          <p:cNvSpPr/>
          <p:nvPr/>
        </p:nvSpPr>
        <p:spPr>
          <a:xfrm>
            <a:off x="841248" y="5175504"/>
            <a:ext cx="1984248" cy="365760"/>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53B5B"/>
                </a:solidFill>
                <a:latin typeface="Aptos" pitchFamily="34" charset="0"/>
                <a:ea typeface="Aptos" pitchFamily="34" charset="-122"/>
                <a:cs typeface="Aptos" pitchFamily="34" charset="-120"/>
              </a:rPr>
              <a:t>POPE</a:t>
            </a:r>
            <a:endParaRPr lang="en-US" sz="1250" dirty="0"/>
          </a:p>
        </p:txBody>
      </p:sp>
      <p:sp>
        <p:nvSpPr>
          <p:cNvPr id="44" name="Shape 42"/>
          <p:cNvSpPr/>
          <p:nvPr/>
        </p:nvSpPr>
        <p:spPr>
          <a:xfrm>
            <a:off x="3154680" y="5093208"/>
            <a:ext cx="3986784" cy="557784"/>
          </a:xfrm>
          <a:prstGeom prst="rect">
            <a:avLst/>
          </a:prstGeom>
          <a:solidFill>
            <a:srgbClr val="F0F4F7"/>
          </a:solidFill>
          <a:ln w="12700">
            <a:solidFill>
              <a:srgbClr val="D8E0E6"/>
            </a:solidFill>
            <a:prstDash val="solid"/>
          </a:ln>
        </p:spPr>
      </p:sp>
      <p:sp>
        <p:nvSpPr>
          <p:cNvPr id="45" name="Text 43"/>
          <p:cNvSpPr/>
          <p:nvPr/>
        </p:nvSpPr>
        <p:spPr>
          <a:xfrm>
            <a:off x="3282696" y="5175504"/>
            <a:ext cx="3730752"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VLM对象幻觉评价</a:t>
            </a:r>
            <a:endParaRPr lang="en-US" sz="1200" dirty="0"/>
          </a:p>
        </p:txBody>
      </p:sp>
      <p:sp>
        <p:nvSpPr>
          <p:cNvPr id="46" name="Shape 44"/>
          <p:cNvSpPr/>
          <p:nvPr/>
        </p:nvSpPr>
        <p:spPr>
          <a:xfrm>
            <a:off x="7342632" y="5093208"/>
            <a:ext cx="4114800" cy="557784"/>
          </a:xfrm>
          <a:prstGeom prst="rect">
            <a:avLst/>
          </a:prstGeom>
          <a:solidFill>
            <a:srgbClr val="F0F4F7"/>
          </a:solidFill>
          <a:ln w="12700">
            <a:solidFill>
              <a:srgbClr val="D8E0E6"/>
            </a:solidFill>
            <a:prstDash val="solid"/>
          </a:ln>
        </p:spPr>
      </p:sp>
      <p:sp>
        <p:nvSpPr>
          <p:cNvPr id="47" name="Text 45"/>
          <p:cNvSpPr/>
          <p:nvPr/>
        </p:nvSpPr>
        <p:spPr>
          <a:xfrm>
            <a:off x="7470648" y="5175504"/>
            <a:ext cx="3858768" cy="36576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17212B"/>
                </a:solidFill>
                <a:latin typeface="Microsoft YaHei" pitchFamily="34" charset="0"/>
                <a:ea typeface="Microsoft YaHei" pitchFamily="34" charset="-122"/>
                <a:cs typeface="Microsoft YaHei" pitchFamily="34" charset="-120"/>
              </a:rPr>
              <a:t>说明自动视觉测量需要核验</a:t>
            </a:r>
            <a:endParaRPr lang="en-US" sz="1200" dirty="0"/>
          </a:p>
        </p:txBody>
      </p:sp>
      <p:sp>
        <p:nvSpPr>
          <p:cNvPr id="48" name="Shape 46"/>
          <p:cNvSpPr/>
          <p:nvPr/>
        </p:nvSpPr>
        <p:spPr>
          <a:xfrm>
            <a:off x="1143000" y="5806440"/>
            <a:ext cx="9921240" cy="384048"/>
          </a:xfrm>
          <a:prstGeom prst="roundRect">
            <a:avLst>
              <a:gd name="adj" fmla="val 19048"/>
            </a:avLst>
          </a:prstGeom>
          <a:solidFill>
            <a:srgbClr val="F8E7E4"/>
          </a:solidFill>
          <a:ln w="12700">
            <a:solidFill>
              <a:srgbClr val="B84A3A"/>
            </a:solidFill>
            <a:prstDash val="solid"/>
          </a:ln>
        </p:spPr>
      </p:sp>
      <p:sp>
        <p:nvSpPr>
          <p:cNvPr id="49" name="Text 47"/>
          <p:cNvSpPr/>
          <p:nvPr/>
        </p:nvSpPr>
        <p:spPr>
          <a:xfrm>
            <a:off x="1353312" y="5888736"/>
            <a:ext cx="9500616" cy="237744"/>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B84A3A"/>
                </a:solidFill>
                <a:latin typeface="Microsoft YaHei" pitchFamily="34" charset="0"/>
                <a:ea typeface="Microsoft YaHei" pitchFamily="34" charset="-122"/>
                <a:cs typeface="Microsoft YaHei" pitchFamily="34" charset="-120"/>
              </a:rPr>
              <a:t>定位原则：不声称单个组件“首次提出”，把贡献放在受噪标签下的证据治理与可验证决策闭环。</a:t>
            </a:r>
            <a:endParaRPr lang="en-US" sz="1400" dirty="0"/>
          </a:p>
        </p:txBody>
      </p:sp>
      <p:sp>
        <p:nvSpPr>
          <p:cNvPr id="50" name="Text 48"/>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BACKUP B</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高概率追问：建议用这些边界回答</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先承认当前证据，再说明下一步怎样使结论成立</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713232" y="1700784"/>
            <a:ext cx="2560320" cy="676656"/>
          </a:xfrm>
          <a:prstGeom prst="roundRect">
            <a:avLst>
              <a:gd name="adj" fmla="val 10811"/>
            </a:avLst>
          </a:prstGeom>
          <a:solidFill>
            <a:srgbClr val="E7F0F7"/>
          </a:solidFill>
          <a:ln w="12700">
            <a:solidFill>
              <a:srgbClr val="2E6F9E"/>
            </a:solidFill>
            <a:prstDash val="solid"/>
          </a:ln>
        </p:spPr>
      </p:sp>
      <p:sp>
        <p:nvSpPr>
          <p:cNvPr id="7" name="Text 5"/>
          <p:cNvSpPr/>
          <p:nvPr/>
        </p:nvSpPr>
        <p:spPr>
          <a:xfrm>
            <a:off x="896112" y="1847088"/>
            <a:ext cx="2194560" cy="36576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2E6F9E"/>
                </a:solidFill>
                <a:latin typeface="Microsoft YaHei" pitchFamily="34" charset="0"/>
                <a:ea typeface="Microsoft YaHei" pitchFamily="34" charset="-122"/>
                <a:cs typeface="Microsoft YaHei" pitchFamily="34" charset="-120"/>
              </a:rPr>
              <a:t>为什么阈值是30？</a:t>
            </a:r>
            <a:endParaRPr lang="en-US" sz="1450" dirty="0"/>
          </a:p>
        </p:txBody>
      </p:sp>
      <p:sp>
        <p:nvSpPr>
          <p:cNvPr id="8" name="Shape 6"/>
          <p:cNvSpPr/>
          <p:nvPr/>
        </p:nvSpPr>
        <p:spPr>
          <a:xfrm>
            <a:off x="3456432" y="1700784"/>
            <a:ext cx="8046720" cy="676656"/>
          </a:xfrm>
          <a:prstGeom prst="roundRect">
            <a:avLst>
              <a:gd name="adj" fmla="val 10811"/>
            </a:avLst>
          </a:prstGeom>
          <a:solidFill>
            <a:srgbClr val="FFFFFF"/>
          </a:solidFill>
          <a:ln w="12700">
            <a:solidFill>
              <a:srgbClr val="D8E0E6"/>
            </a:solidFill>
            <a:prstDash val="solid"/>
          </a:ln>
        </p:spPr>
      </p:sp>
      <p:sp>
        <p:nvSpPr>
          <p:cNvPr id="9" name="Text 7"/>
          <p:cNvSpPr/>
          <p:nvPr/>
        </p:nvSpPr>
        <p:spPr>
          <a:xfrm>
            <a:off x="3694176" y="1810512"/>
            <a:ext cx="7571232"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当前是预先冻结的阶段性证据目标，用于验证流程；不是理论上的普适充分性阈值。</a:t>
            </a:r>
            <a:endParaRPr lang="en-US" sz="1350" dirty="0"/>
          </a:p>
        </p:txBody>
      </p:sp>
      <p:sp>
        <p:nvSpPr>
          <p:cNvPr id="10" name="Shape 8"/>
          <p:cNvSpPr/>
          <p:nvPr/>
        </p:nvSpPr>
        <p:spPr>
          <a:xfrm>
            <a:off x="713232" y="2569464"/>
            <a:ext cx="2560320" cy="676656"/>
          </a:xfrm>
          <a:prstGeom prst="roundRect">
            <a:avLst>
              <a:gd name="adj" fmla="val 10811"/>
            </a:avLst>
          </a:prstGeom>
          <a:solidFill>
            <a:srgbClr val="E5F3F1"/>
          </a:solidFill>
          <a:ln w="12700">
            <a:solidFill>
              <a:srgbClr val="187D7B"/>
            </a:solidFill>
            <a:prstDash val="solid"/>
          </a:ln>
        </p:spPr>
      </p:sp>
      <p:sp>
        <p:nvSpPr>
          <p:cNvPr id="11" name="Text 9"/>
          <p:cNvSpPr/>
          <p:nvPr/>
        </p:nvSpPr>
        <p:spPr>
          <a:xfrm>
            <a:off x="896112" y="2715768"/>
            <a:ext cx="2194560" cy="36576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187D7B"/>
                </a:solidFill>
                <a:latin typeface="Microsoft YaHei" pitchFamily="34" charset="0"/>
                <a:ea typeface="Microsoft YaHei" pitchFamily="34" charset="-122"/>
                <a:cs typeface="Microsoft YaHei" pitchFamily="34" charset="-120"/>
              </a:rPr>
              <a:t>覆盖上升是否具有必然性？</a:t>
            </a:r>
            <a:endParaRPr lang="en-US" sz="1450" dirty="0"/>
          </a:p>
        </p:txBody>
      </p:sp>
      <p:sp>
        <p:nvSpPr>
          <p:cNvPr id="12" name="Shape 10"/>
          <p:cNvSpPr/>
          <p:nvPr/>
        </p:nvSpPr>
        <p:spPr>
          <a:xfrm>
            <a:off x="3456432" y="2569464"/>
            <a:ext cx="8046720" cy="676656"/>
          </a:xfrm>
          <a:prstGeom prst="roundRect">
            <a:avLst>
              <a:gd name="adj" fmla="val 10811"/>
            </a:avLst>
          </a:prstGeom>
          <a:solidFill>
            <a:srgbClr val="FFFFFF"/>
          </a:solidFill>
          <a:ln w="12700">
            <a:solidFill>
              <a:srgbClr val="D8E0E6"/>
            </a:solidFill>
            <a:prstDash val="solid"/>
          </a:ln>
        </p:spPr>
      </p:sp>
      <p:sp>
        <p:nvSpPr>
          <p:cNvPr id="13" name="Text 11"/>
          <p:cNvSpPr/>
          <p:nvPr/>
        </p:nvSpPr>
        <p:spPr>
          <a:xfrm>
            <a:off x="3694176" y="2679192"/>
            <a:ext cx="7571232"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是。当前证明优化目标被实现；策略优越性需要等预算随机、分层和表示空间基线。</a:t>
            </a:r>
            <a:endParaRPr lang="en-US" sz="1350" dirty="0"/>
          </a:p>
        </p:txBody>
      </p:sp>
      <p:sp>
        <p:nvSpPr>
          <p:cNvPr id="14" name="Shape 12"/>
          <p:cNvSpPr/>
          <p:nvPr/>
        </p:nvSpPr>
        <p:spPr>
          <a:xfrm>
            <a:off x="713232" y="3438144"/>
            <a:ext cx="2560320" cy="676656"/>
          </a:xfrm>
          <a:prstGeom prst="roundRect">
            <a:avLst>
              <a:gd name="adj" fmla="val 10811"/>
            </a:avLst>
          </a:prstGeom>
          <a:solidFill>
            <a:srgbClr val="E7F0F7"/>
          </a:solidFill>
          <a:ln w="12700">
            <a:solidFill>
              <a:srgbClr val="2E6F9E"/>
            </a:solidFill>
            <a:prstDash val="solid"/>
          </a:ln>
        </p:spPr>
      </p:sp>
      <p:sp>
        <p:nvSpPr>
          <p:cNvPr id="15" name="Text 13"/>
          <p:cNvSpPr/>
          <p:nvPr/>
        </p:nvSpPr>
        <p:spPr>
          <a:xfrm>
            <a:off x="896112" y="3584448"/>
            <a:ext cx="2194560" cy="36576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2E6F9E"/>
                </a:solidFill>
                <a:latin typeface="Microsoft YaHei" pitchFamily="34" charset="0"/>
                <a:ea typeface="Microsoft YaHei" pitchFamily="34" charset="-122"/>
                <a:cs typeface="Microsoft YaHei" pitchFamily="34" charset="-120"/>
              </a:rPr>
              <a:t>VLM标签是否可靠？</a:t>
            </a:r>
            <a:endParaRPr lang="en-US" sz="1450" dirty="0"/>
          </a:p>
        </p:txBody>
      </p:sp>
      <p:sp>
        <p:nvSpPr>
          <p:cNvPr id="16" name="Shape 14"/>
          <p:cNvSpPr/>
          <p:nvPr/>
        </p:nvSpPr>
        <p:spPr>
          <a:xfrm>
            <a:off x="3456432" y="3438144"/>
            <a:ext cx="8046720" cy="676656"/>
          </a:xfrm>
          <a:prstGeom prst="roundRect">
            <a:avLst>
              <a:gd name="adj" fmla="val 10811"/>
            </a:avLst>
          </a:prstGeom>
          <a:solidFill>
            <a:srgbClr val="FFFFFF"/>
          </a:solidFill>
          <a:ln w="12700">
            <a:solidFill>
              <a:srgbClr val="D8E0E6"/>
            </a:solidFill>
            <a:prstDash val="solid"/>
          </a:ln>
        </p:spPr>
      </p:sp>
      <p:sp>
        <p:nvSpPr>
          <p:cNvPr id="17" name="Text 15"/>
          <p:cNvSpPr/>
          <p:nvPr/>
        </p:nvSpPr>
        <p:spPr>
          <a:xfrm>
            <a:off x="3694176" y="3547872"/>
            <a:ext cx="7571232"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100%是格式成功率，不是语义准确率；需要双人标注、一致性、混淆和标签扰动分析。</a:t>
            </a:r>
            <a:endParaRPr lang="en-US" sz="1350" dirty="0"/>
          </a:p>
        </p:txBody>
      </p:sp>
      <p:sp>
        <p:nvSpPr>
          <p:cNvPr id="18" name="Shape 16"/>
          <p:cNvSpPr/>
          <p:nvPr/>
        </p:nvSpPr>
        <p:spPr>
          <a:xfrm>
            <a:off x="713232" y="4306824"/>
            <a:ext cx="2560320" cy="676656"/>
          </a:xfrm>
          <a:prstGeom prst="roundRect">
            <a:avLst>
              <a:gd name="adj" fmla="val 10811"/>
            </a:avLst>
          </a:prstGeom>
          <a:solidFill>
            <a:srgbClr val="E5F3F1"/>
          </a:solidFill>
          <a:ln w="12700">
            <a:solidFill>
              <a:srgbClr val="187D7B"/>
            </a:solidFill>
            <a:prstDash val="solid"/>
          </a:ln>
        </p:spPr>
      </p:sp>
      <p:sp>
        <p:nvSpPr>
          <p:cNvPr id="19" name="Text 17"/>
          <p:cNvSpPr/>
          <p:nvPr/>
        </p:nvSpPr>
        <p:spPr>
          <a:xfrm>
            <a:off x="896112" y="4453128"/>
            <a:ext cx="2194560" cy="36576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187D7B"/>
                </a:solidFill>
                <a:latin typeface="Microsoft YaHei" pitchFamily="34" charset="0"/>
                <a:ea typeface="Microsoft YaHei" pitchFamily="34" charset="-122"/>
                <a:cs typeface="Microsoft YaHei" pitchFamily="34" charset="-120"/>
              </a:rPr>
              <a:t>为什么先做dog？</a:t>
            </a:r>
            <a:endParaRPr lang="en-US" sz="1450" dirty="0"/>
          </a:p>
        </p:txBody>
      </p:sp>
      <p:sp>
        <p:nvSpPr>
          <p:cNvPr id="20" name="Shape 18"/>
          <p:cNvSpPr/>
          <p:nvPr/>
        </p:nvSpPr>
        <p:spPr>
          <a:xfrm>
            <a:off x="3456432" y="4306824"/>
            <a:ext cx="8046720" cy="676656"/>
          </a:xfrm>
          <a:prstGeom prst="roundRect">
            <a:avLst>
              <a:gd name="adj" fmla="val 10811"/>
            </a:avLst>
          </a:prstGeom>
          <a:solidFill>
            <a:srgbClr val="FFFFFF"/>
          </a:solidFill>
          <a:ln w="12700">
            <a:solidFill>
              <a:srgbClr val="D8E0E6"/>
            </a:solidFill>
            <a:prstDash val="solid"/>
          </a:ln>
        </p:spPr>
      </p:sp>
      <p:sp>
        <p:nvSpPr>
          <p:cNvPr id="21" name="Text 19"/>
          <p:cNvSpPr/>
          <p:nvPr/>
        </p:nvSpPr>
        <p:spPr>
          <a:xfrm>
            <a:off x="3694176" y="4416552"/>
            <a:ext cx="7571232"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COCO提供目标框，类内又有视角、姿态、遮挡与场景变化，适合受控概念验证。</a:t>
            </a:r>
            <a:endParaRPr lang="en-US" sz="1350" dirty="0"/>
          </a:p>
        </p:txBody>
      </p:sp>
      <p:sp>
        <p:nvSpPr>
          <p:cNvPr id="22" name="Shape 20"/>
          <p:cNvSpPr/>
          <p:nvPr/>
        </p:nvSpPr>
        <p:spPr>
          <a:xfrm>
            <a:off x="713232" y="5175504"/>
            <a:ext cx="2560320" cy="676656"/>
          </a:xfrm>
          <a:prstGeom prst="roundRect">
            <a:avLst>
              <a:gd name="adj" fmla="val 10811"/>
            </a:avLst>
          </a:prstGeom>
          <a:solidFill>
            <a:srgbClr val="E7F0F7"/>
          </a:solidFill>
          <a:ln w="12700">
            <a:solidFill>
              <a:srgbClr val="2E6F9E"/>
            </a:solidFill>
            <a:prstDash val="solid"/>
          </a:ln>
        </p:spPr>
      </p:sp>
      <p:sp>
        <p:nvSpPr>
          <p:cNvPr id="23" name="Text 21"/>
          <p:cNvSpPr/>
          <p:nvPr/>
        </p:nvSpPr>
        <p:spPr>
          <a:xfrm>
            <a:off x="896112" y="5321808"/>
            <a:ext cx="2194560" cy="365760"/>
          </a:xfrm>
          <a:prstGeom prst="rect">
            <a:avLst/>
          </a:prstGeom>
          <a:noFill/>
          <a:ln/>
        </p:spPr>
        <p:txBody>
          <a:bodyPr wrap="square" lIns="0" tIns="0" rIns="0" bIns="0" rtlCol="0" anchor="ctr">
            <a:normAutofit/>
          </a:bodyPr>
          <a:lstStyle/>
          <a:p>
            <a:pPr algn="ctr" indent="0" marL="0">
              <a:lnSpc>
                <a:spcPct val="100000"/>
              </a:lnSpc>
              <a:buNone/>
            </a:pPr>
            <a:r>
              <a:rPr lang="en-US" sz="1450" b="1" dirty="0">
                <a:solidFill>
                  <a:srgbClr val="2E6F9E"/>
                </a:solidFill>
                <a:latin typeface="Microsoft YaHei" pitchFamily="34" charset="0"/>
                <a:ea typeface="Microsoft YaHei" pitchFamily="34" charset="-122"/>
                <a:cs typeface="Microsoft YaHei" pitchFamily="34" charset="-120"/>
              </a:rPr>
              <a:t>创新点到底是什么？</a:t>
            </a:r>
            <a:endParaRPr lang="en-US" sz="1450" dirty="0"/>
          </a:p>
        </p:txBody>
      </p:sp>
      <p:sp>
        <p:nvSpPr>
          <p:cNvPr id="24" name="Shape 22"/>
          <p:cNvSpPr/>
          <p:nvPr/>
        </p:nvSpPr>
        <p:spPr>
          <a:xfrm>
            <a:off x="3456432" y="5175504"/>
            <a:ext cx="8046720" cy="676656"/>
          </a:xfrm>
          <a:prstGeom prst="roundRect">
            <a:avLst>
              <a:gd name="adj" fmla="val 10811"/>
            </a:avLst>
          </a:prstGeom>
          <a:solidFill>
            <a:srgbClr val="FFFFFF"/>
          </a:solidFill>
          <a:ln w="12700">
            <a:solidFill>
              <a:srgbClr val="D8E0E6"/>
            </a:solidFill>
            <a:prstDash val="solid"/>
          </a:ln>
        </p:spPr>
      </p:sp>
      <p:sp>
        <p:nvSpPr>
          <p:cNvPr id="25" name="Text 23"/>
          <p:cNvSpPr/>
          <p:nvPr/>
        </p:nvSpPr>
        <p:spPr>
          <a:xfrm>
            <a:off x="3694176" y="5285232"/>
            <a:ext cx="7571232" cy="438912"/>
          </a:xfrm>
          <a:prstGeom prst="rect">
            <a:avLst/>
          </a:prstGeom>
          <a:noFill/>
          <a:ln/>
        </p:spPr>
        <p:txBody>
          <a:bodyPr wrap="square" lIns="0" tIns="0" rIns="0" bIns="0" rtlCol="0" anchor="ctr">
            <a:normAutofit/>
          </a:bodyPr>
          <a:lstStyle/>
          <a:p>
            <a:pPr algn="l" indent="0" marL="0">
              <a:lnSpc>
                <a:spcPct val="100000"/>
              </a:lnSpc>
              <a:buNone/>
            </a:pPr>
            <a:r>
              <a:rPr lang="en-US" sz="1350" dirty="0">
                <a:solidFill>
                  <a:srgbClr val="17212B"/>
                </a:solidFill>
                <a:latin typeface="Microsoft YaHei" pitchFamily="34" charset="0"/>
                <a:ea typeface="Microsoft YaHei" pitchFamily="34" charset="-122"/>
                <a:cs typeface="Microsoft YaHei" pitchFamily="34" charset="-120"/>
              </a:rPr>
              <a:t>不是“VLM+覆盖率”，而是候选的：受噪测量、任务约束、预算行动与独立效用闭环。</a:t>
            </a:r>
            <a:endParaRPr lang="en-US" sz="1350" dirty="0"/>
          </a:p>
        </p:txBody>
      </p:sp>
      <p:sp>
        <p:nvSpPr>
          <p:cNvPr id="26" name="Shape 24"/>
          <p:cNvSpPr/>
          <p:nvPr/>
        </p:nvSpPr>
        <p:spPr>
          <a:xfrm>
            <a:off x="1325880" y="6108192"/>
            <a:ext cx="9528048" cy="274320"/>
          </a:xfrm>
          <a:prstGeom prst="roundRect">
            <a:avLst>
              <a:gd name="adj" fmla="val 26667"/>
            </a:avLst>
          </a:prstGeom>
          <a:solidFill>
            <a:srgbClr val="FCECDD"/>
          </a:solidFill>
          <a:ln w="12700">
            <a:solidFill>
              <a:srgbClr val="E87524"/>
            </a:solidFill>
            <a:prstDash val="solid"/>
          </a:ln>
        </p:spPr>
      </p:sp>
      <p:sp>
        <p:nvSpPr>
          <p:cNvPr id="27" name="Text 25"/>
          <p:cNvSpPr/>
          <p:nvPr/>
        </p:nvSpPr>
        <p:spPr>
          <a:xfrm>
            <a:off x="1481328" y="6144768"/>
            <a:ext cx="9217152" cy="182880"/>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E87524"/>
                </a:solidFill>
                <a:latin typeface="Microsoft YaHei" pitchFamily="34" charset="0"/>
                <a:ea typeface="Microsoft YaHei" pitchFamily="34" charset="-122"/>
                <a:cs typeface="Microsoft YaHei" pitchFamily="34" charset="-120"/>
              </a:rPr>
              <a:t>回答顺序：当前证据 → 不能支持什么 → 需要什么实验才能支持。</a:t>
            </a:r>
            <a:endParaRPr lang="en-US" sz="1250" dirty="0"/>
          </a:p>
        </p:txBody>
      </p:sp>
      <p:sp>
        <p:nvSpPr>
          <p:cNvPr id="28" name="Text 26"/>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256032"/>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187D7B"/>
                </a:solidFill>
                <a:latin typeface="Aptos" pitchFamily="34" charset="0"/>
                <a:ea typeface="Aptos" pitchFamily="34" charset="-122"/>
                <a:cs typeface="Aptos" pitchFamily="34" charset="-120"/>
              </a:rPr>
              <a:t>BACKUP C</a:t>
            </a:r>
            <a:endParaRPr lang="en-US" sz="10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153B5B"/>
                </a:solidFill>
                <a:latin typeface="Microsoft YaHei" pitchFamily="34" charset="0"/>
                <a:ea typeface="Microsoft YaHei" pitchFamily="34" charset="-122"/>
                <a:cs typeface="Microsoft YaHei" pitchFamily="34" charset="-120"/>
              </a:rPr>
              <a:t>结果口径与证据位置</a:t>
            </a:r>
            <a:endParaRPr lang="en-US" sz="2900" dirty="0"/>
          </a:p>
        </p:txBody>
      </p:sp>
      <p:sp>
        <p:nvSpPr>
          <p:cNvPr id="4" name="Text 2"/>
          <p:cNvSpPr/>
          <p:nvPr/>
        </p:nvSpPr>
        <p:spPr>
          <a:xfrm>
            <a:off x="585216" y="1097280"/>
            <a:ext cx="10881360" cy="310896"/>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5F6B76"/>
                </a:solidFill>
                <a:latin typeface="Microsoft YaHei" pitchFamily="34" charset="0"/>
                <a:ea typeface="Microsoft YaHei" pitchFamily="34" charset="-122"/>
                <a:cs typeface="Microsoft YaHei" pitchFamily="34" charset="-120"/>
              </a:rPr>
              <a:t>避免把清洁前600张、清洁后596张和900张标注运行混为同一个统计口径</a:t>
            </a:r>
            <a:endParaRPr lang="en-US" sz="1300" dirty="0"/>
          </a:p>
        </p:txBody>
      </p:sp>
      <p:sp>
        <p:nvSpPr>
          <p:cNvPr id="5" name="Shape 3"/>
          <p:cNvSpPr/>
          <p:nvPr/>
        </p:nvSpPr>
        <p:spPr>
          <a:xfrm>
            <a:off x="566928" y="1499616"/>
            <a:ext cx="11018520" cy="0"/>
          </a:xfrm>
          <a:prstGeom prst="line">
            <a:avLst/>
          </a:prstGeom>
          <a:noFill/>
          <a:ln w="12700">
            <a:solidFill>
              <a:srgbClr val="D8E0E6"/>
            </a:solidFill>
            <a:prstDash val="solid"/>
          </a:ln>
        </p:spPr>
      </p:sp>
      <p:sp>
        <p:nvSpPr>
          <p:cNvPr id="6" name="Shape 4"/>
          <p:cNvSpPr/>
          <p:nvPr/>
        </p:nvSpPr>
        <p:spPr>
          <a:xfrm>
            <a:off x="694944" y="1700784"/>
            <a:ext cx="6400800" cy="4370832"/>
          </a:xfrm>
          <a:prstGeom prst="roundRect">
            <a:avLst>
              <a:gd name="adj" fmla="val 1674"/>
            </a:avLst>
          </a:prstGeom>
          <a:solidFill>
            <a:srgbClr val="FFFFFF"/>
          </a:solidFill>
          <a:ln w="12700">
            <a:solidFill>
              <a:srgbClr val="D8E0E6"/>
            </a:solidFill>
            <a:prstDash val="solid"/>
          </a:ln>
        </p:spPr>
      </p:sp>
      <p:pic>
        <p:nvPicPr>
          <p:cNvPr id="7" name="Image 0" descr="/home/hcf/project/QE/docs/dog_v3_1_figures/fig2_gap_composition.png">    </p:cNvPr>
          <p:cNvPicPr>
            <a:picLocks noChangeAspect="1"/>
          </p:cNvPicPr>
          <p:nvPr/>
        </p:nvPicPr>
        <p:blipFill>
          <a:blip r:embed="rId1"/>
          <a:stretch>
            <a:fillRect/>
          </a:stretch>
        </p:blipFill>
        <p:spPr>
          <a:xfrm>
            <a:off x="932688" y="1947672"/>
            <a:ext cx="5925312" cy="3456432"/>
          </a:xfrm>
          <a:prstGeom prst="rect">
            <a:avLst/>
          </a:prstGeom>
        </p:spPr>
      </p:pic>
      <p:sp>
        <p:nvSpPr>
          <p:cNvPr id="8" name="Shape 5"/>
          <p:cNvSpPr/>
          <p:nvPr/>
        </p:nvSpPr>
        <p:spPr>
          <a:xfrm>
            <a:off x="7360920" y="1700784"/>
            <a:ext cx="4169664" cy="978408"/>
          </a:xfrm>
          <a:prstGeom prst="roundRect">
            <a:avLst>
              <a:gd name="adj" fmla="val 7477"/>
            </a:avLst>
          </a:prstGeom>
          <a:solidFill>
            <a:srgbClr val="E7F0F7"/>
          </a:solidFill>
          <a:ln w="12700">
            <a:solidFill>
              <a:srgbClr val="2E6F9E"/>
            </a:solidFill>
            <a:prstDash val="solid"/>
          </a:ln>
        </p:spPr>
      </p:sp>
      <p:sp>
        <p:nvSpPr>
          <p:cNvPr id="9" name="Text 6"/>
          <p:cNvSpPr/>
          <p:nvPr/>
        </p:nvSpPr>
        <p:spPr>
          <a:xfrm>
            <a:off x="7598664" y="1901952"/>
            <a:ext cx="1371600" cy="292608"/>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2E6F9E"/>
                </a:solidFill>
                <a:latin typeface="Microsoft YaHei" pitchFamily="34" charset="0"/>
                <a:ea typeface="Microsoft YaHei" pitchFamily="34" charset="-122"/>
                <a:cs typeface="Microsoft YaHei" pitchFamily="34" charset="-120"/>
              </a:rPr>
              <a:t>900张运行</a:t>
            </a:r>
            <a:endParaRPr lang="en-US" sz="1700" dirty="0"/>
          </a:p>
        </p:txBody>
      </p:sp>
      <p:sp>
        <p:nvSpPr>
          <p:cNvPr id="10" name="Text 7"/>
          <p:cNvSpPr/>
          <p:nvPr/>
        </p:nvSpPr>
        <p:spPr>
          <a:xfrm>
            <a:off x="8778240" y="1847088"/>
            <a:ext cx="2487168" cy="44805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7212B"/>
                </a:solidFill>
                <a:latin typeface="Microsoft YaHei" pitchFamily="34" charset="0"/>
                <a:ea typeface="Microsoft YaHei" pitchFamily="34" charset="-122"/>
                <a:cs typeface="Microsoft YaHei" pitchFamily="34" charset="-120"/>
              </a:rPr>
              <a:t>500初始 + 400候选；全部严格格式通过</a:t>
            </a:r>
            <a:endParaRPr lang="en-US" sz="1250" dirty="0"/>
          </a:p>
        </p:txBody>
      </p:sp>
      <p:sp>
        <p:nvSpPr>
          <p:cNvPr id="11" name="Shape 8"/>
          <p:cNvSpPr/>
          <p:nvPr/>
        </p:nvSpPr>
        <p:spPr>
          <a:xfrm>
            <a:off x="7360920" y="2907792"/>
            <a:ext cx="4169664" cy="978408"/>
          </a:xfrm>
          <a:prstGeom prst="roundRect">
            <a:avLst>
              <a:gd name="adj" fmla="val 7477"/>
            </a:avLst>
          </a:prstGeom>
          <a:solidFill>
            <a:srgbClr val="FCECDD"/>
          </a:solidFill>
          <a:ln w="12700">
            <a:solidFill>
              <a:srgbClr val="E87524"/>
            </a:solidFill>
            <a:prstDash val="solid"/>
          </a:ln>
        </p:spPr>
      </p:sp>
      <p:sp>
        <p:nvSpPr>
          <p:cNvPr id="12" name="Text 9"/>
          <p:cNvSpPr/>
          <p:nvPr/>
        </p:nvSpPr>
        <p:spPr>
          <a:xfrm>
            <a:off x="7598664" y="3108960"/>
            <a:ext cx="1371600" cy="292608"/>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E87524"/>
                </a:solidFill>
                <a:latin typeface="Microsoft YaHei" pitchFamily="34" charset="0"/>
                <a:ea typeface="Microsoft YaHei" pitchFamily="34" charset="-122"/>
                <a:cs typeface="Microsoft YaHei" pitchFamily="34" charset="-120"/>
              </a:rPr>
              <a:t>600张合并</a:t>
            </a:r>
            <a:endParaRPr lang="en-US" sz="1700" dirty="0"/>
          </a:p>
        </p:txBody>
      </p:sp>
      <p:sp>
        <p:nvSpPr>
          <p:cNvPr id="13" name="Text 10"/>
          <p:cNvSpPr/>
          <p:nvPr/>
        </p:nvSpPr>
        <p:spPr>
          <a:xfrm>
            <a:off x="8778240" y="3054096"/>
            <a:ext cx="2487168" cy="44805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7212B"/>
                </a:solidFill>
                <a:latin typeface="Microsoft YaHei" pitchFamily="34" charset="0"/>
                <a:ea typeface="Microsoft YaHei" pitchFamily="34" charset="-122"/>
                <a:cs typeface="Microsoft YaHei" pitchFamily="34" charset="-120"/>
              </a:rPr>
              <a:t>500初始 + 100补图；选择阶段剩31个缺口</a:t>
            </a:r>
            <a:endParaRPr lang="en-US" sz="1250" dirty="0"/>
          </a:p>
        </p:txBody>
      </p:sp>
      <p:sp>
        <p:nvSpPr>
          <p:cNvPr id="14" name="Shape 11"/>
          <p:cNvSpPr/>
          <p:nvPr/>
        </p:nvSpPr>
        <p:spPr>
          <a:xfrm>
            <a:off x="7360920" y="4114800"/>
            <a:ext cx="4169664" cy="978408"/>
          </a:xfrm>
          <a:prstGeom prst="roundRect">
            <a:avLst>
              <a:gd name="adj" fmla="val 7477"/>
            </a:avLst>
          </a:prstGeom>
          <a:solidFill>
            <a:srgbClr val="E7F2EC"/>
          </a:solidFill>
          <a:ln w="12700">
            <a:solidFill>
              <a:srgbClr val="2F7D5A"/>
            </a:solidFill>
            <a:prstDash val="solid"/>
          </a:ln>
        </p:spPr>
      </p:sp>
      <p:sp>
        <p:nvSpPr>
          <p:cNvPr id="15" name="Text 12"/>
          <p:cNvSpPr/>
          <p:nvPr/>
        </p:nvSpPr>
        <p:spPr>
          <a:xfrm>
            <a:off x="7598664" y="4315968"/>
            <a:ext cx="1371600" cy="292608"/>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2F7D5A"/>
                </a:solidFill>
                <a:latin typeface="Microsoft YaHei" pitchFamily="34" charset="0"/>
                <a:ea typeface="Microsoft YaHei" pitchFamily="34" charset="-122"/>
                <a:cs typeface="Microsoft YaHei" pitchFamily="34" charset="-120"/>
              </a:rPr>
              <a:t>596张清洁</a:t>
            </a:r>
            <a:endParaRPr lang="en-US" sz="1700" dirty="0"/>
          </a:p>
        </p:txBody>
      </p:sp>
      <p:sp>
        <p:nvSpPr>
          <p:cNvPr id="16" name="Text 13"/>
          <p:cNvSpPr/>
          <p:nvPr/>
        </p:nvSpPr>
        <p:spPr>
          <a:xfrm>
            <a:off x="8778240" y="4261104"/>
            <a:ext cx="2487168" cy="448056"/>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17212B"/>
                </a:solidFill>
                <a:latin typeface="Microsoft YaHei" pitchFamily="34" charset="0"/>
                <a:ea typeface="Microsoft YaHei" pitchFamily="34" charset="-122"/>
                <a:cs typeface="Microsoft YaHei" pitchFamily="34" charset="-120"/>
              </a:rPr>
              <a:t>排除4张非真实犬；最终剩33个低频状态</a:t>
            </a:r>
            <a:endParaRPr lang="en-US" sz="1250" dirty="0"/>
          </a:p>
        </p:txBody>
      </p:sp>
      <p:sp>
        <p:nvSpPr>
          <p:cNvPr id="17" name="Shape 14"/>
          <p:cNvSpPr/>
          <p:nvPr/>
        </p:nvSpPr>
        <p:spPr>
          <a:xfrm>
            <a:off x="7360920" y="5321808"/>
            <a:ext cx="4169664" cy="749808"/>
          </a:xfrm>
          <a:prstGeom prst="roundRect">
            <a:avLst>
              <a:gd name="adj" fmla="val 9756"/>
            </a:avLst>
          </a:prstGeom>
          <a:solidFill>
            <a:srgbClr val="F8E7E4"/>
          </a:solidFill>
          <a:ln w="12700">
            <a:solidFill>
              <a:srgbClr val="B84A3A"/>
            </a:solidFill>
            <a:prstDash val="solid"/>
          </a:ln>
        </p:spPr>
      </p:sp>
      <p:sp>
        <p:nvSpPr>
          <p:cNvPr id="18" name="Text 15"/>
          <p:cNvSpPr/>
          <p:nvPr/>
        </p:nvSpPr>
        <p:spPr>
          <a:xfrm>
            <a:off x="7589520" y="5513832"/>
            <a:ext cx="3712464" cy="338328"/>
          </a:xfrm>
          <a:prstGeom prst="rect">
            <a:avLst/>
          </a:prstGeom>
          <a:noFill/>
          <a:ln/>
        </p:spPr>
        <p:txBody>
          <a:bodyPr wrap="square" lIns="0" tIns="0" rIns="0" bIns="0" rtlCol="0" anchor="ctr">
            <a:normAutofit/>
          </a:bodyPr>
          <a:lstStyle/>
          <a:p>
            <a:pPr algn="ctr" indent="0" marL="0">
              <a:lnSpc>
                <a:spcPct val="100000"/>
              </a:lnSpc>
              <a:buNone/>
            </a:pPr>
            <a:r>
              <a:rPr lang="en-US" sz="1550" b="1" dirty="0">
                <a:solidFill>
                  <a:srgbClr val="B84A3A"/>
                </a:solidFill>
                <a:latin typeface="Microsoft YaHei" pitchFamily="34" charset="0"/>
                <a:ea typeface="Microsoft YaHei" pitchFamily="34" charset="-122"/>
                <a:cs typeface="Microsoft YaHei" pitchFamily="34" charset="-120"/>
              </a:rPr>
              <a:t>汇报主口径：最终清洁596张，45 → 33。</a:t>
            </a:r>
            <a:endParaRPr lang="en-US" sz="1550" dirty="0"/>
          </a:p>
        </p:txBody>
      </p:sp>
      <p:sp>
        <p:nvSpPr>
          <p:cNvPr id="19" name="Text 16"/>
          <p:cNvSpPr/>
          <p:nvPr/>
        </p:nvSpPr>
        <p:spPr>
          <a:xfrm>
            <a:off x="566928" y="6446520"/>
            <a:ext cx="1280160" cy="164592"/>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5" name="Slide Number Placeholder 0"/>
          <p:cNvSpPr>
            <a:spLocks noGrp="1"/>
          </p:cNvSpPr>
          <p:nvPr>
            <p:ph type="sldNum" sz="quarter" idx="4294967295"/>
          </p:nvPr>
        </p:nvSpPr>
        <p:spPr>
          <a:xfrm>
            <a:off x="11475720" y="6473952"/>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7838F"/>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QE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面向视觉测试数据的可解释状态覆盖与缺口驱动补样</dc:title>
  <dc:subject>视觉测试数据充分性组会汇报</dc:subject>
  <dc:creator>QE Project</dc:creator>
  <cp:lastModifiedBy>QE Project</cp:lastModifiedBy>
  <cp:revision>1</cp:revision>
  <dcterms:created xsi:type="dcterms:W3CDTF">2026-09-15T08:08:20Z</dcterms:created>
  <dcterms:modified xsi:type="dcterms:W3CDTF">2026-09-15T08:08:20Z</dcterms:modified>
</cp:coreProperties>
</file>